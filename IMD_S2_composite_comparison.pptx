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B6E4F"/>
                </a:solidFill>
                <a:latin typeface="Calibri"/>
              </a:rPr>
              <a:t>SENTINEL-2 BASELINE  ·  PROGRESS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How should a year of Sentinel-2 observations</a:t>
            </a:r>
          </a:p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be turned into features?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86200"/>
            <a:ext cx="3657600" cy="32004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6B6B6B"/>
                </a:solidFill>
                <a:latin typeface="Calibri"/>
              </a:rPr>
              <a:t>Three composite strategies compared against a foundation-model embedding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6B6B6B"/>
                </a:solidFill>
                <a:latin typeface="Calibri"/>
              </a:rPr>
              <a:t>Impervious surface density · Milan · 2018 · 10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Xiao Tan  ·  Politecnico di Milano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Four predictor sets, one target — everything else held identical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The comparison is designed so that the feature representation is the only variable. Same 3 500 points, same labels, same split, same models, same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32" y="2103120"/>
            <a:ext cx="104520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WHICH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Ten surface-reflectance bands, no engineered indices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Visible, red-edge, NIR and SWIR are all retained. Indices such as NDVI or NDBI are fixed ratios of bands the model already has — computing them adds no information a non-linear learner cannot recover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60" y="2167128"/>
            <a:ext cx="10502176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6B6B"/>
                </a:solidFill>
                <a:latin typeface="Calibri"/>
              </a:rPr>
              <a:t>Collection: COPERNICUS/S2_SR_HARMONIZED (L2A surface reflectance) — no silent fallback to top-of-atmosphere.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WHICH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30 of 145 acquisitions pass all three AOI-based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A date is accepted only if it passes cloud (≤20% over the AOI), SCL validity (≥90%) and swath coverage (≥95%) — all three, measured over Milan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63" y="2048256"/>
            <a:ext cx="10688569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7044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Why three criteria and not just cloud?  74 of the 145 candidate dates are partial swaths that barely cross the AOI — many report near-zero cloud precisely because there is almost nothing there to be cloudy. All statistics are therefore computed over Milan itself, not from the scene-level metadata, which describes a whole MGRS tile that the AOI straddles.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IS THE COMPARISON FAIR?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Yes — the train/test split is imported from the embedding run, not recomputed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2 449 training / 1 014 test / 37 removed by the 250 m buffer. The split is recovered by joining on point geometry, and the labels are then asserted element-wise identical. Only X differs.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1_spatial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034" y="2048256"/>
            <a:ext cx="7216027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235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Why not just re-use random seed 42?  Because the split is greedy over surviving 1 km blocks. If one dropped point was the only sample in its block, that block leaves the array being permuted — so the same seed yields a different split, and whole blocks flip between train and test. Importing the membership is the only guarantee.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HOW IT IS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Spatial block CV — and the blocking confirms there is no leakage left to 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Whole blocks (500 / 1000 / 2000 m) are assigned to folds, never individual points, with a 250 m buffer. Random CV is run alongside purely as a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_inf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51" y="2258568"/>
            <a:ext cx="7786194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349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Random-CV and spatial-CV RMSE agree to within ~1%. Read correctly, this says the block design is working and the 3 500 points are far enough apart that autocorrelation was never inflating the score — not that spatial validation was unnecessary. Reported accuracy can therefore be taken at face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THE THREE COMPOSITE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Each method encodes a different hypothesis about what carries the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All three start from the same cloud-masked, water-masked observations. They differ only in how the temporal axis is collapsed.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21408"/>
            <a:ext cx="10881360" cy="3187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760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Masking is applied BEFORE reduction, so cloudy observations are excluded from the sample rather than averaged in. Stack additionally gap-fills masked pixels from the median (0.006–1.5% of the AOI per date).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percentile composite is the strongest on every model and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Holdout RMSE falls from 15.63 (median) to 9.05 (percentile) for SVR — a 42% reduction on points no model ever saw.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ldout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97" y="2075688"/>
            <a:ext cx="1046810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RESULT · ALL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ranking is the same on RMSE, MAE and R² — it is not a metric artefact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Held-out test set, predictions sampled from the exported 10 m rasters.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167128"/>
          <a:ext cx="9418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22960"/>
                <a:gridCol w="1097280"/>
                <a:gridCol w="1188720"/>
                <a:gridCol w="118872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Predictor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Dims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(4 dates)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Median (4 dates)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15.63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10.34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-0.76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Stack (4 dates)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Stack (4 dates)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10.22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6.92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-0.33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Percentile (30 dates)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Percentile (30 dates)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9.05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5.81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6E4F"/>
                          </a:solidFill>
                          <a:latin typeface="Calibri"/>
                        </a:rPr>
                        <a:t>-0.51</a:t>
                      </a:r>
                    </a:p>
                  </a:txBody>
                  <a:tcPr>
                    <a:solidFill>
                      <a:srgbClr val="EC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Embedding (annual)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Embedding (annual)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14.76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11.40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+0.27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6B6B"/>
                </a:solidFill>
                <a:latin typeface="Calibri"/>
              </a:rPr>
              <a:t>MLP is tuned and cross-validated throughout, but Earth Engine has no MLP regressor — so only RF and SVR can be exported as rasters and appear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ranking holds across 25 spatial folds, not just the single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Five folds × five repeated fold draws, at three block sizes. Error bars are the standard deviation across folds.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v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61" y="2075688"/>
            <a:ext cx="10616374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improvement is significant point-by-point, not just in 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Because the split is imported, the same 1 014 holdout points appear in every run — so errors can be paired. Wilcoxon signed-rank: p ≤ 4e-10 for all six comparisons.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10881360" cy="3827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6B6B"/>
                </a:solidFill>
                <a:latin typeface="Calibri"/>
              </a:rPr>
              <a:t>The embedding run did not store per-point residuals, so it is compared on aggregate metrics only and is excluded from this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WHERE THE METHODS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embedding is competitive only on fully pervious pixels — percentile wins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Across the six built-up classes the embedding averages 14.7 RMSE against 8.7 for percentile. Its one win is the 0% class (12.5 vs 14.5), where telling "no built-up" from "some" needs no temporal detail.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39" y="2048256"/>
            <a:ext cx="10717217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7044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Two separate effects are visible. The median composite fails hardest at 0% (27.2 RMSE) — with only four dates it cannot tell bare winter soil from asphalt. The embedding instead fails in the mixed classes, staying near 15 RMSE everywhere: it is a general-purpose annual descriptor, not one tuned to sub-pixel imperviousness.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model relies on the low red and high NIR percentiles — a seasonality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The strongest features are B4_p25 / B4_p10 (how dark the pixel gets in red) and B8_p90 / B8_p75 (how bright it gets in NIR). Neither is a median.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D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52" y="2167128"/>
            <a:ext cx="7819192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074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6B6B"/>
                </a:solidFill>
                <a:latin typeface="Calibri"/>
              </a:rPr>
              <a:t>Read together, these two describe how much a pixel greens up during the year. A vegetated or agricultural surface reaches a high NIR peak and a low red trough; asphalt and roofs stay flat. A median composite cannot express this, because it reports only where the distribution sits — not how wide it is. That is the concrete reason the percentile composite outperforms, and it explains why the outer percentiles matter more than the central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VISUAL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map is right at the city scale, but the residuals are spatially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The urban core, the satellite towns and the agricultural south are all in the right places. The difference panel is where the remaining error lives.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E_raster_comparis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753" y="1938528"/>
            <a:ext cx="4884589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7044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Calibri"/>
              </a:rPr>
              <a:t>Residuals are not white noise: linear features — the river corridor, motorways and field boundaries — are over-predicted (red), while the dense core is slightly under-predicted (blue). Both are mixed-pixel effects at 10 m, and they point at where a texture or context feature would help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One confound is unresolved and must be stated before the result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Calibri"/>
              </a:rPr>
              <a:t>These are properties of the current experiment, not of the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4708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121408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520440"/>
                <a:gridCol w="685800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Date count is confounded with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Percentile used 30 dates; stack and median used 4. Part of its advantage may come from observation count, not the reducer.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Stack is partly synthetic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Masked pixels are gap-filled from the median (0.006–1.5% per date); the model cannot distinguish filled from observed.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The exported raster ≠ the tuned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GEE’s smileRandomForest accepts only 2 of the 6 tuned RF hyper-parameters; the rest are dropped at export.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MLP cannot be deployed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It often wins cross-validation but has no Earth Engine equivalent, so it never becomes a map.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Single city, single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Milan 2018 only. Nothing here demonstrates transferability yet.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first experiment is the one that makes the current result conclusive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91" y="1572768"/>
            <a:ext cx="1041931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B6E4F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1A1A1A"/>
                </a:solidFill>
                <a:latin typeface="Calibri"/>
              </a:rPr>
              <a:t>Four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0881360" cy="9525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184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B6E4F"/>
                </a:solidFill>
                <a:latin typeface="Calibri"/>
              </a:rPr>
              <a:t>Bands and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18488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Ten L2A reflectance bands, no indices. 30 of 145 2018 acquisitions accepted by three AOI-based criteria — cloud, validity and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B6E4F"/>
                </a:solidFill>
                <a:latin typeface="Calibri"/>
              </a:rPr>
              <a:t>Comparability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42616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train/test split is imported from the embedding run and labels asserted identical: 2 449 / 1 014 / 37. Only the features differ, so the runs are directly comparable and can be paired.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66744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B6E4F"/>
                </a:solidFill>
                <a:latin typeface="Calibri"/>
              </a:rPr>
              <a:t>The three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666744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Median (10 dims) keeps central tendency; stack (40 dims) keeps four individual dates; percentile (50 dims) keeps the shape of the annual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90872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B6E4F"/>
                </a:solidFill>
                <a:latin typeface="Calibri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690872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Percentile is best on every model and metric (SVR RMSE 9.05, R² 0.933), significantly so under a paired test. The date-count confound remains to be resolved.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