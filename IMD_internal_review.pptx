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21" autoAdjust="0"/>
  </p:normalViewPr>
  <p:slideViewPr>
    <p:cSldViewPr snapToGrid="0" snapToObjects="1">
      <p:cViewPr varScale="1">
        <p:scale>
          <a:sx n="86" d="100"/>
          <a:sy n="86" d="100"/>
        </p:scale>
        <p:origin x="98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8336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through-line for the whole session: most of the same-source advantage was</a:t>
            </a:r>
          </a:p>
          <a:p>
            <a:r>
              <a:t>agreement with CLMS rather than accuracy. Same-source validation is the right</a:t>
            </a:r>
          </a:p>
          <a:p>
            <a:r>
              <a:t>instrument for model selection and the wrong one for claiming accuracy.</a:t>
            </a:r>
          </a:p>
          <a:p>
            <a:endParaRPr/>
          </a:p>
          <a:p>
            <a:r>
              <a:t>This extends Žgela's AlphaEarth study, which is assumed read. Three changes:</a:t>
            </a:r>
          </a:p>
          <a:p>
            <a:r>
              <a:t>Sentinel-2 composites as an alternative predictor set, two Vietnamese cities so</a:t>
            </a:r>
          </a:p>
          <a:p>
            <a:r>
              <a:t>transfer can be tested, and a second validation against plots no model saw.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the reproduction is reported at all: every comparison in the Milan and</a:t>
            </a:r>
          </a:p>
          <a:p>
            <a:r>
              <a:t>discussion sections measures a new predictor set against that baseline, so a</a:t>
            </a:r>
          </a:p>
          <a:p>
            <a:r>
              <a:t>baseline that had drifted would move those comparisons without announcing</a:t>
            </a:r>
          </a:p>
          <a:p>
            <a:r>
              <a:t>itself. Both estimators reproduce: SVR gives 14.756 / 11.400 / 0.822 / +0.274</a:t>
            </a:r>
          </a:p>
          <a:p>
            <a:r>
              <a:t>against his 14.76 / 11.40 / 0.822 / +0.27.</a:t>
            </a:r>
          </a:p>
          <a:p>
            <a:endParaRPr/>
          </a:p>
          <a:p>
            <a:r>
              <a:t>On using the embeddings whole: Žgela tested every band against the IMD groups</a:t>
            </a:r>
          </a:p>
          <a:p>
            <a:r>
              <a:t>by Kruskal-Wallis and found 60 of 64 differ significantly across classes, and a</a:t>
            </a:r>
          </a:p>
          <a:p>
            <a:r>
              <a:t>separate feature-selection experiment found the full set to outperform any</a:t>
            </a:r>
          </a:p>
          <a:p>
            <a:r>
              <a:t>reduced subset. So the obvious question — would a smaller subset do as well —</a:t>
            </a:r>
          </a:p>
          <a:p>
            <a:r>
              <a:t>has already been answered in the negative on this same data.</a:t>
            </a:r>
          </a:p>
          <a:p>
            <a:endParaRPr/>
          </a:p>
          <a:p>
            <a:r>
              <a:t>The three reproduced results are the CV-versus-holdout reversal, the per-class</a:t>
            </a:r>
          </a:p>
          <a:p>
            <a:r>
              <a:t>pattern of local retraining, and the qualitative observation behind the bias</a:t>
            </a:r>
          </a:p>
          <a:p>
            <a:r>
              <a:t>recovery.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are necessary and neither substitutes for the other. Same-source is</a:t>
            </a:r>
          </a:p>
          <a:p>
            <a:r>
              <a:t>available for every candidate model, uses the full spatial holdout, and is the</a:t>
            </a:r>
          </a:p>
          <a:p>
            <a:r>
              <a:t>natural instrument for choosing among models. What it cannot do is separate a</a:t>
            </a:r>
          </a:p>
          <a:p>
            <a:r>
              <a:t>good map from one that has learned to resemble its labels: a model scored</a:t>
            </a:r>
          </a:p>
          <a:p>
            <a:r>
              <a:t>against the product it was fitted to is rewarded for reproducing that product,</a:t>
            </a:r>
          </a:p>
          <a:p>
            <a:r>
              <a:t>including wherever the product is wrong.</a:t>
            </a:r>
          </a:p>
          <a:p>
            <a:endParaRPr/>
          </a:p>
          <a:p>
            <a:r>
              <a:t>That is not hypothetical here — the independent validation finds both training</a:t>
            </a:r>
          </a:p>
          <a:p>
            <a:r>
              <a:t>products score no better than the models fitted to them.</a:t>
            </a:r>
          </a:p>
          <a:p>
            <a:endParaRPr/>
          </a:p>
          <a:p>
            <a:r>
              <a:t>The two are never merged and their numbers are never compared directly. They</a:t>
            </a:r>
          </a:p>
          <a:p>
            <a:r>
              <a:t>are scored against different references, on different samples, at different</a:t>
            </a:r>
          </a:p>
          <a:p>
            <a:r>
              <a:t>sizes, so a difference between a same-source number and an independent one</a:t>
            </a:r>
          </a:p>
          <a:p>
            <a:r>
              <a:t>would measure the change of reference rather than anything about a map. The one</a:t>
            </a:r>
          </a:p>
          <a:p>
            <a:r>
              <a:t>place they are set side by side is the compression slide, which has that</a:t>
            </a:r>
          </a:p>
          <a:p>
            <a:r>
              <a:t>relationship as its subject.</a:t>
            </a:r>
          </a:p>
          <a:p>
            <a:endParaRPr/>
          </a:p>
          <a:p>
            <a:r>
              <a:t>On the sign convention: the two validations produce biases of opposite sign and</a:t>
            </a:r>
          </a:p>
          <a:p>
            <a:r>
              <a:t>both are correct. In Vietnam the models read higher than GHS-BUILT-S, giving</a:t>
            </a:r>
          </a:p>
          <a:p>
            <a:r>
              <a:t>negative biases; against photo-interpretation GHS-BUILT-S reads lower than the</a:t>
            </a:r>
          </a:p>
          <a:p>
            <a:r>
              <a:t>reference, giving positive ones. Different comparisons — do not read the signs</a:t>
            </a:r>
          </a:p>
          <a:p>
            <a:r>
              <a:t>across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Flag this early. A definitional mismatch met without this slide reads as a</a:t>
            </a:r>
          </a:p>
          <a:p>
            <a:r>
              <a:t>measurement error, and the +19.68 / +19.80 pp result later is exactly that</a:t>
            </a:r>
          </a:p>
          <a:p>
            <a:r>
              <a:t>mismatch appearing as a number.</a:t>
            </a:r>
          </a:p>
          <a:p>
            <a:endParaRPr/>
          </a:p>
          <a:p>
            <a:r>
              <a:t>Žgela states the road exclusion twice in his report and it is taken from him</a:t>
            </a:r>
          </a:p>
          <a:p>
            <a:r>
              <a:t>rather than asserted here: the product accounts only for built-up surfaces,</a:t>
            </a:r>
          </a:p>
          <a:p>
            <a:r>
              <a:t>namely buildings and a limited set of other roofed infrastructure.</a:t>
            </a:r>
          </a:p>
          <a:p>
            <a:endParaRPr/>
          </a:p>
          <a:p>
            <a:r>
              <a:t>On the choice being deliberate rather than by default: a target with a known</a:t>
            </a:r>
          </a:p>
          <a:p>
            <a:r>
              <a:t>definitional gap was preferred to a target from the wrong year, or to no</a:t>
            </a:r>
          </a:p>
          <a:p>
            <a:r>
              <a:t>Vietnamese experiment at all.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RMSE_corr, which is the one metric that invites misuse. A plot's IMD is a</a:t>
            </a:r>
          </a:p>
          <a:p>
            <a:r>
              <a:t>proportion estimated from nine sub-cells, so the reference carries sampling</a:t>
            </a:r>
          </a:p>
          <a:p>
            <a:r>
              <a:t>error of its own. The correction subtracts a binomial estimate of that error</a:t>
            </a:r>
          </a:p>
          <a:p>
            <a:r>
              <a:t>and is floored at zero.</a:t>
            </a:r>
          </a:p>
          <a:p>
            <a:endParaRPr/>
          </a:p>
          <a:p>
            <a:r>
              <a:t>The independence assumption behind it does not hold: nine sub-cells within a</a:t>
            </a:r>
          </a:p>
          <a:p>
            <a:r>
              <a:t>single 10 m pixel share land cover and are spatially correlated, so the binomial</a:t>
            </a:r>
          </a:p>
          <a:p>
            <a:r>
              <a:t>calculation understates the true reference noise and the correction removes less</a:t>
            </a:r>
          </a:p>
          <a:p>
            <a:r>
              <a:t>error than it should. The true map error is therefore at or below RMSE_corr. The</a:t>
            </a:r>
          </a:p>
          <a:p>
            <a:r>
              <a:t>correct use is to say a map's error is at most some value, never that it equals</a:t>
            </a:r>
          </a:p>
          <a:p>
            <a:r>
              <a:t>it. Saying the four Milan maps lie between 21.559 and 22.917 corrected is a</a:t>
            </a:r>
          </a:p>
          <a:p>
            <a:r>
              <a:t>statement about bounds; claiming any of them achieves 21.559 is not supported.</a:t>
            </a:r>
          </a:p>
          <a:p>
            <a:endParaRPr/>
          </a:p>
          <a:p>
            <a:r>
              <a:t>R-squared: the proportion of reference variance the map accounts for. At or</a:t>
            </a:r>
          </a:p>
          <a:p>
            <a:r>
              <a:t>below zero it is no more informative than predicting the mean everywhere — which</a:t>
            </a:r>
          </a:p>
          <a:p>
            <a:r>
              <a:t>is what three of the four zero-shot combinations do.</a:t>
            </a:r>
          </a:p>
          <a:p>
            <a:endParaRPr/>
          </a:p>
          <a:p>
            <a:r>
              <a:t>One code, Rock/material, is ambiguous between sealed and unsealed and is dropped</a:t>
            </a:r>
          </a:p>
          <a:p>
            <a:r>
              <a:t>wherever it occurs, with the denominator renormalised so a plot with one dropped</a:t>
            </a:r>
          </a:p>
          <a:p>
            <a:r>
              <a:t>sub-cell scores out of eight. It occurs once, in Milan.</a:t>
            </a:r>
          </a:p>
          <a:p>
            <a:endParaRPr/>
          </a:p>
          <a:p>
            <a:r>
              <a:t>The rare codes bound how much the rule choice can matter: in Milan permeable</a:t>
            </a:r>
          </a:p>
          <a:p>
            <a:r>
              <a:t>pavement occurs in 23 sub-cells across 6 plots, dirt road in 112 across 18. In</a:t>
            </a:r>
          </a:p>
          <a:p>
            <a:r>
              <a:t>both Vietnamese cities permeable pavement does not occur at all, so rule B is</a:t>
            </a:r>
          </a:p>
          <a:p>
            <a:r>
              <a:t>identical to strict there by construction.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Screening is per acquisition date on three criteria over the city's area of</a:t>
            </a:r>
          </a:p>
          <a:p>
            <a:r>
              <a:t>interest: cloud cover, share of valid pixels, and at least 95 % scene coverage.</a:t>
            </a:r>
          </a:p>
          <a:p>
            <a:r>
              <a:t>Milan passes at the strict setting, cloud below 20 % and valid above 90 %.</a:t>
            </a:r>
          </a:p>
          <a:p>
            <a:r>
              <a:t>Neither Vietnamese city yields a workable set there, so both are screened one</a:t>
            </a:r>
          </a:p>
          <a:p>
            <a:r>
              <a:t>rung looser at cloud below 35 % and valid above 80 %.</a:t>
            </a:r>
          </a:p>
          <a:p>
            <a:endParaRPr/>
          </a:p>
          <a:p>
            <a:r>
              <a:t>Three composite methods are defined: median (10 bands), stack (four dates one</a:t>
            </a:r>
          </a:p>
          <a:p>
            <a:r>
              <a:t>per season, 40 bands), percentile (p10/p25/p50/p75/p90, 50 bands).</a:t>
            </a:r>
          </a:p>
          <a:p>
            <a:endParaRPr/>
          </a:p>
          <a:p>
            <a:r>
              <a:t>Why only median survives in Vietnam. A percentile needs enough observations on</a:t>
            </a:r>
          </a:p>
          <a:p>
            <a:r>
              <a:t>either side of it; the guard scales with the number requested, so five</a:t>
            </a:r>
          </a:p>
          <a:p>
            <a:r>
              <a:t>percentiles require at least 17 dates. This was tested rather than assumed: the</a:t>
            </a:r>
          </a:p>
          <a:p>
            <a:r>
              <a:t>scene search evaluates a ceiling case with every threshold disabled and every</a:t>
            </a:r>
          </a:p>
          <a:p>
            <a:r>
              <a:t>candidate accepted regardless of cloud. Even then HCMC reaches 16 against the 17</a:t>
            </a:r>
          </a:p>
          <a:p>
            <a:r>
              <a:t>required — it fails by one. Hanoi reaches 10 and fails by seven.</a:t>
            </a:r>
          </a:p>
          <a:p>
            <a:endParaRPr/>
          </a:p>
          <a:p>
            <a:r>
              <a:t>The narrowness of HCMC's margin does not weaken the conclusion. The ceiling set</a:t>
            </a:r>
          </a:p>
          <a:p>
            <a:r>
              <a:t>is not a usable alternative that was passed over: it includes every acquisition</a:t>
            </a:r>
          </a:p>
          <a:p>
            <a:r>
              <a:t>rejected for cloud, which is how 16 becomes a screened count of 3. A percentile</a:t>
            </a:r>
          </a:p>
          <a:p>
            <a:r>
              <a:t>composite computed from it would be a percentile of largely cloudy observations.</a:t>
            </a:r>
          </a:p>
          <a:p>
            <a:endParaRPr/>
          </a:p>
          <a:p>
            <a:r>
              <a:t>Stack fails for the same reason at a smaller count: it needs four dates one per</a:t>
            </a:r>
          </a:p>
          <a:p>
            <a:r>
              <a:t>season and HCMC's three fall in two months.</a:t>
            </a:r>
          </a:p>
          <a:p>
            <a:endParaRPr/>
          </a:p>
          <a:p>
            <a:r>
              <a:t>Two properties that matter later. Milan's composite is near-annual rather than</a:t>
            </a:r>
          </a:p>
          <a:p>
            <a:r>
              <a:t>annual — January, February and May are absent from all 30 dates. And HCMC's is</a:t>
            </a:r>
          </a:p>
          <a:p>
            <a:r>
              <a:t>thinner than a count of three suggests: its dates are 12 February, 24 December</a:t>
            </a:r>
          </a:p>
          <a:p>
            <a:r>
              <a:t>and 29 December, and the two December acquisitions are five days apart, so it is</a:t>
            </a:r>
          </a:p>
          <a:p>
            <a:r>
              <a:t>effectively one February look plus one late-December look.</a:t>
            </a:r>
          </a:p>
          <a:p>
            <a:endParaRPr/>
          </a:p>
          <a:p>
            <a:r>
              <a:t>Do not read median's use in Vietnam as a finding that median is the better</a:t>
            </a:r>
          </a:p>
          <a:p>
            <a:r>
              <a:t>choice — it is the weakest of the three in Milan, where all three could be</a:t>
            </a:r>
          </a:p>
          <a:p>
            <a:r>
              <a:t>computed.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CLMS reference was classified into seven IMD groups and 500 points drawn at</a:t>
            </a:r>
          </a:p>
          <a:p>
            <a:r>
              <a:t>random within each, giving 3 500. Stratifying this way rather than sampling</a:t>
            </a:r>
          </a:p>
          <a:p>
            <a:r>
              <a:t>uniformly is what puts enough points in the sparse middle of the range, which an</a:t>
            </a:r>
          </a:p>
          <a:p>
            <a:r>
              <a:t>unstratified draw over a city would leave nearly empty.</a:t>
            </a:r>
          </a:p>
          <a:p>
            <a:endParaRPr/>
          </a:p>
          <a:p>
            <a:r>
              <a:t>Why spatial rather than random splitting: random splitting would place training</a:t>
            </a:r>
          </a:p>
          <a:p>
            <a:r>
              <a:t>and test points metres apart in the same neighbourhood, where they share land</a:t>
            </a:r>
          </a:p>
          <a:p>
            <a:r>
              <a:t>cover and often the same rooftops, and would return an accuracy figure measuring</a:t>
            </a:r>
          </a:p>
          <a:p>
            <a:r>
              <a:t>interpolation between neighbouring pixels rather than prediction.</a:t>
            </a:r>
          </a:p>
          <a:p>
            <a:endParaRPr/>
          </a:p>
          <a:p>
            <a:r>
              <a:t>Two consequences for this deck. First, the 1 014-point holdout is the same</a:t>
            </a:r>
          </a:p>
          <a:p>
            <a:r>
              <a:t>holdout throughout the Milan section — notebook 01b imports the split from the</a:t>
            </a:r>
          </a:p>
          <a:p>
            <a:r>
              <a:t>embeddings run rather than recomputing it, so all four predictor sets are scored</a:t>
            </a:r>
          </a:p>
          <a:p>
            <a:r>
              <a:t>on exactly the same held-out points. That is what makes it a comparison of</a:t>
            </a:r>
          </a:p>
          <a:p>
            <a:r>
              <a:t>predictors. Second, the 1 014 figure matches Žgela's, which is one of the checks</a:t>
            </a:r>
          </a:p>
          <a:p>
            <a:r>
              <a:t>that the shared baseline was correctly reconstructed.</a:t>
            </a:r>
          </a:p>
          <a:p>
            <a:endParaRPr/>
          </a:p>
          <a:p>
            <a:r>
              <a:t>Žgela checked the design's own spatial randomness with an average nearest</a:t>
            </a:r>
          </a:p>
          <a:p>
            <a:r>
              <a:t>neighbour index, running from 1.02 for the 0 % class down to 0.75 for the 100 %</a:t>
            </a:r>
          </a:p>
          <a:p>
            <a:r>
              <a:t>class. The lower value records that fully impervious pixels cluster in the city</a:t>
            </a:r>
          </a:p>
          <a:p>
            <a:r>
              <a:t>centre; he acknowledges it as a sampling limitation rather than correcting for</a:t>
            </a:r>
          </a:p>
          <a:p>
            <a:r>
              <a:t>it, and it is repeated here on the same terms.</a:t>
            </a:r>
          </a:p>
          <a:p>
            <a:endParaRPr/>
          </a:p>
          <a:p>
            <a:r>
              <a:t>Vietnam is sampled and split on the same design against GHS-BUILT-S, giving 895</a:t>
            </a:r>
          </a:p>
          <a:p>
            <a:r>
              <a:t>test points in Hanoi and 887 in HCMC.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agreement says the buffering and blocking have already removed what leakage</a:t>
            </a:r>
          </a:p>
          <a:p>
            <a:r>
              <a:t>there was to remove, and that the tuning scores are not inflated by proximity</a:t>
            </a:r>
          </a:p>
          <a:p>
            <a:r>
              <a:t>between folds. It does not say the blocking was pointless: the reason the two</a:t>
            </a:r>
          </a:p>
          <a:p>
            <a:r>
              <a:t>agree is that the split was built to make them agree.</a:t>
            </a:r>
          </a:p>
          <a:p>
            <a:endParaRPr/>
          </a:p>
          <a:p>
            <a:r>
              <a:t>Cross-validation is spatial throughout, using the same block structure as the</a:t>
            </a:r>
          </a:p>
          <a:p>
            <a:r>
              <a:t>train/test split, so a fold boundary is a spatial boundary.</a:t>
            </a:r>
          </a:p>
          <a:p>
            <a:endParaRPr/>
          </a:p>
          <a:p>
            <a:r>
              <a:t>Important: CV scores are used for tuning and are never quoted as holdout</a:t>
            </a:r>
          </a:p>
          <a:p>
            <a:r>
              <a:t>performance. They score scikit-learn models on training-set folds, whereas every</a:t>
            </a:r>
          </a:p>
          <a:p>
            <a:r>
              <a:t>accuracy figure in this deck is scored on data held out from training.</a:t>
            </a:r>
          </a:p>
          <a:p>
            <a:endParaRPr/>
          </a:p>
          <a:p>
            <a:r>
              <a:t>Estimator scope, fixed once. Three estimators were tuned; two are carried</a:t>
            </a:r>
          </a:p>
          <a:p>
            <a:r>
              <a:t>forward, random forest and SVR. SVR is evaluated in Milan only. Every model</a:t>
            </a:r>
          </a:p>
          <a:p>
            <a:r>
              <a:t>outside the Milan section is a random forest, for two reasons: the transfer</a:t>
            </a:r>
          </a:p>
          <a:p>
            <a:r>
              <a:t>experiment requires a random forest by construction, and the comparison across</a:t>
            </a:r>
          </a:p>
          <a:p>
            <a:r>
              <a:t>predictor sets, scenarios and cities is only a comparison of those things if the</a:t>
            </a:r>
          </a:p>
          <a:p>
            <a:r>
              <a:t>estimator is held fixed. Only estimators whose trained form can be applied to a</a:t>
            </a:r>
          </a:p>
          <a:p>
            <a:r>
              <a:t>raster through the Earth Engine Python API were considered, since every map is</a:t>
            </a:r>
          </a:p>
          <a:p>
            <a:r>
              <a:t>produced by predicting over the full scene rather than scoring a table of</a:t>
            </a:r>
          </a:p>
          <a:p>
            <a:r>
              <a:t>points.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agreement with CLMS, not accuracy. Say so here — the independent</a:t>
            </a:r>
          </a:p>
          <a:p>
            <a:r>
              <a:t>validation later compresses this spread about 6.4-fold.</a:t>
            </a:r>
          </a:p>
          <a:p>
            <a:endParaRPr/>
          </a:p>
          <a:p>
            <a:r>
              <a:t>The ordering holds on RMSE, MAE and R-squared, so it is not an artefact of a</a:t>
            </a:r>
          </a:p>
          <a:p>
            <a:r>
              <a:t>single metric, and the bars in all three panels start at zero so bar length is</a:t>
            </a:r>
          </a:p>
          <a:p>
            <a:r>
              <a:t>proportional and the spread is not exaggerated by a truncated axis.</a:t>
            </a:r>
          </a:p>
          <a:p>
            <a:endParaRPr/>
          </a:p>
          <a:p>
            <a:r>
              <a:t>The gap between the best composite and the embeddings, 4.661 RMSE, is larger</a:t>
            </a:r>
          </a:p>
          <a:p>
            <a:r>
              <a:t>than the gap between the best and worst composite, 1.823.</a:t>
            </a:r>
          </a:p>
          <a:p>
            <a:endParaRPr/>
          </a:p>
          <a:p>
            <a:r>
              <a:t>All four maps are close to unbiased on this validation, between −0.169 and</a:t>
            </a:r>
          </a:p>
          <a:p>
            <a:r>
              <a:t>+0.624, which is exactly what you expect of a model fitted to the product it is</a:t>
            </a:r>
          </a:p>
          <a:p>
            <a:r>
              <a:t>then scored against.</a:t>
            </a:r>
          </a:p>
          <a:p>
            <a:endParaRPr/>
          </a:p>
          <a:p>
            <a:r>
              <a:t>Because the SVR ordering is identical, the advantage does not depend on the</a:t>
            </a:r>
          </a:p>
          <a:p>
            <a:r>
              <a:t>estimator. SVR appears in Milan only, for the reasons on the cross-validation</a:t>
            </a:r>
          </a:p>
          <a:p>
            <a:r>
              <a:t>slide.</a:t>
            </a:r>
          </a:p>
          <a:p>
            <a:endParaRPr/>
          </a:p>
          <a:p>
            <a:r>
              <a:t>If asked about the CV-versus-holdout reversal: SVR wins cross-validation and</a:t>
            </a:r>
          </a:p>
          <a:p>
            <a:r>
              <a:t>loses the holdout, reproducing Žgela's result. On the embeddings run SVR tunes</a:t>
            </a:r>
          </a:p>
          <a:p>
            <a:r>
              <a:t>to CV RMSE 11.711 at its selected 500 m block against RF's 13.162 at 1 000 m,</a:t>
            </a:r>
          </a:p>
          <a:p>
            <a:r>
              <a:t>then loses all three holdout metrics. The reversal carries a confound — holdout</a:t>
            </a:r>
          </a:p>
          <a:p>
            <a:r>
              <a:t>rows are scored on Earth Engine rasters while CV numbers come from tuned</a:t>
            </a:r>
          </a:p>
          <a:p>
            <a:r>
              <a:t>scikit-learn models, and the parameter translation is lossy in both directions,</a:t>
            </a:r>
          </a:p>
          <a:p>
            <a:r>
              <a:t>so overfitting to the folds and estimator translation cannot be separated from</a:t>
            </a:r>
          </a:p>
          <a:p>
            <a:r>
              <a:t>these runs. RF is carried forward because the transfer design requires it, not</a:t>
            </a:r>
          </a:p>
          <a:p>
            <a:r>
              <a:t>because SVR could not be rastered: the Milan SVR raster was produced and</a:t>
            </a:r>
          </a:p>
          <a:p>
            <a:r>
              <a:t>retained.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plot-level view behind the ranking table. Both estimator panels</a:t>
            </a:r>
          </a:p>
          <a:p>
            <a:r>
              <a:t>carry their own RMSE, MAE, R-squared and bias.</a:t>
            </a:r>
          </a:p>
          <a:p>
            <a:endParaRPr/>
          </a:p>
          <a:p>
            <a:r>
              <a:t>Useful for the reversal question: the SVR panel is the map that won</a:t>
            </a:r>
          </a:p>
          <a:p>
            <a:r>
              <a:t>cross-validation and lost here.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Breaking the holdout down by class, for anyone who wants to know where the</a:t>
            </a:r>
          </a:p>
          <a:p>
            <a:r>
              <a:t>Milan error sits rather than only its total.</a:t>
            </a:r>
          </a:p>
          <a:p>
            <a:endParaRPr/>
          </a:p>
          <a:p>
            <a:r>
              <a:t>Note the contrast with Vietnam later: here there is no zero-shot/retrain</a:t>
            </a:r>
          </a:p>
          <a:p>
            <a:r>
              <a:t>comparison to make, because the Milan model is trained on Milan.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 upper panels agree on the structure of the conurbation: the dense core,</a:t>
            </a:r>
          </a:p>
          <a:p>
            <a:r>
              <a:t>the satellite towns to the north, the largely agricultural south.</a:t>
            </a:r>
          </a:p>
          <a:p>
            <a:endParaRPr/>
          </a:p>
          <a:p>
            <a:r>
              <a:t>The difference panel is where the disagreement is legible. It is close to zero</a:t>
            </a:r>
          </a:p>
          <a:p>
            <a:r>
              <a:t>over most of the rural area and over the interior of the built-up core, and</a:t>
            </a:r>
          </a:p>
          <a:p>
            <a:r>
              <a:t>departs from CLMS in two places.</a:t>
            </a:r>
          </a:p>
          <a:p>
            <a:endParaRPr/>
          </a:p>
          <a:p>
            <a:r>
              <a:t>First, a fine network of positive lines threading the countryside, following the</a:t>
            </a:r>
          </a:p>
          <a:p>
            <a:r>
              <a:t>road and canal network: the model reads these narrow sealed features as more</a:t>
            </a:r>
          </a:p>
          <a:p>
            <a:r>
              <a:t>impervious than CLMS does. Second, a mild negative cast over the densest part of</a:t>
            </a:r>
          </a:p>
          <a:p>
            <a:r>
              <a:t>the city centre, where the model sits below CLMS. The predicted panel also</a:t>
            </a:r>
          </a:p>
          <a:p>
            <a:r>
              <a:t>carries small unmapped gaps along the watercourses that CLMS fills.</a:t>
            </a:r>
          </a:p>
          <a:p>
            <a:endParaRPr/>
          </a:p>
          <a:p>
            <a:r>
              <a:t>Be careful with the road reading here. CLMS measures sealed surface and includes</a:t>
            </a:r>
          </a:p>
          <a:p>
            <a:r>
              <a:t>roads by design, so this is not the road-exclusion story that applies to</a:t>
            </a:r>
          </a:p>
          <a:p>
            <a:r>
              <a:t>GHS-BUILT-S in Vietnam. What this shows is a disagreement about how narrow</a:t>
            </a:r>
          </a:p>
          <a:p>
            <a:r>
              <a:t>sealed features are resolved, in both directions, not a definitional gap.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the percentile composite does not simply carry more bands than the</a:t>
            </a:r>
          </a:p>
          <a:p>
            <a:r>
              <a:t>median — it carries the particular bands the median throws away. That is a</a:t>
            </a:r>
          </a:p>
          <a:p>
            <a:r>
              <a:t>mechanistic explanation of the ranking, not just an empirical one.</a:t>
            </a:r>
          </a:p>
          <a:p>
            <a:endParaRPr/>
          </a:p>
          <a:p>
            <a:r>
              <a:t>On the embeddings comparison, and be precise here. Žgela reports band importance</a:t>
            </a:r>
          </a:p>
          <a:p>
            <a:r>
              <a:t>for the embeddings in his study; his two most important predictors are bands B16</a:t>
            </a:r>
          </a:p>
          <a:p>
            <a:r>
              <a:t>and B08 of the 64-dimensional embedding, which have no direct physical</a:t>
            </a:r>
          </a:p>
          <a:p>
            <a:r>
              <a:t>interpretation. What this project did not do is run the equivalent comparison</a:t>
            </a:r>
          </a:p>
          <a:p>
            <a:r>
              <a:t>between the two feature spaces, so no claim is made here about how the two</a:t>
            </a:r>
          </a:p>
          <a:p>
            <a:r>
              <a:t>explanations compare. The honest statement is that the Sentinel-2 side gives an</a:t>
            </a:r>
          </a:p>
          <a:p>
            <a:r>
              <a:t>interpretable account of why it works, and that this project did not test</a:t>
            </a:r>
          </a:p>
          <a:p>
            <a:r>
              <a:t>whether the embeddings admit one.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Local retraining recovers R-squared to between 0.522 and 0.649 in every case,</a:t>
            </a:r>
          </a:p>
          <a:p>
            <a:r>
              <a:t>and cuts RMSE by roughly a third to a half: 35.960 to 23.860 and 37.150 to</a:t>
            </a:r>
          </a:p>
          <a:p>
            <a:r>
              <a:t>24.050 in Hanoi, 40.650 to 21.310 and 35.190 to 22.880 in HCMC.</a:t>
            </a:r>
          </a:p>
          <a:p>
            <a:endParaRPr/>
          </a:p>
          <a:p>
            <a:r>
              <a:t>The bias column identifies the failure mode. Every zero-shot bias is large and</a:t>
            </a:r>
          </a:p>
          <a:p>
            <a:r>
              <a:t>negative, between −23.180 and −29.760, so the transferred models read</a:t>
            </a:r>
          </a:p>
          <a:p>
            <a:r>
              <a:t>systematically more impervious than GHSL across the whole test set. They are not</a:t>
            </a:r>
          </a:p>
          <a:p>
            <a:r>
              <a:t>scattered around the reference; they sit above it. Local retrains bring bias to</a:t>
            </a:r>
          </a:p>
          <a:p>
            <a:r>
              <a:t>between −2.080 and +0.400.</a:t>
            </a:r>
          </a:p>
          <a:p>
            <a:endParaRPr/>
          </a:p>
          <a:p>
            <a:r>
              <a:t>The fourth combination, S2 median in HCMC at R-squared 0.042, is not a</a:t>
            </a:r>
          </a:p>
          <a:p>
            <a:r>
              <a:t>counter-example so much as a weaker instance of the same failure.</a:t>
            </a:r>
          </a:p>
          <a:p>
            <a:endParaRPr/>
          </a:p>
          <a:p>
            <a:r>
              <a:t>The raster view of this same failure — GHSL, the Milan transfer and the local</a:t>
            </a:r>
          </a:p>
          <a:p>
            <a:r>
              <a:t>retrain side by side for both cities — is available if the level shift needs</a:t>
            </a:r>
          </a:p>
          <a:p>
            <a:r>
              <a:t>showing directly rather than as a metric.</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predictor sets fail in the same way and to a similar degree, which is what</a:t>
            </a:r>
          </a:p>
          <a:p>
            <a:r>
              <a:t>makes this a statement about transfer rather than about a particular feature</a:t>
            </a:r>
          </a:p>
          <a:p>
            <a:r>
              <a:t>space.</a:t>
            </a:r>
          </a:p>
          <a:p>
            <a:endParaRPr/>
          </a:p>
          <a:p>
            <a:r>
              <a:t>The caveat in full. The two zero-shot experiments are not equally handicapped:</a:t>
            </a:r>
          </a:p>
          <a:p>
            <a:r>
              <a:t>the embeddings compare annual coverage against annual coverage, while the S2</a:t>
            </a:r>
          </a:p>
          <a:p>
            <a:r>
              <a:t>median compares Milan's 30-date composite against 3 to 4 Vietnamese dates. So</a:t>
            </a:r>
          </a:p>
          <a:p>
            <a:r>
              <a:t>the near-equality of the two failures should not be read as a controlled</a:t>
            </a:r>
          </a:p>
          <a:p>
            <a:r>
              <a:t>comparison between them, and nothing supports a statement that one predictor set</a:t>
            </a:r>
          </a:p>
          <a:p>
            <a:r>
              <a:t>transfers better than the other. The shared conclusion — both fail, local</a:t>
            </a:r>
          </a:p>
          <a:p>
            <a:r>
              <a:t>retraining repairs both — does not rest on that ordering and is unaffected.</a:t>
            </a:r>
          </a:p>
          <a:p>
            <a:endParaRPr/>
          </a:p>
          <a:p>
            <a:r>
              <a:t>The figure code is identical in the two notebooks; only the raster suffix and</a:t>
            </a:r>
          </a:p>
          <a:p>
            <a:r>
              <a:t>one suptitle differ, which is why each figure names its own predictor set and</a:t>
            </a:r>
          </a:p>
          <a:p>
            <a:r>
              <a:t>reference.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numbers behind the two previous figures, if anyone wants to read a specific</a:t>
            </a:r>
          </a:p>
          <a:p>
            <a:r>
              <a:t>cell.</a:t>
            </a:r>
          </a:p>
          <a:p>
            <a:endParaRPr/>
          </a:p>
          <a:p>
            <a:r>
              <a:t>The pattern to point at: every zero-shot bias is large and negative, between</a:t>
            </a:r>
          </a:p>
          <a:p>
            <a:r>
              <a:t>−23.180 and −29.760, and every local retrain sits between −2.080 and +0.400.</a:t>
            </a:r>
          </a:p>
          <a:p>
            <a:r>
              <a:t>That is the level mismatch the discussion section takes up as mechanism one.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real limitation of local retraining, not noise, and it is reported</a:t>
            </a:r>
          </a:p>
          <a:p>
            <a:r>
              <a:t>rather than set aside.</a:t>
            </a:r>
          </a:p>
          <a:p>
            <a:endParaRPr/>
          </a:p>
          <a:p>
            <a:r>
              <a:t>The mechanism is visible in the same rows. The transferred models over-predict</a:t>
            </a:r>
          </a:p>
          <a:p>
            <a:r>
              <a:t>everywhere, which is ruinous in the low classes — a map that cannot predict low</a:t>
            </a:r>
          </a:p>
          <a:p>
            <a:r>
              <a:t>values is worst where the reference is lowest — and incidentally close to right</a:t>
            </a:r>
          </a:p>
          <a:p>
            <a:r>
              <a:t>in the highest class, where the reference is near 100 % and a map biased upward</a:t>
            </a:r>
          </a:p>
          <a:p>
            <a:r>
              <a:t>has little room to err. Retraining removes the upward bias globally, which fixes</a:t>
            </a:r>
          </a:p>
          <a:p>
            <a:r>
              <a:t>the low classes and removes the accident that was flattering the top one.</a:t>
            </a:r>
          </a:p>
          <a:p>
            <a:endParaRPr/>
          </a:p>
          <a:p>
            <a:r>
              <a:t>Žgela reports the same pattern: improvements mainly in classes C0 to C3, with</a:t>
            </a:r>
          </a:p>
          <a:p>
            <a:r>
              <a:t>the retrained model challenged at the top of the range.</a:t>
            </a:r>
          </a:p>
          <a:p>
            <a:endParaRPr/>
          </a:p>
          <a:p>
            <a:r>
              <a:t>If asked why there is no per-class R-squared: restricting to a single IMD class</a:t>
            </a:r>
          </a:p>
          <a:p>
            <a:r>
              <a:t>removes most of the variance R-squared is normalised by, so every defined</a:t>
            </a:r>
          </a:p>
          <a:p>
            <a:r>
              <a:t>per-class value is negative even where the same model reaches a global 0.522 to</a:t>
            </a:r>
          </a:p>
          <a:p>
            <a:r>
              <a:t>0.649. That is arithmetic, not model failure. C0 and C6 are single-valued</a:t>
            </a:r>
          </a:p>
          <a:p>
            <a:r>
              <a:t>strata, so their variance is exactly zero and R-squared is undefined. Per-class</a:t>
            </a:r>
          </a:p>
          <a:p>
            <a:r>
              <a:t>RMSE, MAE and bias are the appropriate within-class measures.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turn of the whole deck. Say the claim plainly: most of the</a:t>
            </a:r>
          </a:p>
          <a:p>
            <a:r>
              <a:t>separation the same-source validation reported was agreement with CLMS rather</a:t>
            </a:r>
          </a:p>
          <a:p>
            <a:r>
              <a:t>than accuracy.</a:t>
            </a:r>
          </a:p>
          <a:p>
            <a:endParaRPr/>
          </a:p>
          <a:p>
            <a:r>
              <a:t>Part of the collapse is a reshuffle, not only a compression. The worst map</a:t>
            </a:r>
          </a:p>
          <a:p>
            <a:r>
              <a:t>differs between the two validations: the embeddings are last on the same-source</a:t>
            </a:r>
          </a:p>
          <a:p>
            <a:r>
              <a:t>validation at 14.123, while on the independent one the S2 median is last at</a:t>
            </a:r>
          </a:p>
          <a:p>
            <a:r>
              <a:t>25.984 and the embeddings sit third at 25.625. An ordering that survived three</a:t>
            </a:r>
          </a:p>
          <a:p>
            <a:r>
              <a:t>metrics within the first validation does not survive the change of reference</a:t>
            </a:r>
          </a:p>
          <a:p>
            <a:r>
              <a:t>intact.</a:t>
            </a:r>
          </a:p>
          <a:p>
            <a:endParaRPr/>
          </a:p>
          <a:p>
            <a:r>
              <a:t>On the left panel: the connecting lines trace each map's position within each</a:t>
            </a:r>
          </a:p>
          <a:p>
            <a:r>
              <a:t>validation, not a change in its error. The two axes are different measurements</a:t>
            </a:r>
          </a:p>
          <a:p>
            <a:r>
              <a:t>against different references on different samples — do not read a slope as an</a:t>
            </a:r>
          </a:p>
          <a:p>
            <a:r>
              <a:t>improvement or a degradation.</a:t>
            </a:r>
          </a:p>
          <a:p>
            <a:endParaRPr/>
          </a:p>
          <a:p>
            <a:r>
              <a:t>In Vietnam the spread is wider and its structure different, because the maps</a:t>
            </a:r>
          </a:p>
          <a:p>
            <a:r>
              <a:t>compared differ in kind rather than only in predictor set. In both cities the</a:t>
            </a:r>
          </a:p>
          <a:p>
            <a:r>
              <a:t>two local retrains sit well ahead of both zero-shot maps — 26.502 and 27.282 in</a:t>
            </a:r>
          </a:p>
          <a:p>
            <a:r>
              <a:t>Hanoi against 33.791 and 34.352 — reproducing the transfer conclusion against a</a:t>
            </a:r>
          </a:p>
          <a:p>
            <a:r>
              <a:t>reference the models never saw.</a:t>
            </a:r>
          </a:p>
          <a:p>
            <a:endParaRPr/>
          </a:p>
          <a:p>
            <a:r>
              <a:t>HCMC is the exception, and the mechanism section accounts for it: the S2 median</a:t>
            </a:r>
          </a:p>
          <a:p>
            <a:r>
              <a:t>zero-shot map records the city's best RMSE at 25.950, ahead of both local</a:t>
            </a:r>
          </a:p>
          <a:p>
            <a:r>
              <a:t>retrains. That is about where the city's reference level falls relative to the</a:t>
            </a:r>
          </a:p>
          <a:p>
            <a:r>
              <a:t>transferred map's level, not evidence that transfer succeeded. The embeddings</a:t>
            </a:r>
          </a:p>
          <a:p>
            <a:r>
              <a:t>zero-shot map in the same city is the worst of all fifteen at 38.494.</a:t>
            </a:r>
          </a:p>
          <a:p>
            <a:endParaRPr/>
          </a:p>
          <a:p>
            <a:r>
              <a:t>Do not compare any number here with a same-source number. Different references,</a:t>
            </a:r>
          </a:p>
          <a:p>
            <a:r>
              <a:t>different samples.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tiers: S2 stack with S2 percentile, and emb_RF with S2 median.</a:t>
            </a:r>
          </a:p>
          <a:p>
            <a:r>
              <a:t>Indistinguishable within each tier, separated between them.</a:t>
            </a:r>
          </a:p>
          <a:p>
            <a:endParaRPr/>
          </a:p>
          <a:p>
            <a:r>
              <a:t>Two points need stating explicitly, because the previous slide showed</a:t>
            </a:r>
          </a:p>
          <a:p>
            <a:r>
              <a:t>overlapping confidence intervals for these same maps.</a:t>
            </a:r>
          </a:p>
          <a:p>
            <a:endParaRPr/>
          </a:p>
          <a:p>
            <a:r>
              <a:t>First, the paired test and the confidence intervals measure different quantities</a:t>
            </a:r>
          </a:p>
          <a:p>
            <a:r>
              <a:t>and both are correct. An interval describes the uncertainty of one map's RMSE</a:t>
            </a:r>
          </a:p>
          <a:p>
            <a:r>
              <a:t>taken on its own, across resamples of the plots. The paired test compares two</a:t>
            </a:r>
          </a:p>
          <a:p>
            <a:r>
              <a:t>maps on the same 450 plots, which removes the plot-level variance common to both</a:t>
            </a:r>
          </a:p>
          <a:p>
            <a:r>
              <a:t>and therefore has more power to detect a consistent difference. Overlapping</a:t>
            </a:r>
          </a:p>
          <a:p>
            <a:r>
              <a:t>intervals together with a significant paired difference is the expected</a:t>
            </a:r>
          </a:p>
          <a:p>
            <a:r>
              <a:t>signature of a small but consistent difference, not a contradiction.</a:t>
            </a:r>
          </a:p>
          <a:p>
            <a:endParaRPr/>
          </a:p>
          <a:p>
            <a:r>
              <a:t>Second, the compression and the tier structure are both true. The spread falls</a:t>
            </a:r>
          </a:p>
          <a:p>
            <a:r>
              <a:t>from 4.661 to 1.340, a compression of about 6.4 times — it shrinks sharply, it</a:t>
            </a:r>
          </a:p>
          <a:p>
            <a:r>
              <a:t>does not vanish. What survives is small relative to each map's own error and</a:t>
            </a:r>
          </a:p>
          <a:p>
            <a:r>
              <a:t>still resolvable across 450 paired plots. Neither half of that statement may be</a:t>
            </a:r>
          </a:p>
          <a:p>
            <a:r>
              <a:t>dropped.</a:t>
            </a:r>
          </a:p>
          <a:p>
            <a:endParaRPr/>
          </a:p>
          <a:p>
            <a:r>
              <a:t>This analysis belongs to the independent validation, not to the Milan section:</a:t>
            </a:r>
          </a:p>
          <a:p>
            <a:r>
              <a:t>it runs on per-plot absolute error against photo-interpretation, so placing it</a:t>
            </a:r>
          </a:p>
          <a:p>
            <a:r>
              <a:t>beside the CLMS-scored holdout numbers would merge the two validations.</a:t>
            </a:r>
          </a:p>
          <a:p>
            <a:endParaRPr/>
          </a:p>
          <a:p>
            <a:r>
              <a:t>One non-result worth having ready: the paired test of S2_median_zeroshot against</a:t>
            </a:r>
          </a:p>
          <a:p>
            <a:r>
              <a:t>S2_median_localrf in Hanoi reaches q = 0.063 and does not separate them. That is</a:t>
            </a:r>
          </a:p>
          <a:p>
            <a:r>
              <a:t>not evidence the two are equivalent — absence of a detected difference is not a</a:t>
            </a:r>
          </a:p>
          <a:p>
            <a:r>
              <a:t>demonstration of no difference — and nothing in the transfer argument rests on</a:t>
            </a:r>
          </a:p>
          <a:p>
            <a:r>
              <a:t>that pair.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shape to point at: in the Vietnamese zero-shot panels the mass is held away</a:t>
            </a:r>
          </a:p>
          <a:p>
            <a:r>
              <a:t>from the 1:1 line at low reference values. That is the distributional failure the</a:t>
            </a:r>
          </a:p>
          <a:p>
            <a:r>
              <a:t>next section measures — the lost low tail.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CLMS reaches an RMSE of 26.253 in Milan, worse than all four of the Milan models</a:t>
            </a:r>
          </a:p>
          <a:p>
            <a:r>
              <a:t>it trained, the closest of which is the S2 median at 25.984. GHS-BUILT-S reaches</a:t>
            </a:r>
          </a:p>
          <a:p>
            <a:r>
              <a:t>40.345 in Hanoi — worse than every map of any kind — and 37.355 in HCMC. Its</a:t>
            </a:r>
          </a:p>
          <a:p>
            <a:r>
              <a:t>bias is +19.680 in Hanoi and +19.800 in HCMC, so it under-marks the interpreted</a:t>
            </a:r>
          </a:p>
          <a:p>
            <a:r>
              <a:t>reference by close to 20 percentage points in both cities. That is the road</a:t>
            </a:r>
          </a:p>
          <a:p>
            <a:r>
              <a:t>exclusion from the data section appearing as a number.</a:t>
            </a:r>
          </a:p>
          <a:p>
            <a:endParaRPr/>
          </a:p>
          <a:p>
            <a:r>
              <a:t>Be careful with what this means. It says the products these models were fitted</a:t>
            </a:r>
          </a:p>
          <a:p>
            <a:r>
              <a:t>to disagree with careful photo-interpretation by about as much as the models</a:t>
            </a:r>
          </a:p>
          <a:p>
            <a:r>
              <a:t>themselves do, which bears on where further gains are likely to come from. It</a:t>
            </a:r>
          </a:p>
          <a:p>
            <a:r>
              <a:t>does not measure a ceiling on achievable model performance, and nothing here</a:t>
            </a:r>
          </a:p>
          <a:p>
            <a:r>
              <a:t>should be read as one: a model is not confined to the accuracy of its labels.</a:t>
            </a:r>
          </a:p>
          <a:p>
            <a:r>
              <a:t>The bias-recovery slide gives the mechanism and measures it.</a:t>
            </a:r>
          </a:p>
          <a:p>
            <a:endParaRPr/>
          </a:p>
          <a:p>
            <a:r>
              <a:t>The intervals are 95 % percentile bootstrap over 10 000 resamples of the 450</a:t>
            </a:r>
          </a:p>
          <a:p>
            <a:r>
              <a:t>plots, the plot being the independent unit. The Milan intervals overlap one</a:t>
            </a:r>
          </a:p>
          <a:p>
            <a:r>
              <a:t>another substantially, and the Milan models' intervals overlap CLMS's — which is</a:t>
            </a:r>
          </a:p>
          <a:p>
            <a:r>
              <a:t>why the paired test, not the intervals, carries the tier result.</a:t>
            </a:r>
          </a:p>
          <a:p>
            <a:endParaRPr/>
          </a:p>
          <a:p>
            <a:r>
              <a:t>The tick on each RMSE bar is the noise-corrected RMSE, an upper bound.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CLMS is right far more often than any model, landing within 5 percentage points</a:t>
            </a:r>
          </a:p>
          <a:p>
            <a:r>
              <a:t>of the interpretation on 53.3 % of plots against 34.2 % for the closest model,</a:t>
            </a:r>
          </a:p>
          <a:p>
            <a:r>
              <a:t>and wrong by more when it is wrong, carrying the largest share of gross errors</a:t>
            </a:r>
          </a:p>
          <a:p>
            <a:r>
              <a:t>at 8.7 % of plots above 50 pp.</a:t>
            </a:r>
          </a:p>
          <a:p>
            <a:endParaRPr/>
          </a:p>
          <a:p>
            <a:r>
              <a:t>That is a product resolving each plot decisively where the models fitted to it</a:t>
            </a:r>
          </a:p>
          <a:p>
            <a:r>
              <a:t>hedge. It costs the models where CLMS is nearly exact and saves them where it</a:t>
            </a:r>
          </a:p>
          <a:p>
            <a:r>
              <a:t>fails badly. MAE rewards the first behaviour and RMSE penalises the second.</a:t>
            </a:r>
          </a:p>
          <a:p>
            <a:endParaRPr/>
          </a:p>
          <a:p>
            <a:r>
              <a:t>This is also the concrete case behind the metrics slide's warning that the two</a:t>
            </a:r>
          </a:p>
          <a:p>
            <a:r>
              <a:t>can disagree about which of two maps is better, which is why both are reported</a:t>
            </a:r>
          </a:p>
          <a:p>
            <a:r>
              <a:t>and neither is treated as a summary of the other.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 rule B the ranking is unchanged. B reclassifies 23 cells across 6 plots in</a:t>
            </a:r>
          </a:p>
          <a:p>
            <a:r>
              <a:t>Milan and C reclassifies 112 across 18, so B is much the smaller perturbation.</a:t>
            </a:r>
          </a:p>
          <a:p>
            <a:r>
              <a:t>In Hanoi and HCMC the permeable-pavement code does not occur at all, so B is</a:t>
            </a:r>
          </a:p>
          <a:p>
            <a:r>
              <a:t>identical to strict there by construction and only C differs.</a:t>
            </a:r>
          </a:p>
          <a:p>
            <a:endParaRPr/>
          </a:p>
          <a:p>
            <a:r>
              <a:t>Under rule C the top two maps and CLMS hold their positions, while emb_RF and S2</a:t>
            </a:r>
          </a:p>
          <a:p>
            <a:r>
              <a:t>median exchange third and fourth: 23.03 against 22.98, a difference of 0.05. The</a:t>
            </a:r>
          </a:p>
          <a:p>
            <a:r>
              <a:t>two maps that swap are exactly the pair the paired testing finds statistically</a:t>
            </a:r>
          </a:p>
          <a:p>
            <a:r>
              <a:t>indistinguishable at q = 0.79, so the swap is a reordering within noise and not</a:t>
            </a:r>
          </a:p>
          <a:p>
            <a:r>
              <a:t>a change of result.</a:t>
            </a:r>
          </a:p>
          <a:p>
            <a:endParaRPr/>
          </a:p>
          <a:p>
            <a:r>
              <a:t>All five Milan maps improve under rule C, by between 2.18 and 3.67 RMSE, and</a:t>
            </a:r>
          </a:p>
          <a:p>
            <a:r>
              <a:t>CLMS is among them. Counting compacted dirt roads as impervious moves every map</a:t>
            </a:r>
          </a:p>
          <a:p>
            <a:r>
              <a:t>closer to the reference, including the training target itself, which indicates</a:t>
            </a:r>
          </a:p>
          <a:p>
            <a:r>
              <a:t>the disagreement rule C resolves is in the reference coding rather than in any</a:t>
            </a:r>
          </a:p>
          <a:p>
            <a:r>
              <a:t>particular map.</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zero-shot maps carry Milan's high level: 61.77 and 61.93 in Hanoi against a</a:t>
            </a:r>
          </a:p>
          <a:p>
            <a:r>
              <a:t>reference mean of 46.05, and 70.70 and 57.89 in HCMC against 51.06. Both local</a:t>
            </a:r>
          </a:p>
          <a:p>
            <a:r>
              <a:t>retrains inherit GHS-BUILT-S's low level, predicting between 37.87 and 39.97</a:t>
            </a:r>
          </a:p>
          <a:p>
            <a:r>
              <a:t>across the two cities.</a:t>
            </a:r>
          </a:p>
          <a:p>
            <a:endParaRPr/>
          </a:p>
          <a:p>
            <a:r>
              <a:t>Note on the table: the report gives the four retrain means only as that range,</a:t>
            </a:r>
          </a:p>
          <a:p>
            <a:r>
              <a:t>without assigning either endpoint to a specific city and map, so the rows carry</a:t>
            </a:r>
          </a:p>
          <a:p>
            <a:r>
              <a:t>the range rather than a per-map value. The bias column is the</a:t>
            </a:r>
          </a:p>
          <a:p>
            <a:r>
              <a:t>independent-validation bias.</a:t>
            </a:r>
          </a:p>
          <a:p>
            <a:endParaRPr/>
          </a:p>
          <a:p>
            <a:r>
              <a:t>This is the weaker of the two mechanisms — it is about where a distribution</a:t>
            </a:r>
          </a:p>
          <a:p>
            <a:r>
              <a:t>sits, not what shape it has. The next-but-one slide gives the stronger one.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S2 median zero-shot records the city's best RMSE at 25.950, ahead of both local</a:t>
            </a:r>
          </a:p>
          <a:p>
            <a:r>
              <a:rPr dirty="0"/>
              <a:t>retrains at 27.242 and 29.615. Its level gap is 6.83, the smallest of the four</a:t>
            </a:r>
          </a:p>
          <a:p>
            <a:r>
              <a:rPr dirty="0"/>
              <a:t>HCMC maps, where the local retrains sit 11.09 and 12.23 below the reference.</a:t>
            </a:r>
          </a:p>
          <a:p>
            <a:endParaRPr dirty="0"/>
          </a:p>
          <a:p>
            <a:r>
              <a:rPr dirty="0"/>
              <a:t>The zero-shot map wins there because Milan's level happens to land closer to</a:t>
            </a:r>
          </a:p>
          <a:p>
            <a:r>
              <a:rPr dirty="0"/>
              <a:t>HCMC's reference level than GHSL's does, not because the transfer worked.</a:t>
            </a:r>
          </a:p>
          <a:p>
            <a:endParaRPr dirty="0"/>
          </a:p>
          <a:p>
            <a:r>
              <a:rPr dirty="0"/>
              <a:t>In Hanoi, where the reference mean is lower at 46.05 and the zero-shot maps</a:t>
            </a:r>
          </a:p>
          <a:p>
            <a:r>
              <a:rPr dirty="0"/>
              <a:t>overshoot by close to 16 points, the same two scenarios reverse and the local</a:t>
            </a:r>
          </a:p>
          <a:p>
            <a:r>
              <a:rPr dirty="0"/>
              <a:t>retrains lead by six to eight RMSE.</a:t>
            </a:r>
          </a:p>
          <a:p>
            <a:endParaRPr dirty="0"/>
          </a:p>
          <a:p>
            <a:r>
              <a:rPr dirty="0"/>
              <a:t>That reversal between the two cities is the argument. If a ranking flips with</a:t>
            </a:r>
          </a:p>
          <a:p>
            <a:r>
              <a:rPr dirty="0"/>
              <a:t>the target city's level, the ranking is set by level matching rather than by map</a:t>
            </a:r>
          </a:p>
          <a:p>
            <a:r>
              <a:rPr dirty="0"/>
              <a:t>quality.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stronger evidence, because it does not depend on level at all.</a:t>
            </a:r>
          </a:p>
          <a:p>
            <a:endParaRPr/>
          </a:p>
          <a:p>
            <a:r>
              <a:t>HCMC is the severe case and is shown here for that reason. The next slide shows</a:t>
            </a:r>
          </a:p>
          <a:p>
            <a:r>
              <a:t>the same quantities for all eight maps across both cities, which is where the</a:t>
            </a:r>
          </a:p>
          <a:p>
            <a:r>
              <a:t>mechanism is shown to generalise to Hanoi — do not let this slide stand alone as</a:t>
            </a:r>
          </a:p>
          <a:p>
            <a:r>
              <a:t>if it were a one-city result.</a:t>
            </a:r>
          </a:p>
          <a:p>
            <a:endParaRPr/>
          </a:p>
          <a:p>
            <a:r>
              <a:t>Why no level correction could repair it: both references are strongly bimodal —</a:t>
            </a:r>
          </a:p>
          <a:p>
            <a:r>
              <a:t>41.6 % of Hanoi plots below 10 % and 31.8 % above 90 %, 37.3 % and 35.8 % in</a:t>
            </a:r>
          </a:p>
          <a:p>
            <a:r>
              <a:t>HCMC — and a map with no low tail cannot represent the lower mode wherever its</a:t>
            </a:r>
          </a:p>
          <a:p>
            <a:r>
              <a:t>centre is placed. Shifting such a map downward would move its mass off the upper</a:t>
            </a:r>
          </a:p>
          <a:p>
            <a:r>
              <a:t>mode without populating the lower one.</a:t>
            </a:r>
          </a:p>
          <a:p>
            <a:endParaRPr/>
          </a:p>
          <a:p>
            <a:r>
              <a:t>This is not a displaced distribution: a shifted map would keep its spread and</a:t>
            </a:r>
          </a:p>
          <a:p>
            <a:r>
              <a:t>move only its centre.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where the mechanism generalises. The histogram was HCMC only; this</a:t>
            </a:r>
          </a:p>
          <a:p>
            <a:r>
              <a:t>covers both cities and both predictor sets, and the pattern holds across all</a:t>
            </a:r>
          </a:p>
          <a:p>
            <a:r>
              <a:t>eight maps.</a:t>
            </a:r>
          </a:p>
          <a:p>
            <a:endParaRPr/>
          </a:p>
          <a:p>
            <a:r>
              <a:t>Both embeddings zero-shot maps have lost the low tail. Below 10 % both rasters</a:t>
            </a:r>
          </a:p>
          <a:p>
            <a:r>
              <a:t>are empty to four decimal places. The loss is a property of the transferred</a:t>
            </a:r>
          </a:p>
          <a:p>
            <a:r>
              <a:t>embedding map rather than of one city, which is what makes it a mechanism rather</a:t>
            </a:r>
          </a:p>
          <a:p>
            <a:r>
              <a:t>than an anecdote.</a:t>
            </a:r>
          </a:p>
          <a:p>
            <a:endParaRPr/>
          </a:p>
          <a:p>
            <a:r>
              <a:t>The two cities differ in how far the spread collapses alongside the tail. HCMC</a:t>
            </a:r>
          </a:p>
          <a:p>
            <a:r>
              <a:t>holds 26 % of the reference interquartile range against Hanoi's 37 %, on IQRs of</a:t>
            </a:r>
          </a:p>
          <a:p>
            <a:r>
              <a:t>26.0 and 37.4 against a reference IQR of 100.0, and its standard deviation is</a:t>
            </a:r>
          </a:p>
          <a:p>
            <a:r>
              <a:t>15.95 against the reference's 44.81. HCMC is the severe case: the range has</a:t>
            </a:r>
          </a:p>
          <a:p>
            <a:r>
              <a:t>narrowed around the missing tail as well as losing it. That severity shows in</a:t>
            </a:r>
          </a:p>
          <a:p>
            <a:r>
              <a:t>the scores, where the HCMC embeddings zero-shot map is the worst of all fifteen</a:t>
            </a:r>
          </a:p>
          <a:p>
            <a:r>
              <a:t>at 38.494 despite a mean of 70.70 that is not absurd for the city.</a:t>
            </a:r>
          </a:p>
          <a:p>
            <a:endParaRPr/>
          </a:p>
          <a:p>
            <a:r>
              <a:t>The complement: all four local retrains reach a raster floor of 0.00 and retain</a:t>
            </a:r>
          </a:p>
          <a:p>
            <a:r>
              <a:t>between 104.0 % and 136.0 % of the sub-20 % mass — full recovery within the</a:t>
            </a:r>
          </a:p>
          <a:p>
            <a:r>
              <a:t>precision this comparison supports. So: zero-shot transfer destroys the low end</a:t>
            </a:r>
          </a:p>
          <a:p>
            <a:r>
              <a:t>of the distribution and local retraining restores it, in both cities and for</a:t>
            </a:r>
          </a:p>
          <a:p>
            <a:r>
              <a:t>both predictor sets. That is the distributional counterpart of the R-squared</a:t>
            </a:r>
          </a:p>
          <a:p>
            <a:r>
              <a:t>recovery.</a:t>
            </a:r>
          </a:p>
          <a:p>
            <a:endParaRPr/>
          </a:p>
          <a:p>
            <a:r>
              <a:t>The S2 median zero-shot maps sit between the two at 30.6 % and 68.7 %: degraded</a:t>
            </a:r>
          </a:p>
          <a:p>
            <a:r>
              <a:t>rather than emptied. Consistent with both predictor sets failing while the</a:t>
            </a:r>
          </a:p>
          <a:p>
            <a:r>
              <a:t>embeddings fail harder — but the composite-depth confound applies to that</a:t>
            </a:r>
          </a:p>
          <a:p>
            <a:r>
              <a:t>contrast, so it is not a controlled comparison.</a:t>
            </a:r>
          </a:p>
          <a:p>
            <a:endParaRPr/>
          </a:p>
          <a:p>
            <a:r>
              <a:t>On reading the numbers: the tail figure compares a raster-wide share against a</a:t>
            </a:r>
          </a:p>
          <a:p>
            <a:r>
              <a:t>450-plot share, so read it as an order of magnitude rather than to the</a:t>
            </a:r>
          </a:p>
          <a:p>
            <a:r>
              <a:t>percentage point. A value at or above 100 % means the tail is fully present</a:t>
            </a:r>
          </a:p>
          <a:p>
            <a:r>
              <a:t>rather than oversized.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mechanism behind the training-product result, and it is what keeps</a:t>
            </a:r>
          </a:p>
          <a:p>
            <a:r>
              <a:t>that result from meaning something it does not. The earlier slide showed the</a:t>
            </a:r>
          </a:p>
          <a:p>
            <a:r>
              <a:t>training products score no better than the models fitted to them, and said that</a:t>
            </a:r>
          </a:p>
          <a:p>
            <a:r>
              <a:t>measures label quality rather than a ceiling. This is why the two statements are</a:t>
            </a:r>
          </a:p>
          <a:p>
            <a:r>
              <a:t>consistent.</a:t>
            </a:r>
          </a:p>
          <a:p>
            <a:endParaRPr/>
          </a:p>
          <a:p>
            <a:r>
              <a:t>Two mechanisms. Label error that is random from pixel to pixel cannot be fitted</a:t>
            </a:r>
          </a:p>
          <a:p>
            <a:r>
              <a:t>by a model with limited capacity, so it is smoothed away rather than learned, and</a:t>
            </a:r>
          </a:p>
          <a:p>
            <a:r>
              <a:t>the fitted surface lands closer to the truth than the individual labels do.</a:t>
            </a:r>
          </a:p>
          <a:p>
            <a:r>
              <a:t>Systematic label error is different: GHS-BUILT-S's deficit is systematic,</a:t>
            </a:r>
          </a:p>
          <a:p>
            <a:r>
              <a:t>arising from its exclusion of roads by design, yet the predictors still respond</a:t>
            </a:r>
          </a:p>
          <a:p>
            <a:r>
              <a:t>to the sealed surfaces the target omits. A road GHS-BUILT-S does not mark is</a:t>
            </a:r>
          </a:p>
          <a:p>
            <a:r>
              <a:t>still visible to the embeddings and to the Sentinel-2 reflectance percentiles,</a:t>
            </a:r>
          </a:p>
          <a:p>
            <a:r>
              <a:t>and a model trained on plots where roads co-occur with marked built-up area</a:t>
            </a:r>
          </a:p>
          <a:p>
            <a:r>
              <a:t>learns a response that partly recovers them.</a:t>
            </a:r>
          </a:p>
          <a:p>
            <a:endParaRPr/>
          </a:p>
          <a:p>
            <a:r>
              <a:t>Neither mechanism recovers the deficit fully, and the numbers say so: 38 % to</a:t>
            </a:r>
          </a:p>
          <a:p>
            <a:r>
              <a:t>67 %, not 100 %. The residual bias of +6.59 to +12.23 is the part of the</a:t>
            </a:r>
          </a:p>
          <a:p>
            <a:r>
              <a:t>target's systematic error the models do inherit.</a:t>
            </a:r>
          </a:p>
          <a:p>
            <a:endParaRPr/>
          </a:p>
          <a:p>
            <a:r>
              <a:t>Attribution: Žgela reports this effect qualitatively, observing that roads and</a:t>
            </a:r>
          </a:p>
          <a:p>
            <a:r>
              <a:t>unroofed impervious surfaces are visibly better represented in the predicted</a:t>
            </a:r>
          </a:p>
          <a:p>
            <a:r>
              <a:t>maps although still imperfectly, and that this highlights the model's ability to</a:t>
            </a:r>
          </a:p>
          <a:p>
            <a:r>
              <a:t>recover information beyond what was explicitly provided during training. He</a:t>
            </a:r>
          </a:p>
          <a:p>
            <a:r>
              <a:t>established it by visual inspection. Measuring it against an independent</a:t>
            </a:r>
          </a:p>
          <a:p>
            <a:r>
              <a:t>reference is this project's contribution — his study had no means to do it.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 that qualify each other are 1 and 2. A reader who takes the first</a:t>
            </a:r>
          </a:p>
          <a:p>
            <a:r>
              <a:t>without the second will overstate what the study shows — that is exactly the</a:t>
            </a:r>
          </a:p>
          <a:p>
            <a:r>
              <a:t>failure this deck is built to prevent.</a:t>
            </a:r>
          </a:p>
          <a:p>
            <a:endParaRPr/>
          </a:p>
          <a:p>
            <a:r>
              <a:t>The reshuffle belongs with conclusion 2: the S2 median is last on the</a:t>
            </a:r>
          </a:p>
          <a:p>
            <a:r>
              <a:t>independent validation at 25.984 where the embeddings were last on the</a:t>
            </a:r>
          </a:p>
          <a:p>
            <a:r>
              <a:t>same-source one at 14.123. The ordering is partly reshuffled, not merely</a:t>
            </a:r>
          </a:p>
          <a:p>
            <a:r>
              <a:t>compressed.</a:t>
            </a:r>
          </a:p>
          <a:p>
            <a:endParaRPr/>
          </a:p>
          <a:p>
            <a:r>
              <a:t>Conclusion 3's mechanisms: level inheritance, and the lost low tail — 3.1 % of</a:t>
            </a:r>
          </a:p>
          <a:p>
            <a:r>
              <a:t>the sub-20 % mass retained in Hanoi and 0.0 % in HCMC, restored to 104–136 % by</a:t>
            </a:r>
          </a:p>
          <a:p>
            <a:r>
              <a:t>every local retrain. And the honest caveat that retraining costs accuracy above</a:t>
            </a:r>
          </a:p>
          <a:p>
            <a:r>
              <a:t>80 %: C6 MAE rises from 17.25 to 30.95 in Hanoi and 12.93 to 25.20 in HCMC.</a:t>
            </a:r>
          </a:p>
          <a:p>
            <a:endParaRPr/>
          </a:p>
          <a:p>
            <a:r>
              <a:t>Conclusion 4 bounded: retraining on a product that under-marks by roughly 20</a:t>
            </a:r>
          </a:p>
          <a:p>
            <a:r>
              <a:t>points still yields maps that under-mark by 7 to 12.</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is stated with the conclusion it forbids, because a limitation that does</a:t>
            </a:r>
          </a:p>
          <a:p>
            <a:r>
              <a:t>not change a reading of the results is not worth recording.</a:t>
            </a:r>
          </a:p>
          <a:p>
            <a:endParaRPr/>
          </a:p>
          <a:p>
            <a:r>
              <a:t>On the interpreter caveat, the scope is narrow and should not be widened.</a:t>
            </a:r>
          </a:p>
          <a:p>
            <a:r>
              <a:t>Because the paired tests difference two maps plot by plot against the same</a:t>
            </a:r>
          </a:p>
          <a:p>
            <a:r>
              <a:t>interpreted value, an interpretation tendency that displaces a plot's reference</a:t>
            </a:r>
          </a:p>
          <a:p>
            <a:r>
              <a:t>value affects both maps in the pair and drops out of that difference. No such</a:t>
            </a:r>
          </a:p>
          <a:p>
            <a:r>
              <a:t>cancellation applies anywhere else: the absolute RMSE and MAE levels, the</a:t>
            </a:r>
          </a:p>
          <a:p>
            <a:r>
              <a:t>bootstrap intervals and the bias measurements each score a map against the</a:t>
            </a:r>
          </a:p>
          <a:p>
            <a:r>
              <a:t>reference rather than against another map. Nor does the shared reference protect</a:t>
            </a:r>
          </a:p>
          <a:p>
            <a:r>
              <a:t>the rankings — a tendency that displaces the reference by different amounts in</a:t>
            </a:r>
          </a:p>
          <a:p>
            <a:r>
              <a:t>different kinds of plot penalises maps unequally. The single claim it supports is</a:t>
            </a:r>
          </a:p>
          <a:p>
            <a:r>
              <a:t>that paired within-city differences are less exposed than the error levels are.</a:t>
            </a:r>
          </a:p>
          <a:p>
            <a:endParaRPr/>
          </a:p>
          <a:p>
            <a:r>
              <a:t>On the stratification: strata occupying a small share of the urban area are</a:t>
            </a:r>
          </a:p>
          <a:p>
            <a:r>
              <a:t>represented as heavily as strata occupying a large one, and the bimodality of</a:t>
            </a:r>
          </a:p>
          <a:p>
            <a:r>
              <a:t>the Vietnamese references is a property of the plot sample, not necessarily of</a:t>
            </a:r>
          </a:p>
          <a:p>
            <a:r>
              <a:t>the cities.</a:t>
            </a:r>
          </a:p>
          <a:p>
            <a:endParaRPr/>
          </a:p>
          <a:p>
            <a:r>
              <a:t>The two worth flagging in advance if the discussion runs long are composite</a:t>
            </a:r>
          </a:p>
          <a:p>
            <a:r>
              <a:t>depth and stratification, because they limit comparisons someone might otherwise</a:t>
            </a:r>
          </a:p>
          <a:p>
            <a:r>
              <a:t>expect this work to make.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1965960"/>
            <a:ext cx="10515600" cy="320040"/>
          </a:xfrm>
          <a:prstGeom prst="rect">
            <a:avLst/>
          </a:prstGeom>
          <a:noFill/>
        </p:spPr>
        <p:txBody>
          <a:bodyPr wrap="square">
            <a:spAutoFit/>
          </a:bodyPr>
          <a:lstStyle/>
          <a:p>
            <a:pPr algn="l">
              <a:lnSpc>
                <a:spcPct val="125000"/>
              </a:lnSpc>
            </a:pPr>
            <a:r>
              <a:rPr sz="1200" b="1" i="0">
                <a:solidFill>
                  <a:srgbClr val="0B6E4F"/>
                </a:solidFill>
                <a:latin typeface="Calibri"/>
              </a:rPr>
              <a:t>INTERNAL REVIEW  ·  IMD MAPPING</a:t>
            </a:r>
          </a:p>
        </p:txBody>
      </p:sp>
      <p:sp>
        <p:nvSpPr>
          <p:cNvPr id="3" name="TextBox 2"/>
          <p:cNvSpPr txBox="1"/>
          <p:nvPr/>
        </p:nvSpPr>
        <p:spPr>
          <a:xfrm>
            <a:off x="822960" y="2331720"/>
            <a:ext cx="10515600" cy="1463040"/>
          </a:xfrm>
          <a:prstGeom prst="rect">
            <a:avLst/>
          </a:prstGeom>
          <a:noFill/>
        </p:spPr>
        <p:txBody>
          <a:bodyPr wrap="square">
            <a:spAutoFit/>
          </a:bodyPr>
          <a:lstStyle/>
          <a:p>
            <a:pPr algn="l">
              <a:lnSpc>
                <a:spcPct val="115000"/>
              </a:lnSpc>
            </a:pPr>
            <a:r>
              <a:rPr sz="3200" b="1" i="0">
                <a:solidFill>
                  <a:srgbClr val="1A1A1A"/>
                </a:solidFill>
                <a:latin typeface="Calibri"/>
              </a:rPr>
              <a:t>Impervious surface density from Sentinel-2</a:t>
            </a:r>
          </a:p>
          <a:p>
            <a:pPr algn="l">
              <a:lnSpc>
                <a:spcPct val="115000"/>
              </a:lnSpc>
            </a:pPr>
            <a:r>
              <a:rPr sz="3200" b="1" i="0">
                <a:solidFill>
                  <a:srgbClr val="1A1A1A"/>
                </a:solidFill>
                <a:latin typeface="Calibri"/>
              </a:rPr>
              <a:t>composites and AlphaEarth embeddings</a:t>
            </a:r>
          </a:p>
        </p:txBody>
      </p:sp>
      <p:sp>
        <p:nvSpPr>
          <p:cNvPr id="4" name="Rectangle 3"/>
          <p:cNvSpPr/>
          <p:nvPr/>
        </p:nvSpPr>
        <p:spPr>
          <a:xfrm>
            <a:off x="822960" y="3977639"/>
            <a:ext cx="3657600" cy="32004"/>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206240"/>
            <a:ext cx="10515600" cy="914400"/>
          </a:xfrm>
          <a:prstGeom prst="rect">
            <a:avLst/>
          </a:prstGeom>
          <a:noFill/>
        </p:spPr>
        <p:txBody>
          <a:bodyPr wrap="square">
            <a:spAutoFit/>
          </a:bodyPr>
          <a:lstStyle/>
          <a:p>
            <a:pPr algn="l">
              <a:lnSpc>
                <a:spcPct val="140000"/>
              </a:lnSpc>
            </a:pPr>
            <a:r>
              <a:rPr sz="1450" b="0" i="0">
                <a:solidFill>
                  <a:srgbClr val="6B6B6B"/>
                </a:solidFill>
                <a:latin typeface="Calibri"/>
              </a:rPr>
              <a:t>Milan · Hanoi · Ho Chi Minh City · 2018 · 10 m</a:t>
            </a:r>
          </a:p>
          <a:p>
            <a:pPr algn="l">
              <a:lnSpc>
                <a:spcPct val="140000"/>
              </a:lnSpc>
            </a:pPr>
            <a:r>
              <a:rPr sz="1450" b="0" i="0">
                <a:solidFill>
                  <a:srgbClr val="6B6B6B"/>
                </a:solidFill>
                <a:latin typeface="Calibri"/>
              </a:rPr>
              <a:t>Companion to the AlphaEarth study by Matej Žgela</a:t>
            </a:r>
          </a:p>
        </p:txBody>
      </p:sp>
      <p:sp>
        <p:nvSpPr>
          <p:cNvPr id="6" name="TextBox 5"/>
          <p:cNvSpPr txBox="1"/>
          <p:nvPr/>
        </p:nvSpPr>
        <p:spPr>
          <a:xfrm>
            <a:off x="822960" y="5715000"/>
            <a:ext cx="10515600" cy="305212"/>
          </a:xfrm>
          <a:prstGeom prst="rect">
            <a:avLst/>
          </a:prstGeom>
          <a:noFill/>
        </p:spPr>
        <p:txBody>
          <a:bodyPr wrap="square">
            <a:spAutoFit/>
          </a:bodyPr>
          <a:lstStyle/>
          <a:p>
            <a:pPr algn="l">
              <a:lnSpc>
                <a:spcPct val="125000"/>
              </a:lnSpc>
            </a:pPr>
            <a:r>
              <a:rPr sz="1200" b="0" i="0" dirty="0">
                <a:solidFill>
                  <a:srgbClr val="6B6B6B"/>
                </a:solidFill>
                <a:latin typeface="Calibri"/>
              </a:rPr>
              <a:t>Xiao Tan </a:t>
            </a:r>
            <a:r>
              <a:rPr lang="en-US" sz="1200" b="0" i="0" dirty="0">
                <a:solidFill>
                  <a:srgbClr val="6B6B6B"/>
                </a:solidFill>
                <a:latin typeface="Calibri"/>
              </a:rPr>
              <a:t>,</a:t>
            </a:r>
            <a:r>
              <a:rPr lang="en-US" sz="1200" dirty="0">
                <a:solidFill>
                  <a:srgbClr val="6B6B6B"/>
                </a:solidFill>
                <a:latin typeface="Calibri"/>
              </a:rPr>
              <a:t> Keerthana Kirubakaran </a:t>
            </a:r>
            <a:r>
              <a:rPr sz="1200" b="0" i="0" dirty="0">
                <a:solidFill>
                  <a:srgbClr val="6B6B6B"/>
                </a:solidFill>
                <a:latin typeface="Calibri"/>
              </a:rPr>
              <a:t>·  </a:t>
            </a:r>
            <a:r>
              <a:rPr sz="1200" b="0" i="0" dirty="0" err="1">
                <a:solidFill>
                  <a:srgbClr val="6B6B6B"/>
                </a:solidFill>
                <a:latin typeface="Calibri"/>
              </a:rPr>
              <a:t>Politecnico</a:t>
            </a:r>
            <a:r>
              <a:rPr sz="1200" b="0" i="0" dirty="0">
                <a:solidFill>
                  <a:srgbClr val="6B6B6B"/>
                </a:solidFill>
                <a:latin typeface="Calibri"/>
              </a:rPr>
              <a:t> di Milano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OUTLINE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Where this goes</a:t>
            </a:r>
          </a:p>
        </p:txBody>
      </p:sp>
      <p:sp>
        <p:nvSpPr>
          <p:cNvPr id="4" name="Rectangle 3"/>
          <p:cNvSpPr/>
          <p:nvPr/>
        </p:nvSpPr>
        <p:spPr>
          <a:xfrm>
            <a:off x="658368" y="129844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572768"/>
            <a:ext cx="548640" cy="365760"/>
          </a:xfrm>
          <a:prstGeom prst="rect">
            <a:avLst/>
          </a:prstGeom>
          <a:noFill/>
        </p:spPr>
        <p:txBody>
          <a:bodyPr wrap="square">
            <a:spAutoFit/>
          </a:bodyPr>
          <a:lstStyle/>
          <a:p>
            <a:pPr algn="l">
              <a:lnSpc>
                <a:spcPct val="125000"/>
              </a:lnSpc>
            </a:pPr>
            <a:r>
              <a:rPr sz="1500" b="1" i="0">
                <a:solidFill>
                  <a:srgbClr val="0B6E4F"/>
                </a:solidFill>
                <a:latin typeface="Calibri"/>
              </a:rPr>
              <a:t>1</a:t>
            </a:r>
          </a:p>
        </p:txBody>
      </p:sp>
      <p:sp>
        <p:nvSpPr>
          <p:cNvPr id="6" name="TextBox 5"/>
          <p:cNvSpPr txBox="1"/>
          <p:nvPr/>
        </p:nvSpPr>
        <p:spPr>
          <a:xfrm>
            <a:off x="1225296" y="1572768"/>
            <a:ext cx="3931920" cy="365760"/>
          </a:xfrm>
          <a:prstGeom prst="rect">
            <a:avLst/>
          </a:prstGeom>
          <a:noFill/>
        </p:spPr>
        <p:txBody>
          <a:bodyPr wrap="square">
            <a:spAutoFit/>
          </a:bodyPr>
          <a:lstStyle/>
          <a:p>
            <a:pPr algn="l">
              <a:lnSpc>
                <a:spcPct val="125000"/>
              </a:lnSpc>
            </a:pPr>
            <a:r>
              <a:rPr sz="1500" b="1" i="0">
                <a:solidFill>
                  <a:srgbClr val="1A1A1A"/>
                </a:solidFill>
                <a:latin typeface="Calibri"/>
              </a:rPr>
              <a:t>Design and data</a:t>
            </a:r>
          </a:p>
        </p:txBody>
      </p:sp>
      <p:sp>
        <p:nvSpPr>
          <p:cNvPr id="7" name="TextBox 6"/>
          <p:cNvSpPr txBox="1"/>
          <p:nvPr/>
        </p:nvSpPr>
        <p:spPr>
          <a:xfrm>
            <a:off x="5276088" y="1600200"/>
            <a:ext cx="6217920" cy="457200"/>
          </a:xfrm>
          <a:prstGeom prst="rect">
            <a:avLst/>
          </a:prstGeom>
          <a:noFill/>
        </p:spPr>
        <p:txBody>
          <a:bodyPr wrap="square">
            <a:spAutoFit/>
          </a:bodyPr>
          <a:lstStyle/>
          <a:p>
            <a:pPr algn="l">
              <a:lnSpc>
                <a:spcPct val="120000"/>
              </a:lnSpc>
            </a:pPr>
            <a:r>
              <a:rPr sz="1200" b="0" i="0">
                <a:solidFill>
                  <a:srgbClr val="6B6B6B"/>
                </a:solidFill>
                <a:latin typeface="Calibri"/>
              </a:rPr>
              <a:t>What the study adds, what it borrows, and the two constraints that shape every result after</a:t>
            </a:r>
          </a:p>
        </p:txBody>
      </p:sp>
      <p:sp>
        <p:nvSpPr>
          <p:cNvPr id="8" name="TextBox 7"/>
          <p:cNvSpPr txBox="1"/>
          <p:nvPr/>
        </p:nvSpPr>
        <p:spPr>
          <a:xfrm>
            <a:off x="658368" y="2176272"/>
            <a:ext cx="548640" cy="365760"/>
          </a:xfrm>
          <a:prstGeom prst="rect">
            <a:avLst/>
          </a:prstGeom>
          <a:noFill/>
        </p:spPr>
        <p:txBody>
          <a:bodyPr wrap="square">
            <a:spAutoFit/>
          </a:bodyPr>
          <a:lstStyle/>
          <a:p>
            <a:pPr algn="l">
              <a:lnSpc>
                <a:spcPct val="125000"/>
              </a:lnSpc>
            </a:pPr>
            <a:r>
              <a:rPr sz="1500" b="1" i="0">
                <a:solidFill>
                  <a:srgbClr val="0B6E4F"/>
                </a:solidFill>
                <a:latin typeface="Calibri"/>
              </a:rPr>
              <a:t>2</a:t>
            </a:r>
          </a:p>
        </p:txBody>
      </p:sp>
      <p:sp>
        <p:nvSpPr>
          <p:cNvPr id="9" name="TextBox 8"/>
          <p:cNvSpPr txBox="1"/>
          <p:nvPr/>
        </p:nvSpPr>
        <p:spPr>
          <a:xfrm>
            <a:off x="1225296" y="2176272"/>
            <a:ext cx="3931920" cy="365760"/>
          </a:xfrm>
          <a:prstGeom prst="rect">
            <a:avLst/>
          </a:prstGeom>
          <a:noFill/>
        </p:spPr>
        <p:txBody>
          <a:bodyPr wrap="square">
            <a:spAutoFit/>
          </a:bodyPr>
          <a:lstStyle/>
          <a:p>
            <a:pPr algn="l">
              <a:lnSpc>
                <a:spcPct val="125000"/>
              </a:lnSpc>
            </a:pPr>
            <a:r>
              <a:rPr sz="1500" b="1" i="0">
                <a:solidFill>
                  <a:srgbClr val="1A1A1A"/>
                </a:solidFill>
                <a:latin typeface="Calibri"/>
              </a:rPr>
              <a:t>Method</a:t>
            </a:r>
          </a:p>
        </p:txBody>
      </p:sp>
      <p:sp>
        <p:nvSpPr>
          <p:cNvPr id="10" name="TextBox 9"/>
          <p:cNvSpPr txBox="1"/>
          <p:nvPr/>
        </p:nvSpPr>
        <p:spPr>
          <a:xfrm>
            <a:off x="5276088" y="2203704"/>
            <a:ext cx="6217920" cy="457200"/>
          </a:xfrm>
          <a:prstGeom prst="rect">
            <a:avLst/>
          </a:prstGeom>
          <a:noFill/>
        </p:spPr>
        <p:txBody>
          <a:bodyPr wrap="square">
            <a:spAutoFit/>
          </a:bodyPr>
          <a:lstStyle/>
          <a:p>
            <a:pPr algn="l">
              <a:lnSpc>
                <a:spcPct val="120000"/>
              </a:lnSpc>
            </a:pPr>
            <a:r>
              <a:rPr sz="1200" b="0" i="0">
                <a:solidFill>
                  <a:srgbClr val="6B6B6B"/>
                </a:solidFill>
                <a:latin typeface="Calibri"/>
              </a:rPr>
              <a:t>The split, the cross-validation and the metrics the results lean on</a:t>
            </a:r>
          </a:p>
        </p:txBody>
      </p:sp>
      <p:sp>
        <p:nvSpPr>
          <p:cNvPr id="11" name="TextBox 10"/>
          <p:cNvSpPr txBox="1"/>
          <p:nvPr/>
        </p:nvSpPr>
        <p:spPr>
          <a:xfrm>
            <a:off x="658368" y="2779776"/>
            <a:ext cx="548640" cy="365760"/>
          </a:xfrm>
          <a:prstGeom prst="rect">
            <a:avLst/>
          </a:prstGeom>
          <a:noFill/>
        </p:spPr>
        <p:txBody>
          <a:bodyPr wrap="square">
            <a:spAutoFit/>
          </a:bodyPr>
          <a:lstStyle/>
          <a:p>
            <a:pPr algn="l">
              <a:lnSpc>
                <a:spcPct val="125000"/>
              </a:lnSpc>
            </a:pPr>
            <a:r>
              <a:rPr sz="1500" b="1" i="0">
                <a:solidFill>
                  <a:srgbClr val="0B6E4F"/>
                </a:solidFill>
                <a:latin typeface="Calibri"/>
              </a:rPr>
              <a:t>3</a:t>
            </a:r>
          </a:p>
        </p:txBody>
      </p:sp>
      <p:sp>
        <p:nvSpPr>
          <p:cNvPr id="12" name="TextBox 11"/>
          <p:cNvSpPr txBox="1"/>
          <p:nvPr/>
        </p:nvSpPr>
        <p:spPr>
          <a:xfrm>
            <a:off x="1225296" y="2779776"/>
            <a:ext cx="3931920" cy="365760"/>
          </a:xfrm>
          <a:prstGeom prst="rect">
            <a:avLst/>
          </a:prstGeom>
          <a:noFill/>
        </p:spPr>
        <p:txBody>
          <a:bodyPr wrap="square">
            <a:spAutoFit/>
          </a:bodyPr>
          <a:lstStyle/>
          <a:p>
            <a:pPr algn="l">
              <a:lnSpc>
                <a:spcPct val="125000"/>
              </a:lnSpc>
            </a:pPr>
            <a:r>
              <a:rPr sz="1500" b="1" i="0">
                <a:solidFill>
                  <a:srgbClr val="1A1A1A"/>
                </a:solidFill>
                <a:latin typeface="Calibri"/>
              </a:rPr>
              <a:t>Milan · same-source validation</a:t>
            </a:r>
          </a:p>
        </p:txBody>
      </p:sp>
      <p:sp>
        <p:nvSpPr>
          <p:cNvPr id="13" name="TextBox 12"/>
          <p:cNvSpPr txBox="1"/>
          <p:nvPr/>
        </p:nvSpPr>
        <p:spPr>
          <a:xfrm>
            <a:off x="5276088" y="2807208"/>
            <a:ext cx="6217920" cy="457200"/>
          </a:xfrm>
          <a:prstGeom prst="rect">
            <a:avLst/>
          </a:prstGeom>
          <a:noFill/>
        </p:spPr>
        <p:txBody>
          <a:bodyPr wrap="square">
            <a:spAutoFit/>
          </a:bodyPr>
          <a:lstStyle/>
          <a:p>
            <a:pPr algn="l">
              <a:lnSpc>
                <a:spcPct val="120000"/>
              </a:lnSpc>
            </a:pPr>
            <a:r>
              <a:rPr sz="1200" b="0" i="0">
                <a:solidFill>
                  <a:srgbClr val="6B6B6B"/>
                </a:solidFill>
                <a:latin typeface="Calibri"/>
              </a:rPr>
              <a:t>The wide margin against CLMS, and the mechanism behind it</a:t>
            </a:r>
          </a:p>
        </p:txBody>
      </p:sp>
      <p:sp>
        <p:nvSpPr>
          <p:cNvPr id="14" name="TextBox 13"/>
          <p:cNvSpPr txBox="1"/>
          <p:nvPr/>
        </p:nvSpPr>
        <p:spPr>
          <a:xfrm>
            <a:off x="658368" y="3383280"/>
            <a:ext cx="548640" cy="365760"/>
          </a:xfrm>
          <a:prstGeom prst="rect">
            <a:avLst/>
          </a:prstGeom>
          <a:noFill/>
        </p:spPr>
        <p:txBody>
          <a:bodyPr wrap="square">
            <a:spAutoFit/>
          </a:bodyPr>
          <a:lstStyle/>
          <a:p>
            <a:pPr algn="l">
              <a:lnSpc>
                <a:spcPct val="125000"/>
              </a:lnSpc>
            </a:pPr>
            <a:r>
              <a:rPr sz="1500" b="1" i="0">
                <a:solidFill>
                  <a:srgbClr val="0B6E4F"/>
                </a:solidFill>
                <a:latin typeface="Calibri"/>
              </a:rPr>
              <a:t>4</a:t>
            </a:r>
          </a:p>
        </p:txBody>
      </p:sp>
      <p:sp>
        <p:nvSpPr>
          <p:cNvPr id="15" name="TextBox 14"/>
          <p:cNvSpPr txBox="1"/>
          <p:nvPr/>
        </p:nvSpPr>
        <p:spPr>
          <a:xfrm>
            <a:off x="1225296" y="3383280"/>
            <a:ext cx="3931920" cy="365760"/>
          </a:xfrm>
          <a:prstGeom prst="rect">
            <a:avLst/>
          </a:prstGeom>
          <a:noFill/>
        </p:spPr>
        <p:txBody>
          <a:bodyPr wrap="square">
            <a:spAutoFit/>
          </a:bodyPr>
          <a:lstStyle/>
          <a:p>
            <a:pPr algn="l">
              <a:lnSpc>
                <a:spcPct val="125000"/>
              </a:lnSpc>
            </a:pPr>
            <a:r>
              <a:rPr sz="1500" b="1" i="0">
                <a:solidFill>
                  <a:srgbClr val="1A1A1A"/>
                </a:solidFill>
                <a:latin typeface="Calibri"/>
              </a:rPr>
              <a:t>Vietnam · transfer</a:t>
            </a:r>
          </a:p>
        </p:txBody>
      </p:sp>
      <p:sp>
        <p:nvSpPr>
          <p:cNvPr id="16" name="TextBox 15"/>
          <p:cNvSpPr txBox="1"/>
          <p:nvPr/>
        </p:nvSpPr>
        <p:spPr>
          <a:xfrm>
            <a:off x="5276088" y="3410712"/>
            <a:ext cx="6217920" cy="457200"/>
          </a:xfrm>
          <a:prstGeom prst="rect">
            <a:avLst/>
          </a:prstGeom>
          <a:noFill/>
        </p:spPr>
        <p:txBody>
          <a:bodyPr wrap="square">
            <a:spAutoFit/>
          </a:bodyPr>
          <a:lstStyle/>
          <a:p>
            <a:pPr algn="l">
              <a:lnSpc>
                <a:spcPct val="120000"/>
              </a:lnSpc>
            </a:pPr>
            <a:r>
              <a:rPr sz="1200" b="0" i="0">
                <a:solidFill>
                  <a:srgbClr val="6B6B6B"/>
                </a:solidFill>
                <a:latin typeface="Calibri"/>
              </a:rPr>
              <a:t>Zero-shot fails; local retraining repairs it, but not everywhere</a:t>
            </a:r>
          </a:p>
        </p:txBody>
      </p:sp>
      <p:sp>
        <p:nvSpPr>
          <p:cNvPr id="17" name="TextBox 16"/>
          <p:cNvSpPr txBox="1"/>
          <p:nvPr/>
        </p:nvSpPr>
        <p:spPr>
          <a:xfrm>
            <a:off x="658368" y="3986784"/>
            <a:ext cx="548640" cy="365760"/>
          </a:xfrm>
          <a:prstGeom prst="rect">
            <a:avLst/>
          </a:prstGeom>
          <a:noFill/>
        </p:spPr>
        <p:txBody>
          <a:bodyPr wrap="square">
            <a:spAutoFit/>
          </a:bodyPr>
          <a:lstStyle/>
          <a:p>
            <a:pPr algn="l">
              <a:lnSpc>
                <a:spcPct val="125000"/>
              </a:lnSpc>
            </a:pPr>
            <a:r>
              <a:rPr sz="1500" b="1" i="0">
                <a:solidFill>
                  <a:srgbClr val="0B6E4F"/>
                </a:solidFill>
                <a:latin typeface="Calibri"/>
              </a:rPr>
              <a:t>5</a:t>
            </a:r>
          </a:p>
        </p:txBody>
      </p:sp>
      <p:sp>
        <p:nvSpPr>
          <p:cNvPr id="18" name="TextBox 17"/>
          <p:cNvSpPr txBox="1"/>
          <p:nvPr/>
        </p:nvSpPr>
        <p:spPr>
          <a:xfrm>
            <a:off x="1225296" y="3986784"/>
            <a:ext cx="3931920" cy="365760"/>
          </a:xfrm>
          <a:prstGeom prst="rect">
            <a:avLst/>
          </a:prstGeom>
          <a:noFill/>
        </p:spPr>
        <p:txBody>
          <a:bodyPr wrap="square">
            <a:spAutoFit/>
          </a:bodyPr>
          <a:lstStyle/>
          <a:p>
            <a:pPr algn="l">
              <a:lnSpc>
                <a:spcPct val="125000"/>
              </a:lnSpc>
            </a:pPr>
            <a:r>
              <a:rPr sz="1500" b="1" i="0">
                <a:solidFill>
                  <a:srgbClr val="1A1A1A"/>
                </a:solidFill>
                <a:latin typeface="Calibri"/>
              </a:rPr>
              <a:t>Independent validation</a:t>
            </a:r>
          </a:p>
        </p:txBody>
      </p:sp>
      <p:sp>
        <p:nvSpPr>
          <p:cNvPr id="19" name="TextBox 18"/>
          <p:cNvSpPr txBox="1"/>
          <p:nvPr/>
        </p:nvSpPr>
        <p:spPr>
          <a:xfrm>
            <a:off x="5276088" y="4014216"/>
            <a:ext cx="6217920" cy="457200"/>
          </a:xfrm>
          <a:prstGeom prst="rect">
            <a:avLst/>
          </a:prstGeom>
          <a:noFill/>
        </p:spPr>
        <p:txBody>
          <a:bodyPr wrap="square">
            <a:spAutoFit/>
          </a:bodyPr>
          <a:lstStyle/>
          <a:p>
            <a:pPr algn="l">
              <a:lnSpc>
                <a:spcPct val="120000"/>
              </a:lnSpc>
            </a:pPr>
            <a:r>
              <a:rPr sz="1200" b="0" i="0">
                <a:solidFill>
                  <a:srgbClr val="6B6B6B"/>
                </a:solidFill>
                <a:latin typeface="Calibri"/>
              </a:rPr>
              <a:t>Change the reference and most of that margin turns out to be agreement</a:t>
            </a:r>
          </a:p>
        </p:txBody>
      </p:sp>
      <p:sp>
        <p:nvSpPr>
          <p:cNvPr id="20" name="TextBox 19"/>
          <p:cNvSpPr txBox="1"/>
          <p:nvPr/>
        </p:nvSpPr>
        <p:spPr>
          <a:xfrm>
            <a:off x="658368" y="4590288"/>
            <a:ext cx="548640" cy="365760"/>
          </a:xfrm>
          <a:prstGeom prst="rect">
            <a:avLst/>
          </a:prstGeom>
          <a:noFill/>
        </p:spPr>
        <p:txBody>
          <a:bodyPr wrap="square">
            <a:spAutoFit/>
          </a:bodyPr>
          <a:lstStyle/>
          <a:p>
            <a:pPr algn="l">
              <a:lnSpc>
                <a:spcPct val="125000"/>
              </a:lnSpc>
            </a:pPr>
            <a:r>
              <a:rPr sz="1500" b="1" i="0">
                <a:solidFill>
                  <a:srgbClr val="0B6E4F"/>
                </a:solidFill>
                <a:latin typeface="Calibri"/>
              </a:rPr>
              <a:t>6</a:t>
            </a:r>
          </a:p>
        </p:txBody>
      </p:sp>
      <p:sp>
        <p:nvSpPr>
          <p:cNvPr id="21" name="TextBox 20"/>
          <p:cNvSpPr txBox="1"/>
          <p:nvPr/>
        </p:nvSpPr>
        <p:spPr>
          <a:xfrm>
            <a:off x="1225296" y="4590288"/>
            <a:ext cx="3931920" cy="365760"/>
          </a:xfrm>
          <a:prstGeom prst="rect">
            <a:avLst/>
          </a:prstGeom>
          <a:noFill/>
        </p:spPr>
        <p:txBody>
          <a:bodyPr wrap="square">
            <a:spAutoFit/>
          </a:bodyPr>
          <a:lstStyle/>
          <a:p>
            <a:pPr algn="l">
              <a:lnSpc>
                <a:spcPct val="125000"/>
              </a:lnSpc>
            </a:pPr>
            <a:r>
              <a:rPr sz="1500" b="1" i="0">
                <a:solidFill>
                  <a:srgbClr val="1A1A1A"/>
                </a:solidFill>
                <a:latin typeface="Calibri"/>
              </a:rPr>
              <a:t>Why transfer fails</a:t>
            </a:r>
          </a:p>
        </p:txBody>
      </p:sp>
      <p:sp>
        <p:nvSpPr>
          <p:cNvPr id="22" name="TextBox 21"/>
          <p:cNvSpPr txBox="1"/>
          <p:nvPr/>
        </p:nvSpPr>
        <p:spPr>
          <a:xfrm>
            <a:off x="5276088" y="4617720"/>
            <a:ext cx="6217920" cy="457200"/>
          </a:xfrm>
          <a:prstGeom prst="rect">
            <a:avLst/>
          </a:prstGeom>
          <a:noFill/>
        </p:spPr>
        <p:txBody>
          <a:bodyPr wrap="square">
            <a:spAutoFit/>
          </a:bodyPr>
          <a:lstStyle/>
          <a:p>
            <a:pPr algn="l">
              <a:lnSpc>
                <a:spcPct val="120000"/>
              </a:lnSpc>
            </a:pPr>
            <a:r>
              <a:rPr sz="1200" b="0" i="0">
                <a:solidFill>
                  <a:srgbClr val="6B6B6B"/>
                </a:solidFill>
                <a:latin typeface="Calibri"/>
              </a:rPr>
              <a:t>Level matching, and the low tail that no level correction could repair</a:t>
            </a:r>
          </a:p>
        </p:txBody>
      </p:sp>
      <p:sp>
        <p:nvSpPr>
          <p:cNvPr id="23" name="TextBox 22"/>
          <p:cNvSpPr txBox="1"/>
          <p:nvPr/>
        </p:nvSpPr>
        <p:spPr>
          <a:xfrm>
            <a:off x="658368" y="5193792"/>
            <a:ext cx="548640" cy="365760"/>
          </a:xfrm>
          <a:prstGeom prst="rect">
            <a:avLst/>
          </a:prstGeom>
          <a:noFill/>
        </p:spPr>
        <p:txBody>
          <a:bodyPr wrap="square">
            <a:spAutoFit/>
          </a:bodyPr>
          <a:lstStyle/>
          <a:p>
            <a:pPr algn="l">
              <a:lnSpc>
                <a:spcPct val="125000"/>
              </a:lnSpc>
            </a:pPr>
            <a:r>
              <a:rPr sz="1500" b="1" i="0">
                <a:solidFill>
                  <a:srgbClr val="0B6E4F"/>
                </a:solidFill>
                <a:latin typeface="Calibri"/>
              </a:rPr>
              <a:t>7</a:t>
            </a:r>
          </a:p>
        </p:txBody>
      </p:sp>
      <p:sp>
        <p:nvSpPr>
          <p:cNvPr id="24" name="TextBox 23"/>
          <p:cNvSpPr txBox="1"/>
          <p:nvPr/>
        </p:nvSpPr>
        <p:spPr>
          <a:xfrm>
            <a:off x="1225296" y="5193792"/>
            <a:ext cx="3931920" cy="365760"/>
          </a:xfrm>
          <a:prstGeom prst="rect">
            <a:avLst/>
          </a:prstGeom>
          <a:noFill/>
        </p:spPr>
        <p:txBody>
          <a:bodyPr wrap="square">
            <a:spAutoFit/>
          </a:bodyPr>
          <a:lstStyle/>
          <a:p>
            <a:pPr algn="l">
              <a:lnSpc>
                <a:spcPct val="125000"/>
              </a:lnSpc>
            </a:pPr>
            <a:r>
              <a:rPr sz="1500" b="1" i="0">
                <a:solidFill>
                  <a:srgbClr val="1A1A1A"/>
                </a:solidFill>
                <a:latin typeface="Calibri"/>
              </a:rPr>
              <a:t>Conclusions and limitations</a:t>
            </a:r>
          </a:p>
        </p:txBody>
      </p:sp>
      <p:sp>
        <p:nvSpPr>
          <p:cNvPr id="25" name="TextBox 24"/>
          <p:cNvSpPr txBox="1"/>
          <p:nvPr/>
        </p:nvSpPr>
        <p:spPr>
          <a:xfrm>
            <a:off x="5276088" y="5221224"/>
            <a:ext cx="6217920" cy="457200"/>
          </a:xfrm>
          <a:prstGeom prst="rect">
            <a:avLst/>
          </a:prstGeom>
          <a:noFill/>
        </p:spPr>
        <p:txBody>
          <a:bodyPr wrap="square">
            <a:spAutoFit/>
          </a:bodyPr>
          <a:lstStyle/>
          <a:p>
            <a:pPr algn="l">
              <a:lnSpc>
                <a:spcPct val="120000"/>
              </a:lnSpc>
            </a:pPr>
            <a:r>
              <a:rPr sz="1200" b="0" i="0">
                <a:solidFill>
                  <a:srgbClr val="6B6B6B"/>
                </a:solidFill>
                <a:latin typeface="Calibri"/>
              </a:rPr>
              <a:t>What the study supports, and the five constraints that bound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2212848"/>
            <a:ext cx="10881360" cy="320040"/>
          </a:xfrm>
          <a:prstGeom prst="rect">
            <a:avLst/>
          </a:prstGeom>
          <a:noFill/>
        </p:spPr>
        <p:txBody>
          <a:bodyPr wrap="square">
            <a:spAutoFit/>
          </a:bodyPr>
          <a:lstStyle/>
          <a:p>
            <a:pPr algn="l">
              <a:lnSpc>
                <a:spcPct val="125000"/>
              </a:lnSpc>
            </a:pPr>
            <a:r>
              <a:rPr sz="1200" b="1" i="0">
                <a:solidFill>
                  <a:srgbClr val="0B6E4F"/>
                </a:solidFill>
                <a:latin typeface="Calibri"/>
              </a:rPr>
              <a:t>SECTION 1 OF 7</a:t>
            </a:r>
          </a:p>
        </p:txBody>
      </p:sp>
      <p:sp>
        <p:nvSpPr>
          <p:cNvPr id="3" name="TextBox 2"/>
          <p:cNvSpPr txBox="1"/>
          <p:nvPr/>
        </p:nvSpPr>
        <p:spPr>
          <a:xfrm>
            <a:off x="822960" y="2560320"/>
            <a:ext cx="10881360" cy="914400"/>
          </a:xfrm>
          <a:prstGeom prst="rect">
            <a:avLst/>
          </a:prstGeom>
          <a:noFill/>
        </p:spPr>
        <p:txBody>
          <a:bodyPr wrap="square">
            <a:spAutoFit/>
          </a:bodyPr>
          <a:lstStyle/>
          <a:p>
            <a:pPr algn="l">
              <a:lnSpc>
                <a:spcPct val="125000"/>
              </a:lnSpc>
            </a:pPr>
            <a:r>
              <a:rPr sz="3000" b="1" i="0">
                <a:solidFill>
                  <a:srgbClr val="1A1A1A"/>
                </a:solidFill>
                <a:latin typeface="Calibri"/>
              </a:rPr>
              <a:t>Design and data</a:t>
            </a:r>
          </a:p>
        </p:txBody>
      </p:sp>
      <p:sp>
        <p:nvSpPr>
          <p:cNvPr id="4" name="Rectangle 3"/>
          <p:cNvSpPr/>
          <p:nvPr/>
        </p:nvSpPr>
        <p:spPr>
          <a:xfrm>
            <a:off x="822960" y="3584448"/>
            <a:ext cx="3657600" cy="32004"/>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03904"/>
            <a:ext cx="8686800" cy="731520"/>
          </a:xfrm>
          <a:prstGeom prst="rect">
            <a:avLst/>
          </a:prstGeom>
          <a:noFill/>
        </p:spPr>
        <p:txBody>
          <a:bodyPr wrap="square">
            <a:spAutoFit/>
          </a:bodyPr>
          <a:lstStyle/>
          <a:p>
            <a:pPr algn="l">
              <a:lnSpc>
                <a:spcPct val="135000"/>
              </a:lnSpc>
            </a:pPr>
            <a:r>
              <a:rPr sz="1400" b="0" i="0">
                <a:solidFill>
                  <a:srgbClr val="6B6B6B"/>
                </a:solidFill>
                <a:latin typeface="Calibri"/>
              </a:rPr>
              <a:t>What the study adds, what it borrows, and the two constraints that shape every result after</a:t>
            </a:r>
          </a:p>
        </p:txBody>
      </p:sp>
      <p:sp>
        <p:nvSpPr>
          <p:cNvPr id="6" name="TextBox 5"/>
          <p:cNvSpPr txBox="1"/>
          <p:nvPr/>
        </p:nvSpPr>
        <p:spPr>
          <a:xfrm>
            <a:off x="822960" y="5577840"/>
            <a:ext cx="10881360" cy="822960"/>
          </a:xfrm>
          <a:prstGeom prst="rect">
            <a:avLst/>
          </a:prstGeom>
          <a:noFill/>
        </p:spPr>
        <p:txBody>
          <a:bodyPr wrap="square">
            <a:spAutoFit/>
          </a:bodyPr>
          <a:lstStyle/>
          <a:p>
            <a:pPr algn="l">
              <a:lnSpc>
                <a:spcPct val="125000"/>
              </a:lnSpc>
            </a:pPr>
            <a:r>
              <a:rPr sz="1000" b="0" i="0">
                <a:solidFill>
                  <a:srgbClr val="6B6B6B"/>
                </a:solidFill>
                <a:latin typeface="Calibri"/>
              </a:rPr>
              <a:t>1. Design and data · 2. Method · 3. Milan · same-source validation · 4. Vietnam · transfer · 5. Independent validation · 6. Why transfer fails · 7. Conclusions and limitations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SCOPE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Three additions to an established study, on a baseline verified to reproduce</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The AlphaEarth method and the shared Milan sample set are Žgela's and are used as supplied.</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2139696"/>
            <a:ext cx="3413760" cy="365760"/>
          </a:xfrm>
          <a:prstGeom prst="rect">
            <a:avLst/>
          </a:prstGeom>
          <a:noFill/>
        </p:spPr>
        <p:txBody>
          <a:bodyPr wrap="square">
            <a:spAutoFit/>
          </a:bodyPr>
          <a:lstStyle/>
          <a:p>
            <a:pPr algn="l">
              <a:lnSpc>
                <a:spcPct val="125000"/>
              </a:lnSpc>
            </a:pPr>
            <a:r>
              <a:rPr sz="1350" b="1" i="0">
                <a:solidFill>
                  <a:srgbClr val="0B6E4F"/>
                </a:solidFill>
                <a:latin typeface="Calibri"/>
              </a:rPr>
              <a:t>Added by this project</a:t>
            </a:r>
          </a:p>
        </p:txBody>
      </p:sp>
      <p:sp>
        <p:nvSpPr>
          <p:cNvPr id="7" name="TextBox 6"/>
          <p:cNvSpPr txBox="1"/>
          <p:nvPr/>
        </p:nvSpPr>
        <p:spPr>
          <a:xfrm>
            <a:off x="658368" y="2551176"/>
            <a:ext cx="3413760" cy="2926080"/>
          </a:xfrm>
          <a:prstGeom prst="rect">
            <a:avLst/>
          </a:prstGeom>
          <a:noFill/>
        </p:spPr>
        <p:txBody>
          <a:bodyPr wrap="square">
            <a:spAutoFit/>
          </a:bodyPr>
          <a:lstStyle/>
          <a:p>
            <a:pPr algn="l">
              <a:lnSpc>
                <a:spcPct val="135000"/>
              </a:lnSpc>
            </a:pPr>
            <a:r>
              <a:rPr sz="1250" b="0" i="0">
                <a:solidFill>
                  <a:srgbClr val="1A1A1A"/>
                </a:solidFill>
                <a:latin typeface="Calibri"/>
              </a:rPr>
              <a:t>Explicit Sentinel-2 composites as an alternative predictor set.</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Two Vietnamese cities, turning a single-city study into a test of whether a model transfers.</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A second validation against photo-interpreted plots no model saw.</a:t>
            </a:r>
          </a:p>
        </p:txBody>
      </p:sp>
      <p:sp>
        <p:nvSpPr>
          <p:cNvPr id="8" name="TextBox 7"/>
          <p:cNvSpPr txBox="1"/>
          <p:nvPr/>
        </p:nvSpPr>
        <p:spPr>
          <a:xfrm>
            <a:off x="4392168" y="2139696"/>
            <a:ext cx="3413760" cy="365760"/>
          </a:xfrm>
          <a:prstGeom prst="rect">
            <a:avLst/>
          </a:prstGeom>
          <a:noFill/>
        </p:spPr>
        <p:txBody>
          <a:bodyPr wrap="square">
            <a:spAutoFit/>
          </a:bodyPr>
          <a:lstStyle/>
          <a:p>
            <a:pPr algn="l">
              <a:lnSpc>
                <a:spcPct val="125000"/>
              </a:lnSpc>
            </a:pPr>
            <a:r>
              <a:rPr sz="1350" b="1" i="0">
                <a:solidFill>
                  <a:srgbClr val="0B6E4F"/>
                </a:solidFill>
                <a:latin typeface="Calibri"/>
              </a:rPr>
              <a:t>Taken from Žgela</a:t>
            </a:r>
          </a:p>
        </p:txBody>
      </p:sp>
      <p:sp>
        <p:nvSpPr>
          <p:cNvPr id="9" name="TextBox 8"/>
          <p:cNvSpPr txBox="1"/>
          <p:nvPr/>
        </p:nvSpPr>
        <p:spPr>
          <a:xfrm>
            <a:off x="4392168" y="2551176"/>
            <a:ext cx="3413760" cy="2926080"/>
          </a:xfrm>
          <a:prstGeom prst="rect">
            <a:avLst/>
          </a:prstGeom>
          <a:noFill/>
        </p:spPr>
        <p:txBody>
          <a:bodyPr wrap="square">
            <a:spAutoFit/>
          </a:bodyPr>
          <a:lstStyle/>
          <a:p>
            <a:pPr algn="l">
              <a:lnSpc>
                <a:spcPct val="135000"/>
              </a:lnSpc>
            </a:pPr>
            <a:r>
              <a:rPr sz="1250" b="0" i="0">
                <a:solidFill>
                  <a:srgbClr val="1A1A1A"/>
                </a:solidFill>
                <a:latin typeface="Calibri"/>
              </a:rPr>
              <a:t>The 3 500-point stratified sample, the 1 km spatial blocking and the 250 m buffer.</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The treatment of the 64-dimensional embedding, used whole.</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Three results reproduced here are labelled as his where they appear.</a:t>
            </a:r>
          </a:p>
        </p:txBody>
      </p:sp>
      <p:sp>
        <p:nvSpPr>
          <p:cNvPr id="10" name="TextBox 9"/>
          <p:cNvSpPr txBox="1"/>
          <p:nvPr/>
        </p:nvSpPr>
        <p:spPr>
          <a:xfrm>
            <a:off x="8125968" y="2139696"/>
            <a:ext cx="3413760" cy="365760"/>
          </a:xfrm>
          <a:prstGeom prst="rect">
            <a:avLst/>
          </a:prstGeom>
          <a:noFill/>
        </p:spPr>
        <p:txBody>
          <a:bodyPr wrap="square">
            <a:spAutoFit/>
          </a:bodyPr>
          <a:lstStyle/>
          <a:p>
            <a:pPr algn="l">
              <a:lnSpc>
                <a:spcPct val="125000"/>
              </a:lnSpc>
            </a:pPr>
            <a:r>
              <a:rPr sz="1350" b="1" i="0">
                <a:solidFill>
                  <a:srgbClr val="0B6E4F"/>
                </a:solidFill>
                <a:latin typeface="Calibri"/>
              </a:rPr>
              <a:t>Verified, not claimed</a:t>
            </a:r>
          </a:p>
        </p:txBody>
      </p:sp>
      <p:sp>
        <p:nvSpPr>
          <p:cNvPr id="11" name="TextBox 10"/>
          <p:cNvSpPr txBox="1"/>
          <p:nvPr/>
        </p:nvSpPr>
        <p:spPr>
          <a:xfrm>
            <a:off x="8125968" y="2551176"/>
            <a:ext cx="3413760" cy="2926080"/>
          </a:xfrm>
          <a:prstGeom prst="rect">
            <a:avLst/>
          </a:prstGeom>
          <a:noFill/>
        </p:spPr>
        <p:txBody>
          <a:bodyPr wrap="square">
            <a:spAutoFit/>
          </a:bodyPr>
          <a:lstStyle/>
          <a:p>
            <a:pPr algn="l">
              <a:lnSpc>
                <a:spcPct val="135000"/>
              </a:lnSpc>
            </a:pPr>
            <a:r>
              <a:rPr sz="1250" b="0" i="0">
                <a:solidFill>
                  <a:srgbClr val="1A1A1A"/>
                </a:solidFill>
                <a:latin typeface="Calibri"/>
              </a:rPr>
              <a:t>The embeddings pipeline was independently re-run and reproduces his published holdout figures exactly.</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RF 14.123 / 10.675 / 0.837 / +0.624 against his 14.12 / 10.68 / 0.837 / +0.62.</a:t>
            </a:r>
          </a:p>
        </p:txBody>
      </p:sp>
      <p:sp>
        <p:nvSpPr>
          <p:cNvPr id="12" name="TextBox 11"/>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The reproduction is a check that the shared baseline has not drifted, not a new result.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METHOD · THE HINGE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Every map is scored twice, against two references that are never merged</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This distinction is the methodological hinge of the study, and everything that follows depends on keeping the two apart.</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2139696"/>
            <a:ext cx="5120640" cy="365760"/>
          </a:xfrm>
          <a:prstGeom prst="rect">
            <a:avLst/>
          </a:prstGeom>
          <a:noFill/>
        </p:spPr>
        <p:txBody>
          <a:bodyPr wrap="square">
            <a:spAutoFit/>
          </a:bodyPr>
          <a:lstStyle/>
          <a:p>
            <a:pPr algn="l">
              <a:lnSpc>
                <a:spcPct val="125000"/>
              </a:lnSpc>
            </a:pPr>
            <a:r>
              <a:rPr sz="1350" b="1" i="0">
                <a:solidFill>
                  <a:srgbClr val="0B6E4F"/>
                </a:solidFill>
                <a:latin typeface="Calibri"/>
              </a:rPr>
              <a:t>Same-source validation</a:t>
            </a:r>
          </a:p>
        </p:txBody>
      </p:sp>
      <p:sp>
        <p:nvSpPr>
          <p:cNvPr id="7" name="TextBox 6"/>
          <p:cNvSpPr txBox="1"/>
          <p:nvPr/>
        </p:nvSpPr>
        <p:spPr>
          <a:xfrm>
            <a:off x="658368" y="2551176"/>
            <a:ext cx="5120640" cy="2926080"/>
          </a:xfrm>
          <a:prstGeom prst="rect">
            <a:avLst/>
          </a:prstGeom>
          <a:noFill/>
        </p:spPr>
        <p:txBody>
          <a:bodyPr wrap="square">
            <a:spAutoFit/>
          </a:bodyPr>
          <a:lstStyle/>
          <a:p>
            <a:pPr algn="l">
              <a:lnSpc>
                <a:spcPct val="135000"/>
              </a:lnSpc>
            </a:pPr>
            <a:r>
              <a:rPr sz="1250" b="0" i="0">
                <a:solidFill>
                  <a:srgbClr val="1A1A1A"/>
                </a:solidFill>
                <a:latin typeface="Calibri"/>
              </a:rPr>
              <a:t>Scores each map against the product it was trained on: CLMS in Milan, GHS-BUILT-S in Hanoi and HCMC.</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Runs on the spatial holdout — 1 014 points in Milan, 895 in Hanoi, 887 in HCMC.</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Measures agreement with the training target. It cannot distinguish a good map from one that merely resembles its labels.</a:t>
            </a:r>
          </a:p>
        </p:txBody>
      </p:sp>
      <p:sp>
        <p:nvSpPr>
          <p:cNvPr id="8" name="TextBox 7"/>
          <p:cNvSpPr txBox="1"/>
          <p:nvPr/>
        </p:nvSpPr>
        <p:spPr>
          <a:xfrm>
            <a:off x="6099048" y="2139696"/>
            <a:ext cx="5120640" cy="365760"/>
          </a:xfrm>
          <a:prstGeom prst="rect">
            <a:avLst/>
          </a:prstGeom>
          <a:noFill/>
        </p:spPr>
        <p:txBody>
          <a:bodyPr wrap="square">
            <a:spAutoFit/>
          </a:bodyPr>
          <a:lstStyle/>
          <a:p>
            <a:pPr algn="l">
              <a:lnSpc>
                <a:spcPct val="125000"/>
              </a:lnSpc>
            </a:pPr>
            <a:r>
              <a:rPr sz="1350" b="1" i="0">
                <a:solidFill>
                  <a:srgbClr val="0B6E4F"/>
                </a:solidFill>
                <a:latin typeface="Calibri"/>
              </a:rPr>
              <a:t>Independent validation</a:t>
            </a:r>
          </a:p>
        </p:txBody>
      </p:sp>
      <p:sp>
        <p:nvSpPr>
          <p:cNvPr id="9" name="TextBox 8"/>
          <p:cNvSpPr txBox="1"/>
          <p:nvPr/>
        </p:nvSpPr>
        <p:spPr>
          <a:xfrm>
            <a:off x="6099048" y="2551176"/>
            <a:ext cx="5120640" cy="2926080"/>
          </a:xfrm>
          <a:prstGeom prst="rect">
            <a:avLst/>
          </a:prstGeom>
          <a:noFill/>
        </p:spPr>
        <p:txBody>
          <a:bodyPr wrap="square">
            <a:spAutoFit/>
          </a:bodyPr>
          <a:lstStyle/>
          <a:p>
            <a:pPr algn="l">
              <a:lnSpc>
                <a:spcPct val="135000"/>
              </a:lnSpc>
            </a:pPr>
            <a:r>
              <a:rPr sz="1250" b="0" i="0">
                <a:solidFill>
                  <a:srgbClr val="1A1A1A"/>
                </a:solidFill>
                <a:latin typeface="Calibri"/>
              </a:rPr>
              <a:t>Scores every map against 450 photo-interpreted plots per city, 1 350 in total, on 2018 imagery.</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No model saw them at any stage.</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Measures accuracy against an independent reference, at the cost of a smaller and stratified sample.</a:t>
            </a:r>
          </a:p>
        </p:txBody>
      </p:sp>
      <p:sp>
        <p:nvSpPr>
          <p:cNvPr id="10" name="TextBox 9"/>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Bias is observed minus predicted: positive means the map under-predicts. Identical in both validations.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DATA · TARGETS</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The two training targets do not measure the same quantity</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Both are 10 m and both report a percentage per pixel, so they enter the modelling identically. What they measure differs, and the difference is not noise.</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2139696"/>
            <a:ext cx="3413760" cy="365760"/>
          </a:xfrm>
          <a:prstGeom prst="rect">
            <a:avLst/>
          </a:prstGeom>
          <a:noFill/>
        </p:spPr>
        <p:txBody>
          <a:bodyPr wrap="square">
            <a:spAutoFit/>
          </a:bodyPr>
          <a:lstStyle/>
          <a:p>
            <a:pPr algn="l">
              <a:lnSpc>
                <a:spcPct val="125000"/>
              </a:lnSpc>
            </a:pPr>
            <a:r>
              <a:rPr sz="1350" b="1" i="0">
                <a:solidFill>
                  <a:srgbClr val="0B6E4F"/>
                </a:solidFill>
                <a:latin typeface="Calibri"/>
              </a:rPr>
              <a:t>CLMS — Milan</a:t>
            </a:r>
          </a:p>
        </p:txBody>
      </p:sp>
      <p:sp>
        <p:nvSpPr>
          <p:cNvPr id="7" name="TextBox 6"/>
          <p:cNvSpPr txBox="1"/>
          <p:nvPr/>
        </p:nvSpPr>
        <p:spPr>
          <a:xfrm>
            <a:off x="658368" y="2551176"/>
            <a:ext cx="3413760" cy="2926080"/>
          </a:xfrm>
          <a:prstGeom prst="rect">
            <a:avLst/>
          </a:prstGeom>
          <a:noFill/>
        </p:spPr>
        <p:txBody>
          <a:bodyPr wrap="square">
            <a:spAutoFit/>
          </a:bodyPr>
          <a:lstStyle/>
          <a:p>
            <a:pPr algn="l">
              <a:lnSpc>
                <a:spcPct val="135000"/>
              </a:lnSpc>
            </a:pPr>
            <a:r>
              <a:rPr sz="1250" b="0" i="0">
                <a:solidFill>
                  <a:srgbClr val="1A1A1A"/>
                </a:solidFill>
                <a:latin typeface="Calibri"/>
              </a:rPr>
              <a:t>Imperviousness density for 2018. Measures sealed surface: the fraction of a pixel water cannot pass through.</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Includes roads, pavements, car parks and rooftops alike.</a:t>
            </a:r>
          </a:p>
        </p:txBody>
      </p:sp>
      <p:sp>
        <p:nvSpPr>
          <p:cNvPr id="8" name="TextBox 7"/>
          <p:cNvSpPr txBox="1"/>
          <p:nvPr/>
        </p:nvSpPr>
        <p:spPr>
          <a:xfrm>
            <a:off x="4392168" y="2139696"/>
            <a:ext cx="3413760" cy="365760"/>
          </a:xfrm>
          <a:prstGeom prst="rect">
            <a:avLst/>
          </a:prstGeom>
          <a:noFill/>
        </p:spPr>
        <p:txBody>
          <a:bodyPr wrap="square">
            <a:spAutoFit/>
          </a:bodyPr>
          <a:lstStyle/>
          <a:p>
            <a:pPr algn="l">
              <a:lnSpc>
                <a:spcPct val="125000"/>
              </a:lnSpc>
            </a:pPr>
            <a:r>
              <a:rPr sz="1350" b="1" i="0">
                <a:solidFill>
                  <a:srgbClr val="0B6E4F"/>
                </a:solidFill>
                <a:latin typeface="Calibri"/>
              </a:rPr>
              <a:t>GHS-BUILT-S — Hanoi, HCMC</a:t>
            </a:r>
          </a:p>
        </p:txBody>
      </p:sp>
      <p:sp>
        <p:nvSpPr>
          <p:cNvPr id="9" name="TextBox 8"/>
          <p:cNvSpPr txBox="1"/>
          <p:nvPr/>
        </p:nvSpPr>
        <p:spPr>
          <a:xfrm>
            <a:off x="4392168" y="2551176"/>
            <a:ext cx="3413760" cy="2926080"/>
          </a:xfrm>
          <a:prstGeom prst="rect">
            <a:avLst/>
          </a:prstGeom>
          <a:noFill/>
        </p:spPr>
        <p:txBody>
          <a:bodyPr wrap="square">
            <a:spAutoFit/>
          </a:bodyPr>
          <a:lstStyle/>
          <a:p>
            <a:pPr algn="l">
              <a:lnSpc>
                <a:spcPct val="135000"/>
              </a:lnSpc>
            </a:pPr>
            <a:r>
              <a:rPr sz="1250" b="0" i="0">
                <a:solidFill>
                  <a:srgbClr val="1A1A1A"/>
                </a:solidFill>
                <a:latin typeface="Calibri"/>
              </a:rPr>
              <a:t>Built-up surface for 2018. A narrower quantity: buildings and a limited set of other roofed infrastructure.</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Does not include roads. Žgela calls this an inherent limitation of the chosen reference.</a:t>
            </a:r>
          </a:p>
        </p:txBody>
      </p:sp>
      <p:sp>
        <p:nvSpPr>
          <p:cNvPr id="10" name="TextBox 9"/>
          <p:cNvSpPr txBox="1"/>
          <p:nvPr/>
        </p:nvSpPr>
        <p:spPr>
          <a:xfrm>
            <a:off x="8125968" y="2139696"/>
            <a:ext cx="3413760" cy="365760"/>
          </a:xfrm>
          <a:prstGeom prst="rect">
            <a:avLst/>
          </a:prstGeom>
          <a:noFill/>
        </p:spPr>
        <p:txBody>
          <a:bodyPr wrap="square">
            <a:spAutoFit/>
          </a:bodyPr>
          <a:lstStyle/>
          <a:p>
            <a:pPr algn="l">
              <a:lnSpc>
                <a:spcPct val="125000"/>
              </a:lnSpc>
            </a:pPr>
            <a:r>
              <a:rPr sz="1350" b="1" i="0">
                <a:solidFill>
                  <a:srgbClr val="0B6E4F"/>
                </a:solidFill>
                <a:latin typeface="Calibri"/>
              </a:rPr>
              <a:t>Why it was still the right choice</a:t>
            </a:r>
          </a:p>
        </p:txBody>
      </p:sp>
      <p:sp>
        <p:nvSpPr>
          <p:cNvPr id="11" name="TextBox 10"/>
          <p:cNvSpPr txBox="1"/>
          <p:nvPr/>
        </p:nvSpPr>
        <p:spPr>
          <a:xfrm>
            <a:off x="8125968" y="2551176"/>
            <a:ext cx="3413760" cy="2926080"/>
          </a:xfrm>
          <a:prstGeom prst="rect">
            <a:avLst/>
          </a:prstGeom>
          <a:noFill/>
        </p:spPr>
        <p:txBody>
          <a:bodyPr wrap="square">
            <a:spAutoFit/>
          </a:bodyPr>
          <a:lstStyle/>
          <a:p>
            <a:pPr algn="l">
              <a:lnSpc>
                <a:spcPct val="135000"/>
              </a:lnSpc>
            </a:pPr>
            <a:r>
              <a:rPr sz="1250" b="0" i="0">
                <a:solidFill>
                  <a:srgbClr val="1A1A1A"/>
                </a:solidFill>
                <a:latin typeface="Calibri"/>
              </a:rPr>
              <a:t>No other suitable 2018 reference product existed for the two Vietnamese cities.</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Matching the label year to the imagery year was the binding constraint.</a:t>
            </a:r>
          </a:p>
        </p:txBody>
      </p:sp>
      <p:sp>
        <p:nvSpPr>
          <p:cNvPr id="12" name="TextBox 11"/>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This returns later as a number: GHS-BUILT-S under-marks the interpreted reference by close to 20 pp in both cities.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DATA · THE INDEPENDENT REFERENCE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How the reference was built, and what may be claimed from it</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450 plots per city, 1 350 in total, produced by Keerthana Kirubakaran in Google Earth Pro on 2018 imagery.</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2139696"/>
            <a:ext cx="3413760" cy="365760"/>
          </a:xfrm>
          <a:prstGeom prst="rect">
            <a:avLst/>
          </a:prstGeom>
          <a:noFill/>
        </p:spPr>
        <p:txBody>
          <a:bodyPr wrap="square">
            <a:spAutoFit/>
          </a:bodyPr>
          <a:lstStyle/>
          <a:p>
            <a:pPr algn="l">
              <a:lnSpc>
                <a:spcPct val="125000"/>
              </a:lnSpc>
            </a:pPr>
            <a:r>
              <a:rPr sz="1350" b="1" i="0">
                <a:solidFill>
                  <a:srgbClr val="0B6E4F"/>
                </a:solidFill>
                <a:latin typeface="Calibri"/>
              </a:rPr>
              <a:t>Plot geometry</a:t>
            </a:r>
          </a:p>
        </p:txBody>
      </p:sp>
      <p:sp>
        <p:nvSpPr>
          <p:cNvPr id="7" name="TextBox 6"/>
          <p:cNvSpPr txBox="1"/>
          <p:nvPr/>
        </p:nvSpPr>
        <p:spPr>
          <a:xfrm>
            <a:off x="658368" y="2551176"/>
            <a:ext cx="3413760" cy="2926080"/>
          </a:xfrm>
          <a:prstGeom prst="rect">
            <a:avLst/>
          </a:prstGeom>
          <a:noFill/>
        </p:spPr>
        <p:txBody>
          <a:bodyPr wrap="square">
            <a:spAutoFit/>
          </a:bodyPr>
          <a:lstStyle/>
          <a:p>
            <a:pPr algn="l">
              <a:lnSpc>
                <a:spcPct val="135000"/>
              </a:lnSpc>
            </a:pPr>
            <a:r>
              <a:rPr sz="1250" b="0" i="0">
                <a:solidFill>
                  <a:srgbClr val="1A1A1A"/>
                </a:solidFill>
                <a:latin typeface="Calibri"/>
              </a:rPr>
              <a:t>A plot is a 10 m unit area — exactly one Sentinel-2 pixel and one pixel of every map under test.</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Each is subdivided into nine sub-cells, each interpreted individually. Plot IMD is the percentage of sub-cells that are impervious.</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Sub-cells are collapsed to one value per plot before anything is scored, so every metric runs on 450 observations per city.</a:t>
            </a:r>
          </a:p>
        </p:txBody>
      </p:sp>
      <p:sp>
        <p:nvSpPr>
          <p:cNvPr id="8" name="TextBox 7"/>
          <p:cNvSpPr txBox="1"/>
          <p:nvPr/>
        </p:nvSpPr>
        <p:spPr>
          <a:xfrm>
            <a:off x="4392168" y="2139696"/>
            <a:ext cx="3413760" cy="365760"/>
          </a:xfrm>
          <a:prstGeom prst="rect">
            <a:avLst/>
          </a:prstGeom>
          <a:noFill/>
        </p:spPr>
        <p:txBody>
          <a:bodyPr wrap="square">
            <a:spAutoFit/>
          </a:bodyPr>
          <a:lstStyle/>
          <a:p>
            <a:pPr algn="l">
              <a:lnSpc>
                <a:spcPct val="125000"/>
              </a:lnSpc>
            </a:pPr>
            <a:r>
              <a:rPr sz="1350" b="1" i="0">
                <a:solidFill>
                  <a:srgbClr val="0B6E4F"/>
                </a:solidFill>
                <a:latin typeface="Calibri"/>
              </a:rPr>
              <a:t>The three coding rules</a:t>
            </a:r>
          </a:p>
        </p:txBody>
      </p:sp>
      <p:sp>
        <p:nvSpPr>
          <p:cNvPr id="9" name="TextBox 8"/>
          <p:cNvSpPr txBox="1"/>
          <p:nvPr/>
        </p:nvSpPr>
        <p:spPr>
          <a:xfrm>
            <a:off x="4392168" y="2551176"/>
            <a:ext cx="3413760" cy="2926080"/>
          </a:xfrm>
          <a:prstGeom prst="rect">
            <a:avLst/>
          </a:prstGeom>
          <a:noFill/>
        </p:spPr>
        <p:txBody>
          <a:bodyPr wrap="square">
            <a:spAutoFit/>
          </a:bodyPr>
          <a:lstStyle/>
          <a:p>
            <a:pPr algn="l">
              <a:lnSpc>
                <a:spcPct val="135000"/>
              </a:lnSpc>
            </a:pPr>
            <a:r>
              <a:rPr sz="1250" b="0" i="0">
                <a:solidFill>
                  <a:srgbClr val="1A1A1A"/>
                </a:solidFill>
                <a:latin typeface="Calibri"/>
              </a:rPr>
              <a:t>strict — the primary rule: parking, pavement, road, roof, railroad, airport, pool.</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B — adds permeable pavement, matching the sealed-surface definition CLMS works to.</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C — adds unpaved dirt road and heavily compacted bare soil.</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Paved roads are impervious under all three, so no choice of rule removes the GHS-BUILT-S mismatch.</a:t>
            </a:r>
          </a:p>
        </p:txBody>
      </p:sp>
      <p:sp>
        <p:nvSpPr>
          <p:cNvPr id="10" name="TextBox 9"/>
          <p:cNvSpPr txBox="1"/>
          <p:nvPr/>
        </p:nvSpPr>
        <p:spPr>
          <a:xfrm>
            <a:off x="8125968" y="2139696"/>
            <a:ext cx="3413760" cy="365760"/>
          </a:xfrm>
          <a:prstGeom prst="rect">
            <a:avLst/>
          </a:prstGeom>
          <a:noFill/>
        </p:spPr>
        <p:txBody>
          <a:bodyPr wrap="square">
            <a:spAutoFit/>
          </a:bodyPr>
          <a:lstStyle/>
          <a:p>
            <a:pPr algn="l">
              <a:lnSpc>
                <a:spcPct val="125000"/>
              </a:lnSpc>
            </a:pPr>
            <a:r>
              <a:rPr sz="1350" b="1" i="0">
                <a:solidFill>
                  <a:srgbClr val="0B6E4F"/>
                </a:solidFill>
                <a:latin typeface="Calibri"/>
              </a:rPr>
              <a:t>The metrics</a:t>
            </a:r>
          </a:p>
        </p:txBody>
      </p:sp>
      <p:sp>
        <p:nvSpPr>
          <p:cNvPr id="11" name="TextBox 10"/>
          <p:cNvSpPr txBox="1"/>
          <p:nvPr/>
        </p:nvSpPr>
        <p:spPr>
          <a:xfrm>
            <a:off x="8125968" y="2551176"/>
            <a:ext cx="3413760" cy="2926080"/>
          </a:xfrm>
          <a:prstGeom prst="rect">
            <a:avLst/>
          </a:prstGeom>
          <a:noFill/>
        </p:spPr>
        <p:txBody>
          <a:bodyPr wrap="square">
            <a:spAutoFit/>
          </a:bodyPr>
          <a:lstStyle/>
          <a:p>
            <a:pPr algn="l">
              <a:lnSpc>
                <a:spcPct val="135000"/>
              </a:lnSpc>
            </a:pPr>
            <a:r>
              <a:rPr sz="1250" b="0" i="0">
                <a:solidFill>
                  <a:srgbClr val="1A1A1A"/>
                </a:solidFill>
                <a:latin typeface="Calibri"/>
              </a:rPr>
              <a:t>RMSE and MAE in IMD percentage points. MAE weights every plot by how wrong it is; RMSE squares first and is driven by the largest errors, so the two can disagree about which map is better.</a:t>
            </a:r>
          </a:p>
          <a:p>
            <a:pPr algn="l">
              <a:lnSpc>
                <a:spcPct val="135000"/>
              </a:lnSpc>
            </a:pPr>
            <a:endParaRPr sz="1250" b="0" i="0">
              <a:solidFill>
                <a:srgbClr val="1A1A1A"/>
              </a:solidFill>
              <a:latin typeface="Calibri"/>
            </a:endParaRPr>
          </a:p>
          <a:p>
            <a:pPr algn="l">
              <a:lnSpc>
                <a:spcPct val="135000"/>
              </a:lnSpc>
            </a:pPr>
            <a:r>
              <a:rPr sz="1250" b="0" i="0">
                <a:solidFill>
                  <a:srgbClr val="1A1A1A"/>
                </a:solidFill>
                <a:latin typeface="Calibri"/>
              </a:rPr>
              <a:t>RMSE_corr removes a binomial estimate of the reference's own noise. It is an upper bound on map error, never a point estimate.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DATA · SENTINEL-2</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Milan retains 30 usable dates; Hanoi retains 4 and HCMC 3</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Both Vietnamese cities are screened one rung looser than Milan and still yield almost nothing.</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composite_depth.png"/>
          <p:cNvPicPr>
            <a:picLocks noChangeAspect="1"/>
          </p:cNvPicPr>
          <p:nvPr/>
        </p:nvPicPr>
        <p:blipFill>
          <a:blip r:embed="rId3"/>
          <a:stretch>
            <a:fillRect/>
          </a:stretch>
        </p:blipFill>
        <p:spPr>
          <a:xfrm>
            <a:off x="1335407" y="2066544"/>
            <a:ext cx="9527281" cy="3657600"/>
          </a:xfrm>
          <a:prstGeom prst="rect">
            <a:avLst/>
          </a:prstGeom>
        </p:spPr>
      </p:pic>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Only the median composite is computable in Vietnam — an archive limit, not a modelling preference.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2212848"/>
            <a:ext cx="10881360" cy="320040"/>
          </a:xfrm>
          <a:prstGeom prst="rect">
            <a:avLst/>
          </a:prstGeom>
          <a:noFill/>
        </p:spPr>
        <p:txBody>
          <a:bodyPr wrap="square">
            <a:spAutoFit/>
          </a:bodyPr>
          <a:lstStyle/>
          <a:p>
            <a:pPr algn="l">
              <a:lnSpc>
                <a:spcPct val="125000"/>
              </a:lnSpc>
            </a:pPr>
            <a:r>
              <a:rPr sz="1200" b="1" i="0">
                <a:solidFill>
                  <a:srgbClr val="0B6E4F"/>
                </a:solidFill>
                <a:latin typeface="Calibri"/>
              </a:rPr>
              <a:t>SECTION 2 OF 7</a:t>
            </a:r>
          </a:p>
        </p:txBody>
      </p:sp>
      <p:sp>
        <p:nvSpPr>
          <p:cNvPr id="3" name="TextBox 2"/>
          <p:cNvSpPr txBox="1"/>
          <p:nvPr/>
        </p:nvSpPr>
        <p:spPr>
          <a:xfrm>
            <a:off x="822960" y="2560320"/>
            <a:ext cx="10881360" cy="914400"/>
          </a:xfrm>
          <a:prstGeom prst="rect">
            <a:avLst/>
          </a:prstGeom>
          <a:noFill/>
        </p:spPr>
        <p:txBody>
          <a:bodyPr wrap="square">
            <a:spAutoFit/>
          </a:bodyPr>
          <a:lstStyle/>
          <a:p>
            <a:pPr algn="l">
              <a:lnSpc>
                <a:spcPct val="125000"/>
              </a:lnSpc>
            </a:pPr>
            <a:r>
              <a:rPr sz="3000" b="1" i="0">
                <a:solidFill>
                  <a:srgbClr val="1A1A1A"/>
                </a:solidFill>
                <a:latin typeface="Calibri"/>
              </a:rPr>
              <a:t>Method</a:t>
            </a:r>
          </a:p>
        </p:txBody>
      </p:sp>
      <p:sp>
        <p:nvSpPr>
          <p:cNvPr id="4" name="Rectangle 3"/>
          <p:cNvSpPr/>
          <p:nvPr/>
        </p:nvSpPr>
        <p:spPr>
          <a:xfrm>
            <a:off x="822960" y="3584448"/>
            <a:ext cx="3657600" cy="32004"/>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03904"/>
            <a:ext cx="8686800" cy="731520"/>
          </a:xfrm>
          <a:prstGeom prst="rect">
            <a:avLst/>
          </a:prstGeom>
          <a:noFill/>
        </p:spPr>
        <p:txBody>
          <a:bodyPr wrap="square">
            <a:spAutoFit/>
          </a:bodyPr>
          <a:lstStyle/>
          <a:p>
            <a:pPr algn="l">
              <a:lnSpc>
                <a:spcPct val="135000"/>
              </a:lnSpc>
            </a:pPr>
            <a:r>
              <a:rPr sz="1400" b="0" i="0">
                <a:solidFill>
                  <a:srgbClr val="6B6B6B"/>
                </a:solidFill>
                <a:latin typeface="Calibri"/>
              </a:rPr>
              <a:t>The split, the cross-validation and the metrics the results lean on</a:t>
            </a:r>
          </a:p>
        </p:txBody>
      </p:sp>
      <p:sp>
        <p:nvSpPr>
          <p:cNvPr id="6" name="TextBox 5"/>
          <p:cNvSpPr txBox="1"/>
          <p:nvPr/>
        </p:nvSpPr>
        <p:spPr>
          <a:xfrm>
            <a:off x="822960" y="5577840"/>
            <a:ext cx="10881360" cy="822960"/>
          </a:xfrm>
          <a:prstGeom prst="rect">
            <a:avLst/>
          </a:prstGeom>
          <a:noFill/>
        </p:spPr>
        <p:txBody>
          <a:bodyPr wrap="square">
            <a:spAutoFit/>
          </a:bodyPr>
          <a:lstStyle/>
          <a:p>
            <a:pPr algn="l">
              <a:lnSpc>
                <a:spcPct val="125000"/>
              </a:lnSpc>
            </a:pPr>
            <a:r>
              <a:rPr sz="1000" b="0" i="0">
                <a:solidFill>
                  <a:srgbClr val="6B6B6B"/>
                </a:solidFill>
                <a:latin typeface="Calibri"/>
              </a:rPr>
              <a:t>1. Design and data · 2. Method · 3. Milan · same-source validation · 4. Vietnam · transfer · 5. Independent validation · 6. Why transfer fails · 7. Conclusions and limitations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METHOD · SAMPLING</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Train and test are separated spatially, not at random</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Milan: 1 km blocks assigned whole to training or testing, plus a 250 m buffer removing test points near any training point.</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01_spatial_split.png"/>
          <p:cNvPicPr>
            <a:picLocks noChangeAspect="1"/>
          </p:cNvPicPr>
          <p:nvPr/>
        </p:nvPicPr>
        <p:blipFill>
          <a:blip r:embed="rId3"/>
          <a:stretch>
            <a:fillRect/>
          </a:stretch>
        </p:blipFill>
        <p:spPr>
          <a:xfrm>
            <a:off x="2011243" y="2066544"/>
            <a:ext cx="8175610" cy="3657600"/>
          </a:xfrm>
          <a:prstGeom prst="rect">
            <a:avLst/>
          </a:prstGeom>
        </p:spPr>
      </p:pic>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2 449 training and 1 014 test points, roughly 70/30. The design is Žgela's and is used unchanged.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METHOD · CROSS-VALIDATION</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Spatial and random cross-validation agree to within about one per cent</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CV RMSE under spatial blocking against random folds, Milan training set, by estimator and block size. Bold marks the block each estimator was tuned at.</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cv_inflation.png"/>
          <p:cNvPicPr>
            <a:picLocks noChangeAspect="1"/>
          </p:cNvPicPr>
          <p:nvPr/>
        </p:nvPicPr>
        <p:blipFill>
          <a:blip r:embed="rId3"/>
          <a:stretch>
            <a:fillRect/>
          </a:stretch>
        </p:blipFill>
        <p:spPr>
          <a:xfrm>
            <a:off x="658368" y="2066544"/>
            <a:ext cx="10881360" cy="3279221"/>
          </a:xfrm>
          <a:prstGeom prst="rect">
            <a:avLst/>
          </a:prstGeom>
        </p:spPr>
      </p:pic>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The largest absolute inflation is 0.3 %. This does not say spatial blocking was unnecessary.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2212848"/>
            <a:ext cx="10881360" cy="320040"/>
          </a:xfrm>
          <a:prstGeom prst="rect">
            <a:avLst/>
          </a:prstGeom>
          <a:noFill/>
        </p:spPr>
        <p:txBody>
          <a:bodyPr wrap="square">
            <a:spAutoFit/>
          </a:bodyPr>
          <a:lstStyle/>
          <a:p>
            <a:pPr algn="l">
              <a:lnSpc>
                <a:spcPct val="125000"/>
              </a:lnSpc>
            </a:pPr>
            <a:r>
              <a:rPr sz="1200" b="1" i="0">
                <a:solidFill>
                  <a:srgbClr val="0B6E4F"/>
                </a:solidFill>
                <a:latin typeface="Calibri"/>
              </a:rPr>
              <a:t>SECTION 3 OF 7</a:t>
            </a:r>
          </a:p>
        </p:txBody>
      </p:sp>
      <p:sp>
        <p:nvSpPr>
          <p:cNvPr id="3" name="TextBox 2"/>
          <p:cNvSpPr txBox="1"/>
          <p:nvPr/>
        </p:nvSpPr>
        <p:spPr>
          <a:xfrm>
            <a:off x="822960" y="2560320"/>
            <a:ext cx="10881360" cy="914400"/>
          </a:xfrm>
          <a:prstGeom prst="rect">
            <a:avLst/>
          </a:prstGeom>
          <a:noFill/>
        </p:spPr>
        <p:txBody>
          <a:bodyPr wrap="square">
            <a:spAutoFit/>
          </a:bodyPr>
          <a:lstStyle/>
          <a:p>
            <a:pPr algn="l">
              <a:lnSpc>
                <a:spcPct val="125000"/>
              </a:lnSpc>
            </a:pPr>
            <a:r>
              <a:rPr sz="3000" b="1" i="0">
                <a:solidFill>
                  <a:srgbClr val="1A1A1A"/>
                </a:solidFill>
                <a:latin typeface="Calibri"/>
              </a:rPr>
              <a:t>Milan · same-source validation</a:t>
            </a:r>
          </a:p>
        </p:txBody>
      </p:sp>
      <p:sp>
        <p:nvSpPr>
          <p:cNvPr id="4" name="Rectangle 3"/>
          <p:cNvSpPr/>
          <p:nvPr/>
        </p:nvSpPr>
        <p:spPr>
          <a:xfrm>
            <a:off x="822960" y="3584448"/>
            <a:ext cx="3657600" cy="32004"/>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03904"/>
            <a:ext cx="8686800" cy="731520"/>
          </a:xfrm>
          <a:prstGeom prst="rect">
            <a:avLst/>
          </a:prstGeom>
          <a:noFill/>
        </p:spPr>
        <p:txBody>
          <a:bodyPr wrap="square">
            <a:spAutoFit/>
          </a:bodyPr>
          <a:lstStyle/>
          <a:p>
            <a:pPr algn="l">
              <a:lnSpc>
                <a:spcPct val="135000"/>
              </a:lnSpc>
            </a:pPr>
            <a:r>
              <a:rPr sz="1400" b="0" i="0">
                <a:solidFill>
                  <a:srgbClr val="6B6B6B"/>
                </a:solidFill>
                <a:latin typeface="Calibri"/>
              </a:rPr>
              <a:t>The wide margin against CLMS, and the mechanism behind it</a:t>
            </a:r>
          </a:p>
        </p:txBody>
      </p:sp>
      <p:sp>
        <p:nvSpPr>
          <p:cNvPr id="6" name="TextBox 5"/>
          <p:cNvSpPr txBox="1"/>
          <p:nvPr/>
        </p:nvSpPr>
        <p:spPr>
          <a:xfrm>
            <a:off x="822960" y="5577840"/>
            <a:ext cx="10881360" cy="822960"/>
          </a:xfrm>
          <a:prstGeom prst="rect">
            <a:avLst/>
          </a:prstGeom>
          <a:noFill/>
        </p:spPr>
        <p:txBody>
          <a:bodyPr wrap="square">
            <a:spAutoFit/>
          </a:bodyPr>
          <a:lstStyle/>
          <a:p>
            <a:pPr algn="l">
              <a:lnSpc>
                <a:spcPct val="125000"/>
              </a:lnSpc>
            </a:pPr>
            <a:r>
              <a:rPr sz="1000" b="0" i="0">
                <a:solidFill>
                  <a:srgbClr val="6B6B6B"/>
                </a:solidFill>
                <a:latin typeface="Calibri"/>
              </a:rPr>
              <a:t>1. Design and data · 2. Method · 3. Milan · same-source validation · 4. Vietnam · transfer · 5. Independent validation · 6. Why transfer fails · 7. Conclusions and limitations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MILAN · SAME-SOURCE</a:t>
            </a:r>
          </a:p>
        </p:txBody>
      </p:sp>
      <p:sp>
        <p:nvSpPr>
          <p:cNvPr id="3" name="TextBox 2"/>
          <p:cNvSpPr txBox="1"/>
          <p:nvPr/>
        </p:nvSpPr>
        <p:spPr>
          <a:xfrm>
            <a:off x="658368" y="548640"/>
            <a:ext cx="11533632" cy="537648"/>
          </a:xfrm>
          <a:prstGeom prst="rect">
            <a:avLst/>
          </a:prstGeom>
          <a:noFill/>
        </p:spPr>
        <p:txBody>
          <a:bodyPr wrap="square">
            <a:spAutoFit/>
          </a:bodyPr>
          <a:lstStyle/>
          <a:p>
            <a:pPr algn="l">
              <a:lnSpc>
                <a:spcPct val="125000"/>
              </a:lnSpc>
            </a:pPr>
            <a:r>
              <a:rPr sz="2500" b="1" i="0" dirty="0">
                <a:solidFill>
                  <a:srgbClr val="1A1A1A"/>
                </a:solidFill>
                <a:latin typeface="Calibri"/>
              </a:rPr>
              <a:t>Against CLMS, all three Sentinel-2 composites beat the embeddings</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Percentile reaches RMSE 9.462 against the embeddings' 14.123, a reduction of 33 %. The ordering is the same on RMSE, MAE and R², so it is not an artefact of one metric.</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milan_predictor_ranking.png"/>
          <p:cNvPicPr>
            <a:picLocks noChangeAspect="1"/>
          </p:cNvPicPr>
          <p:nvPr/>
        </p:nvPicPr>
        <p:blipFill>
          <a:blip r:embed="rId3"/>
          <a:stretch>
            <a:fillRect/>
          </a:stretch>
        </p:blipFill>
        <p:spPr>
          <a:xfrm>
            <a:off x="2340901" y="2048256"/>
            <a:ext cx="7516294" cy="2395728"/>
          </a:xfrm>
          <a:prstGeom prst="rect">
            <a:avLst/>
          </a:prstGeom>
        </p:spPr>
      </p:pic>
      <p:graphicFrame>
        <p:nvGraphicFramePr>
          <p:cNvPr id="7" name="Table 6"/>
          <p:cNvGraphicFramePr>
            <a:graphicFrameLocks noGrp="1"/>
          </p:cNvGraphicFramePr>
          <p:nvPr/>
        </p:nvGraphicFramePr>
        <p:xfrm>
          <a:off x="2121408" y="4754880"/>
          <a:ext cx="7955279" cy="1508760"/>
        </p:xfrm>
        <a:graphic>
          <a:graphicData uri="http://schemas.openxmlformats.org/drawingml/2006/table">
            <a:tbl>
              <a:tblPr firstRow="1" bandRow="1">
                <a:tableStyleId>{5C22544A-7EE6-4342-B048-85BDC9FD1C3A}</a:tableStyleId>
              </a:tblPr>
              <a:tblGrid>
                <a:gridCol w="1591055">
                  <a:extLst>
                    <a:ext uri="{9D8B030D-6E8A-4147-A177-3AD203B41FA5}">
                      <a16:colId xmlns:a16="http://schemas.microsoft.com/office/drawing/2014/main" val="20000"/>
                    </a:ext>
                  </a:extLst>
                </a:gridCol>
                <a:gridCol w="1591055">
                  <a:extLst>
                    <a:ext uri="{9D8B030D-6E8A-4147-A177-3AD203B41FA5}">
                      <a16:colId xmlns:a16="http://schemas.microsoft.com/office/drawing/2014/main" val="20001"/>
                    </a:ext>
                  </a:extLst>
                </a:gridCol>
                <a:gridCol w="1591055">
                  <a:extLst>
                    <a:ext uri="{9D8B030D-6E8A-4147-A177-3AD203B41FA5}">
                      <a16:colId xmlns:a16="http://schemas.microsoft.com/office/drawing/2014/main" val="20002"/>
                    </a:ext>
                  </a:extLst>
                </a:gridCol>
                <a:gridCol w="1591055">
                  <a:extLst>
                    <a:ext uri="{9D8B030D-6E8A-4147-A177-3AD203B41FA5}">
                      <a16:colId xmlns:a16="http://schemas.microsoft.com/office/drawing/2014/main" val="20003"/>
                    </a:ext>
                  </a:extLst>
                </a:gridCol>
                <a:gridCol w="1591059">
                  <a:extLst>
                    <a:ext uri="{9D8B030D-6E8A-4147-A177-3AD203B41FA5}">
                      <a16:colId xmlns:a16="http://schemas.microsoft.com/office/drawing/2014/main" val="20004"/>
                    </a:ext>
                  </a:extLst>
                </a:gridCol>
              </a:tblGrid>
              <a:tr h="274320">
                <a:tc>
                  <a:txBody>
                    <a:bodyPr/>
                    <a:lstStyle/>
                    <a:p>
                      <a:r>
                        <a:rPr sz="1050" b="1">
                          <a:solidFill>
                            <a:srgbClr val="FFFFFF"/>
                          </a:solidFill>
                          <a:latin typeface="Calibri"/>
                        </a:rPr>
                        <a:t>Predictor set</a:t>
                      </a:r>
                    </a:p>
                  </a:txBody>
                  <a:tcPr>
                    <a:solidFill>
                      <a:srgbClr val="1A1A1A"/>
                    </a:solidFill>
                  </a:tcPr>
                </a:tc>
                <a:tc>
                  <a:txBody>
                    <a:bodyPr/>
                    <a:lstStyle/>
                    <a:p>
                      <a:r>
                        <a:rPr sz="1050" b="1">
                          <a:solidFill>
                            <a:srgbClr val="FFFFFF"/>
                          </a:solidFill>
                          <a:latin typeface="Calibri"/>
                        </a:rPr>
                        <a:t>RMSE</a:t>
                      </a:r>
                    </a:p>
                  </a:txBody>
                  <a:tcPr>
                    <a:solidFill>
                      <a:srgbClr val="1A1A1A"/>
                    </a:solidFill>
                  </a:tcPr>
                </a:tc>
                <a:tc>
                  <a:txBody>
                    <a:bodyPr/>
                    <a:lstStyle/>
                    <a:p>
                      <a:r>
                        <a:rPr sz="1050" b="1">
                          <a:solidFill>
                            <a:srgbClr val="FFFFFF"/>
                          </a:solidFill>
                          <a:latin typeface="Calibri"/>
                        </a:rPr>
                        <a:t>MAE</a:t>
                      </a:r>
                    </a:p>
                  </a:txBody>
                  <a:tcPr>
                    <a:solidFill>
                      <a:srgbClr val="1A1A1A"/>
                    </a:solidFill>
                  </a:tcPr>
                </a:tc>
                <a:tc>
                  <a:txBody>
                    <a:bodyPr/>
                    <a:lstStyle/>
                    <a:p>
                      <a:r>
                        <a:rPr sz="1050" b="1">
                          <a:solidFill>
                            <a:srgbClr val="FFFFFF"/>
                          </a:solidFill>
                          <a:latin typeface="Calibri"/>
                        </a:rPr>
                        <a:t>R²</a:t>
                      </a:r>
                    </a:p>
                  </a:txBody>
                  <a:tcPr>
                    <a:solidFill>
                      <a:srgbClr val="1A1A1A"/>
                    </a:solidFill>
                  </a:tcPr>
                </a:tc>
                <a:tc>
                  <a:txBody>
                    <a:bodyPr/>
                    <a:lstStyle/>
                    <a:p>
                      <a:r>
                        <a:rPr sz="1050" b="1">
                          <a:solidFill>
                            <a:srgbClr val="FFFFFF"/>
                          </a:solidFill>
                          <a:latin typeface="Calibri"/>
                        </a:rPr>
                        <a:t>Bias</a:t>
                      </a:r>
                    </a:p>
                  </a:txBody>
                  <a:tcPr>
                    <a:solidFill>
                      <a:srgbClr val="1A1A1A"/>
                    </a:solidFill>
                  </a:tcPr>
                </a:tc>
                <a:extLst>
                  <a:ext uri="{0D108BD9-81ED-4DB2-BD59-A6C34878D82A}">
                    <a16:rowId xmlns:a16="http://schemas.microsoft.com/office/drawing/2014/main" val="10000"/>
                  </a:ext>
                </a:extLst>
              </a:tr>
              <a:tr h="274320">
                <a:tc>
                  <a:txBody>
                    <a:bodyPr/>
                    <a:lstStyle/>
                    <a:p>
                      <a:r>
                        <a:rPr sz="1050" b="1">
                          <a:solidFill>
                            <a:srgbClr val="0B6E4F"/>
                          </a:solidFill>
                          <a:latin typeface="Calibri"/>
                        </a:rPr>
                        <a:t>S2 percentile (50 bands)</a:t>
                      </a:r>
                    </a:p>
                  </a:txBody>
                  <a:tcPr>
                    <a:solidFill>
                      <a:srgbClr val="ECF4F0"/>
                    </a:solidFill>
                  </a:tcPr>
                </a:tc>
                <a:tc>
                  <a:txBody>
                    <a:bodyPr/>
                    <a:lstStyle/>
                    <a:p>
                      <a:r>
                        <a:rPr sz="1050" b="1">
                          <a:solidFill>
                            <a:srgbClr val="0B6E4F"/>
                          </a:solidFill>
                          <a:latin typeface="Calibri"/>
                        </a:rPr>
                        <a:t>9.462</a:t>
                      </a:r>
                    </a:p>
                  </a:txBody>
                  <a:tcPr>
                    <a:solidFill>
                      <a:srgbClr val="ECF4F0"/>
                    </a:solidFill>
                  </a:tcPr>
                </a:tc>
                <a:tc>
                  <a:txBody>
                    <a:bodyPr/>
                    <a:lstStyle/>
                    <a:p>
                      <a:r>
                        <a:rPr sz="1050" b="1">
                          <a:solidFill>
                            <a:srgbClr val="0B6E4F"/>
                          </a:solidFill>
                          <a:latin typeface="Calibri"/>
                        </a:rPr>
                        <a:t>6.389</a:t>
                      </a:r>
                    </a:p>
                  </a:txBody>
                  <a:tcPr>
                    <a:solidFill>
                      <a:srgbClr val="ECF4F0"/>
                    </a:solidFill>
                  </a:tcPr>
                </a:tc>
                <a:tc>
                  <a:txBody>
                    <a:bodyPr/>
                    <a:lstStyle/>
                    <a:p>
                      <a:r>
                        <a:rPr sz="1050" b="1">
                          <a:solidFill>
                            <a:srgbClr val="0B6E4F"/>
                          </a:solidFill>
                          <a:latin typeface="Calibri"/>
                        </a:rPr>
                        <a:t>0.927</a:t>
                      </a:r>
                    </a:p>
                  </a:txBody>
                  <a:tcPr>
                    <a:solidFill>
                      <a:srgbClr val="ECF4F0"/>
                    </a:solidFill>
                  </a:tcPr>
                </a:tc>
                <a:tc>
                  <a:txBody>
                    <a:bodyPr/>
                    <a:lstStyle/>
                    <a:p>
                      <a:r>
                        <a:rPr sz="1050" b="1">
                          <a:solidFill>
                            <a:srgbClr val="0B6E4F"/>
                          </a:solidFill>
                          <a:latin typeface="Calibri"/>
                        </a:rPr>
                        <a:t>−0.104</a:t>
                      </a:r>
                    </a:p>
                  </a:txBody>
                  <a:tcPr>
                    <a:solidFill>
                      <a:srgbClr val="ECF4F0"/>
                    </a:solidFill>
                  </a:tcPr>
                </a:tc>
                <a:extLst>
                  <a:ext uri="{0D108BD9-81ED-4DB2-BD59-A6C34878D82A}">
                    <a16:rowId xmlns:a16="http://schemas.microsoft.com/office/drawing/2014/main" val="10001"/>
                  </a:ext>
                </a:extLst>
              </a:tr>
              <a:tr h="274320">
                <a:tc>
                  <a:txBody>
                    <a:bodyPr/>
                    <a:lstStyle/>
                    <a:p>
                      <a:r>
                        <a:rPr sz="1050" b="0">
                          <a:solidFill>
                            <a:srgbClr val="1A1A1A"/>
                          </a:solidFill>
                          <a:latin typeface="Calibri"/>
                        </a:rPr>
                        <a:t>S2 stack (40 bands)</a:t>
                      </a:r>
                    </a:p>
                  </a:txBody>
                  <a:tcPr>
                    <a:solidFill>
                      <a:srgbClr val="F7F7F7"/>
                    </a:solidFill>
                  </a:tcPr>
                </a:tc>
                <a:tc>
                  <a:txBody>
                    <a:bodyPr/>
                    <a:lstStyle/>
                    <a:p>
                      <a:r>
                        <a:rPr sz="1050" b="0">
                          <a:solidFill>
                            <a:srgbClr val="1A1A1A"/>
                          </a:solidFill>
                          <a:latin typeface="Calibri"/>
                        </a:rPr>
                        <a:t>10.864</a:t>
                      </a:r>
                    </a:p>
                  </a:txBody>
                  <a:tcPr>
                    <a:solidFill>
                      <a:srgbClr val="F7F7F7"/>
                    </a:solidFill>
                  </a:tcPr>
                </a:tc>
                <a:tc>
                  <a:txBody>
                    <a:bodyPr/>
                    <a:lstStyle/>
                    <a:p>
                      <a:r>
                        <a:rPr sz="1050" b="0">
                          <a:solidFill>
                            <a:srgbClr val="1A1A1A"/>
                          </a:solidFill>
                          <a:latin typeface="Calibri"/>
                        </a:rPr>
                        <a:t>7.641</a:t>
                      </a:r>
                    </a:p>
                  </a:txBody>
                  <a:tcPr>
                    <a:solidFill>
                      <a:srgbClr val="F7F7F7"/>
                    </a:solidFill>
                  </a:tcPr>
                </a:tc>
                <a:tc>
                  <a:txBody>
                    <a:bodyPr/>
                    <a:lstStyle/>
                    <a:p>
                      <a:r>
                        <a:rPr sz="1050" b="0">
                          <a:solidFill>
                            <a:srgbClr val="1A1A1A"/>
                          </a:solidFill>
                          <a:latin typeface="Calibri"/>
                        </a:rPr>
                        <a:t>0.904</a:t>
                      </a:r>
                    </a:p>
                  </a:txBody>
                  <a:tcPr>
                    <a:solidFill>
                      <a:srgbClr val="F7F7F7"/>
                    </a:solidFill>
                  </a:tcPr>
                </a:tc>
                <a:tc>
                  <a:txBody>
                    <a:bodyPr/>
                    <a:lstStyle/>
                    <a:p>
                      <a:r>
                        <a:rPr sz="1050" b="0">
                          <a:solidFill>
                            <a:srgbClr val="1A1A1A"/>
                          </a:solidFill>
                          <a:latin typeface="Calibri"/>
                        </a:rPr>
                        <a:t>−0.169</a:t>
                      </a:r>
                    </a:p>
                  </a:txBody>
                  <a:tcPr>
                    <a:solidFill>
                      <a:srgbClr val="F7F7F7"/>
                    </a:solidFill>
                  </a:tcPr>
                </a:tc>
                <a:extLst>
                  <a:ext uri="{0D108BD9-81ED-4DB2-BD59-A6C34878D82A}">
                    <a16:rowId xmlns:a16="http://schemas.microsoft.com/office/drawing/2014/main" val="10002"/>
                  </a:ext>
                </a:extLst>
              </a:tr>
              <a:tr h="274320">
                <a:tc>
                  <a:txBody>
                    <a:bodyPr/>
                    <a:lstStyle/>
                    <a:p>
                      <a:r>
                        <a:rPr sz="1050" b="0">
                          <a:solidFill>
                            <a:srgbClr val="1A1A1A"/>
                          </a:solidFill>
                          <a:latin typeface="Calibri"/>
                        </a:rPr>
                        <a:t>S2 median (10 bands)</a:t>
                      </a:r>
                    </a:p>
                  </a:txBody>
                  <a:tcPr>
                    <a:solidFill>
                      <a:srgbClr val="FFFFFF"/>
                    </a:solidFill>
                  </a:tcPr>
                </a:tc>
                <a:tc>
                  <a:txBody>
                    <a:bodyPr/>
                    <a:lstStyle/>
                    <a:p>
                      <a:r>
                        <a:rPr sz="1050" b="0">
                          <a:solidFill>
                            <a:srgbClr val="1A1A1A"/>
                          </a:solidFill>
                          <a:latin typeface="Calibri"/>
                        </a:rPr>
                        <a:t>11.285</a:t>
                      </a:r>
                    </a:p>
                  </a:txBody>
                  <a:tcPr>
                    <a:solidFill>
                      <a:srgbClr val="FFFFFF"/>
                    </a:solidFill>
                  </a:tcPr>
                </a:tc>
                <a:tc>
                  <a:txBody>
                    <a:bodyPr/>
                    <a:lstStyle/>
                    <a:p>
                      <a:r>
                        <a:rPr sz="1050" b="0">
                          <a:solidFill>
                            <a:srgbClr val="1A1A1A"/>
                          </a:solidFill>
                          <a:latin typeface="Calibri"/>
                        </a:rPr>
                        <a:t>7.820</a:t>
                      </a:r>
                    </a:p>
                  </a:txBody>
                  <a:tcPr>
                    <a:solidFill>
                      <a:srgbClr val="FFFFFF"/>
                    </a:solidFill>
                  </a:tcPr>
                </a:tc>
                <a:tc>
                  <a:txBody>
                    <a:bodyPr/>
                    <a:lstStyle/>
                    <a:p>
                      <a:r>
                        <a:rPr sz="1050" b="0">
                          <a:solidFill>
                            <a:srgbClr val="1A1A1A"/>
                          </a:solidFill>
                          <a:latin typeface="Calibri"/>
                        </a:rPr>
                        <a:t>0.896</a:t>
                      </a:r>
                    </a:p>
                  </a:txBody>
                  <a:tcPr>
                    <a:solidFill>
                      <a:srgbClr val="FFFFFF"/>
                    </a:solidFill>
                  </a:tcPr>
                </a:tc>
                <a:tc>
                  <a:txBody>
                    <a:bodyPr/>
                    <a:lstStyle/>
                    <a:p>
                      <a:r>
                        <a:rPr sz="1050" b="0">
                          <a:solidFill>
                            <a:srgbClr val="1A1A1A"/>
                          </a:solidFill>
                          <a:latin typeface="Calibri"/>
                        </a:rPr>
                        <a:t>0.046</a:t>
                      </a:r>
                    </a:p>
                  </a:txBody>
                  <a:tcPr>
                    <a:solidFill>
                      <a:srgbClr val="FFFFFF"/>
                    </a:solidFill>
                  </a:tcPr>
                </a:tc>
                <a:extLst>
                  <a:ext uri="{0D108BD9-81ED-4DB2-BD59-A6C34878D82A}">
                    <a16:rowId xmlns:a16="http://schemas.microsoft.com/office/drawing/2014/main" val="10003"/>
                  </a:ext>
                </a:extLst>
              </a:tr>
              <a:tr h="274320">
                <a:tc>
                  <a:txBody>
                    <a:bodyPr/>
                    <a:lstStyle/>
                    <a:p>
                      <a:r>
                        <a:rPr sz="1050" b="0">
                          <a:solidFill>
                            <a:srgbClr val="1A1A1A"/>
                          </a:solidFill>
                          <a:latin typeface="Calibri"/>
                        </a:rPr>
                        <a:t>AlphaEarth embeddings (64 bands)</a:t>
                      </a:r>
                    </a:p>
                  </a:txBody>
                  <a:tcPr>
                    <a:solidFill>
                      <a:srgbClr val="F7F7F7"/>
                    </a:solidFill>
                  </a:tcPr>
                </a:tc>
                <a:tc>
                  <a:txBody>
                    <a:bodyPr/>
                    <a:lstStyle/>
                    <a:p>
                      <a:r>
                        <a:rPr sz="1050" b="0">
                          <a:solidFill>
                            <a:srgbClr val="1A1A1A"/>
                          </a:solidFill>
                          <a:latin typeface="Calibri"/>
                        </a:rPr>
                        <a:t>14.123</a:t>
                      </a:r>
                    </a:p>
                  </a:txBody>
                  <a:tcPr>
                    <a:solidFill>
                      <a:srgbClr val="F7F7F7"/>
                    </a:solidFill>
                  </a:tcPr>
                </a:tc>
                <a:tc>
                  <a:txBody>
                    <a:bodyPr/>
                    <a:lstStyle/>
                    <a:p>
                      <a:r>
                        <a:rPr sz="1050" b="0">
                          <a:solidFill>
                            <a:srgbClr val="1A1A1A"/>
                          </a:solidFill>
                          <a:latin typeface="Calibri"/>
                        </a:rPr>
                        <a:t>10.675</a:t>
                      </a:r>
                    </a:p>
                  </a:txBody>
                  <a:tcPr>
                    <a:solidFill>
                      <a:srgbClr val="F7F7F7"/>
                    </a:solidFill>
                  </a:tcPr>
                </a:tc>
                <a:tc>
                  <a:txBody>
                    <a:bodyPr/>
                    <a:lstStyle/>
                    <a:p>
                      <a:r>
                        <a:rPr sz="1050" b="0">
                          <a:solidFill>
                            <a:srgbClr val="1A1A1A"/>
                          </a:solidFill>
                          <a:latin typeface="Calibri"/>
                        </a:rPr>
                        <a:t>0.837</a:t>
                      </a:r>
                    </a:p>
                  </a:txBody>
                  <a:tcPr>
                    <a:solidFill>
                      <a:srgbClr val="F7F7F7"/>
                    </a:solidFill>
                  </a:tcPr>
                </a:tc>
                <a:tc>
                  <a:txBody>
                    <a:bodyPr/>
                    <a:lstStyle/>
                    <a:p>
                      <a:r>
                        <a:rPr sz="1050" b="0">
                          <a:solidFill>
                            <a:srgbClr val="1A1A1A"/>
                          </a:solidFill>
                          <a:latin typeface="Calibri"/>
                        </a:rPr>
                        <a:t>0.624</a:t>
                      </a:r>
                    </a:p>
                  </a:txBody>
                  <a:tcPr>
                    <a:solidFill>
                      <a:srgbClr val="F7F7F7"/>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GEE random forest, 1 014-point spatial holdout. The SVR rows run in the same order: 9.051 / 10.219 / 10.939 / 14.756.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MILAN · SAME-SOURCE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Observed against predicted on the holdout, both estimators</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S2 percentile composite, 1 014-point spatial holdout, scored against CLMS.</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07_holdout_scatter.png"/>
          <p:cNvPicPr>
            <a:picLocks noChangeAspect="1"/>
          </p:cNvPicPr>
          <p:nvPr/>
        </p:nvPicPr>
        <p:blipFill>
          <a:blip r:embed="rId3"/>
          <a:stretch>
            <a:fillRect/>
          </a:stretch>
        </p:blipFill>
        <p:spPr>
          <a:xfrm>
            <a:off x="2337100" y="2066544"/>
            <a:ext cx="7523895" cy="38404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MILAN · SAME-SOURCE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RMSE, MAE and bias per IMD class, percentile composite</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GEE random forest, scored against CLMS on the 1 014-point holdout.</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C_perclass_GEE_RF.png"/>
          <p:cNvPicPr>
            <a:picLocks noChangeAspect="1"/>
          </p:cNvPicPr>
          <p:nvPr/>
        </p:nvPicPr>
        <p:blipFill>
          <a:blip r:embed="rId3"/>
          <a:stretch>
            <a:fillRect/>
          </a:stretch>
        </p:blipFill>
        <p:spPr>
          <a:xfrm>
            <a:off x="658368" y="2066544"/>
            <a:ext cx="10881360" cy="34856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MILAN · SAME-SOURCE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The disagreement with CLMS is structured and two-sided</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Observed CLMS, the predicted map and their difference, percentile composite. Positive difference means the model reads more impervious than CLMS.</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milan_raster_comparison.png"/>
          <p:cNvPicPr>
            <a:picLocks noChangeAspect="1"/>
          </p:cNvPicPr>
          <p:nvPr/>
        </p:nvPicPr>
        <p:blipFill>
          <a:blip r:embed="rId3"/>
          <a:stretch>
            <a:fillRect/>
          </a:stretch>
        </p:blipFill>
        <p:spPr>
          <a:xfrm>
            <a:off x="3757952" y="2066544"/>
            <a:ext cx="4682192" cy="3703320"/>
          </a:xfrm>
          <a:prstGeom prst="rect">
            <a:avLst/>
          </a:prstGeom>
        </p:spPr>
      </p:pic>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Qualitative support only: this whole-scene view is not the 1 014-point holdout, and no number is quoted from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MILAN · MECHANISM</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The advantage is interpretable: it comes from the quantiles a median discards</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Four of the top five bands are low percentiles of red or high percentiles of near infrared. B4_p25 alone carries more than three times the permutation importance of the next band.</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D_importance_RF.png"/>
          <p:cNvPicPr>
            <a:picLocks noChangeAspect="1"/>
          </p:cNvPicPr>
          <p:nvPr/>
        </p:nvPicPr>
        <p:blipFill>
          <a:blip r:embed="rId3"/>
          <a:stretch>
            <a:fillRect/>
          </a:stretch>
        </p:blipFill>
        <p:spPr>
          <a:xfrm>
            <a:off x="2473786" y="2048256"/>
            <a:ext cx="7250524" cy="2331720"/>
          </a:xfrm>
          <a:prstGeom prst="rect">
            <a:avLst/>
          </a:prstGeom>
        </p:spPr>
      </p:pic>
      <p:graphicFrame>
        <p:nvGraphicFramePr>
          <p:cNvPr id="7" name="Table 6"/>
          <p:cNvGraphicFramePr>
            <a:graphicFrameLocks noGrp="1"/>
          </p:cNvGraphicFramePr>
          <p:nvPr/>
        </p:nvGraphicFramePr>
        <p:xfrm>
          <a:off x="2852928" y="4681728"/>
          <a:ext cx="6492240" cy="1645920"/>
        </p:xfrm>
        <a:graphic>
          <a:graphicData uri="http://schemas.openxmlformats.org/drawingml/2006/table">
            <a:tbl>
              <a:tblPr firstRow="1" bandRow="1">
                <a:tableStyleId>{5C22544A-7EE6-4342-B048-85BDC9FD1C3A}</a:tableStyleId>
              </a:tblPr>
              <a:tblGrid>
                <a:gridCol w="1623060">
                  <a:extLst>
                    <a:ext uri="{9D8B030D-6E8A-4147-A177-3AD203B41FA5}">
                      <a16:colId xmlns:a16="http://schemas.microsoft.com/office/drawing/2014/main" val="20000"/>
                    </a:ext>
                  </a:extLst>
                </a:gridCol>
                <a:gridCol w="1623060">
                  <a:extLst>
                    <a:ext uri="{9D8B030D-6E8A-4147-A177-3AD203B41FA5}">
                      <a16:colId xmlns:a16="http://schemas.microsoft.com/office/drawing/2014/main" val="20001"/>
                    </a:ext>
                  </a:extLst>
                </a:gridCol>
                <a:gridCol w="1623060">
                  <a:extLst>
                    <a:ext uri="{9D8B030D-6E8A-4147-A177-3AD203B41FA5}">
                      <a16:colId xmlns:a16="http://schemas.microsoft.com/office/drawing/2014/main" val="20002"/>
                    </a:ext>
                  </a:extLst>
                </a:gridCol>
                <a:gridCol w="1623060">
                  <a:extLst>
                    <a:ext uri="{9D8B030D-6E8A-4147-A177-3AD203B41FA5}">
                      <a16:colId xmlns:a16="http://schemas.microsoft.com/office/drawing/2014/main" val="20003"/>
                    </a:ext>
                  </a:extLst>
                </a:gridCol>
              </a:tblGrid>
              <a:tr h="274320">
                <a:tc>
                  <a:txBody>
                    <a:bodyPr/>
                    <a:lstStyle/>
                    <a:p>
                      <a:r>
                        <a:rPr sz="1050" b="1">
                          <a:solidFill>
                            <a:srgbClr val="FFFFFF"/>
                          </a:solidFill>
                          <a:latin typeface="Calibri"/>
                        </a:rPr>
                        <a:t>Rank</a:t>
                      </a:r>
                    </a:p>
                  </a:txBody>
                  <a:tcPr>
                    <a:solidFill>
                      <a:srgbClr val="1A1A1A"/>
                    </a:solidFill>
                  </a:tcPr>
                </a:tc>
                <a:tc>
                  <a:txBody>
                    <a:bodyPr/>
                    <a:lstStyle/>
                    <a:p>
                      <a:r>
                        <a:rPr sz="1050" b="1">
                          <a:solidFill>
                            <a:srgbClr val="FFFFFF"/>
                          </a:solidFill>
                          <a:latin typeface="Calibri"/>
                        </a:rPr>
                        <a:t>Band</a:t>
                      </a:r>
                    </a:p>
                  </a:txBody>
                  <a:tcPr>
                    <a:solidFill>
                      <a:srgbClr val="1A1A1A"/>
                    </a:solidFill>
                  </a:tcPr>
                </a:tc>
                <a:tc>
                  <a:txBody>
                    <a:bodyPr/>
                    <a:lstStyle/>
                    <a:p>
                      <a:r>
                        <a:rPr sz="1050" b="1">
                          <a:solidFill>
                            <a:srgbClr val="FFFFFF"/>
                          </a:solidFill>
                          <a:latin typeface="Calibri"/>
                        </a:rPr>
                        <a:t>Permutation importance</a:t>
                      </a:r>
                    </a:p>
                  </a:txBody>
                  <a:tcPr>
                    <a:solidFill>
                      <a:srgbClr val="1A1A1A"/>
                    </a:solidFill>
                  </a:tcPr>
                </a:tc>
                <a:tc>
                  <a:txBody>
                    <a:bodyPr/>
                    <a:lstStyle/>
                    <a:p>
                      <a:r>
                        <a:rPr sz="1050" b="1">
                          <a:solidFill>
                            <a:srgbClr val="FFFFFF"/>
                          </a:solidFill>
                          <a:latin typeface="Calibri"/>
                        </a:rPr>
                        <a:t>Impurity importance</a:t>
                      </a:r>
                    </a:p>
                  </a:txBody>
                  <a:tcPr>
                    <a:solidFill>
                      <a:srgbClr val="1A1A1A"/>
                    </a:solidFill>
                  </a:tcPr>
                </a:tc>
                <a:extLst>
                  <a:ext uri="{0D108BD9-81ED-4DB2-BD59-A6C34878D82A}">
                    <a16:rowId xmlns:a16="http://schemas.microsoft.com/office/drawing/2014/main" val="10000"/>
                  </a:ext>
                </a:extLst>
              </a:tr>
              <a:tr h="274320">
                <a:tc>
                  <a:txBody>
                    <a:bodyPr/>
                    <a:lstStyle/>
                    <a:p>
                      <a:r>
                        <a:rPr sz="1050" b="1">
                          <a:solidFill>
                            <a:srgbClr val="0B6E4F"/>
                          </a:solidFill>
                          <a:latin typeface="Calibri"/>
                        </a:rPr>
                        <a:t>1</a:t>
                      </a:r>
                    </a:p>
                  </a:txBody>
                  <a:tcPr>
                    <a:solidFill>
                      <a:srgbClr val="ECF4F0"/>
                    </a:solidFill>
                  </a:tcPr>
                </a:tc>
                <a:tc>
                  <a:txBody>
                    <a:bodyPr/>
                    <a:lstStyle/>
                    <a:p>
                      <a:r>
                        <a:rPr sz="1050" b="1">
                          <a:solidFill>
                            <a:srgbClr val="0B6E4F"/>
                          </a:solidFill>
                          <a:latin typeface="Calibri"/>
                        </a:rPr>
                        <a:t>B4_p25</a:t>
                      </a:r>
                    </a:p>
                  </a:txBody>
                  <a:tcPr>
                    <a:solidFill>
                      <a:srgbClr val="ECF4F0"/>
                    </a:solidFill>
                  </a:tcPr>
                </a:tc>
                <a:tc>
                  <a:txBody>
                    <a:bodyPr/>
                    <a:lstStyle/>
                    <a:p>
                      <a:r>
                        <a:rPr sz="1050" b="1">
                          <a:solidFill>
                            <a:srgbClr val="0B6E4F"/>
                          </a:solidFill>
                          <a:latin typeface="Calibri"/>
                        </a:rPr>
                        <a:t>0.1812</a:t>
                      </a:r>
                    </a:p>
                  </a:txBody>
                  <a:tcPr>
                    <a:solidFill>
                      <a:srgbClr val="ECF4F0"/>
                    </a:solidFill>
                  </a:tcPr>
                </a:tc>
                <a:tc>
                  <a:txBody>
                    <a:bodyPr/>
                    <a:lstStyle/>
                    <a:p>
                      <a:r>
                        <a:rPr sz="1050" b="1">
                          <a:solidFill>
                            <a:srgbClr val="0B6E4F"/>
                          </a:solidFill>
                          <a:latin typeface="Calibri"/>
                        </a:rPr>
                        <a:t>0.3518</a:t>
                      </a:r>
                    </a:p>
                  </a:txBody>
                  <a:tcPr>
                    <a:solidFill>
                      <a:srgbClr val="ECF4F0"/>
                    </a:solidFill>
                  </a:tcPr>
                </a:tc>
                <a:extLst>
                  <a:ext uri="{0D108BD9-81ED-4DB2-BD59-A6C34878D82A}">
                    <a16:rowId xmlns:a16="http://schemas.microsoft.com/office/drawing/2014/main" val="10001"/>
                  </a:ext>
                </a:extLst>
              </a:tr>
              <a:tr h="274320">
                <a:tc>
                  <a:txBody>
                    <a:bodyPr/>
                    <a:lstStyle/>
                    <a:p>
                      <a:r>
                        <a:rPr sz="1050" b="0">
                          <a:solidFill>
                            <a:srgbClr val="1A1A1A"/>
                          </a:solidFill>
                          <a:latin typeface="Calibri"/>
                        </a:rPr>
                        <a:t>2</a:t>
                      </a:r>
                    </a:p>
                  </a:txBody>
                  <a:tcPr>
                    <a:solidFill>
                      <a:srgbClr val="F7F7F7"/>
                    </a:solidFill>
                  </a:tcPr>
                </a:tc>
                <a:tc>
                  <a:txBody>
                    <a:bodyPr/>
                    <a:lstStyle/>
                    <a:p>
                      <a:r>
                        <a:rPr sz="1050" b="0">
                          <a:solidFill>
                            <a:srgbClr val="1A1A1A"/>
                          </a:solidFill>
                          <a:latin typeface="Calibri"/>
                        </a:rPr>
                        <a:t>B4_p10</a:t>
                      </a:r>
                    </a:p>
                  </a:txBody>
                  <a:tcPr>
                    <a:solidFill>
                      <a:srgbClr val="F7F7F7"/>
                    </a:solidFill>
                  </a:tcPr>
                </a:tc>
                <a:tc>
                  <a:txBody>
                    <a:bodyPr/>
                    <a:lstStyle/>
                    <a:p>
                      <a:r>
                        <a:rPr sz="1050" b="0">
                          <a:solidFill>
                            <a:srgbClr val="1A1A1A"/>
                          </a:solidFill>
                          <a:latin typeface="Calibri"/>
                        </a:rPr>
                        <a:t>0.0556</a:t>
                      </a:r>
                    </a:p>
                  </a:txBody>
                  <a:tcPr>
                    <a:solidFill>
                      <a:srgbClr val="F7F7F7"/>
                    </a:solidFill>
                  </a:tcPr>
                </a:tc>
                <a:tc>
                  <a:txBody>
                    <a:bodyPr/>
                    <a:lstStyle/>
                    <a:p>
                      <a:r>
                        <a:rPr sz="1050" b="0">
                          <a:solidFill>
                            <a:srgbClr val="1A1A1A"/>
                          </a:solidFill>
                          <a:latin typeface="Calibri"/>
                        </a:rPr>
                        <a:t>0.1163</a:t>
                      </a:r>
                    </a:p>
                  </a:txBody>
                  <a:tcPr>
                    <a:solidFill>
                      <a:srgbClr val="F7F7F7"/>
                    </a:solidFill>
                  </a:tcPr>
                </a:tc>
                <a:extLst>
                  <a:ext uri="{0D108BD9-81ED-4DB2-BD59-A6C34878D82A}">
                    <a16:rowId xmlns:a16="http://schemas.microsoft.com/office/drawing/2014/main" val="10002"/>
                  </a:ext>
                </a:extLst>
              </a:tr>
              <a:tr h="274320">
                <a:tc>
                  <a:txBody>
                    <a:bodyPr/>
                    <a:lstStyle/>
                    <a:p>
                      <a:r>
                        <a:rPr sz="1050" b="0">
                          <a:solidFill>
                            <a:srgbClr val="1A1A1A"/>
                          </a:solidFill>
                          <a:latin typeface="Calibri"/>
                        </a:rPr>
                        <a:t>3</a:t>
                      </a:r>
                    </a:p>
                  </a:txBody>
                  <a:tcPr>
                    <a:solidFill>
                      <a:srgbClr val="FFFFFF"/>
                    </a:solidFill>
                  </a:tcPr>
                </a:tc>
                <a:tc>
                  <a:txBody>
                    <a:bodyPr/>
                    <a:lstStyle/>
                    <a:p>
                      <a:r>
                        <a:rPr sz="1050" b="0">
                          <a:solidFill>
                            <a:srgbClr val="1A1A1A"/>
                          </a:solidFill>
                          <a:latin typeface="Calibri"/>
                        </a:rPr>
                        <a:t>B8_p90</a:t>
                      </a:r>
                    </a:p>
                  </a:txBody>
                  <a:tcPr>
                    <a:solidFill>
                      <a:srgbClr val="FFFFFF"/>
                    </a:solidFill>
                  </a:tcPr>
                </a:tc>
                <a:tc>
                  <a:txBody>
                    <a:bodyPr/>
                    <a:lstStyle/>
                    <a:p>
                      <a:r>
                        <a:rPr sz="1050" b="0">
                          <a:solidFill>
                            <a:srgbClr val="1A1A1A"/>
                          </a:solidFill>
                          <a:latin typeface="Calibri"/>
                        </a:rPr>
                        <a:t>0.0401</a:t>
                      </a:r>
                    </a:p>
                  </a:txBody>
                  <a:tcPr>
                    <a:solidFill>
                      <a:srgbClr val="FFFFFF"/>
                    </a:solidFill>
                  </a:tcPr>
                </a:tc>
                <a:tc>
                  <a:txBody>
                    <a:bodyPr/>
                    <a:lstStyle/>
                    <a:p>
                      <a:r>
                        <a:rPr sz="1050" b="0">
                          <a:solidFill>
                            <a:srgbClr val="1A1A1A"/>
                          </a:solidFill>
                          <a:latin typeface="Calibri"/>
                        </a:rPr>
                        <a:t>0.0664</a:t>
                      </a:r>
                    </a:p>
                  </a:txBody>
                  <a:tcPr>
                    <a:solidFill>
                      <a:srgbClr val="FFFFFF"/>
                    </a:solidFill>
                  </a:tcPr>
                </a:tc>
                <a:extLst>
                  <a:ext uri="{0D108BD9-81ED-4DB2-BD59-A6C34878D82A}">
                    <a16:rowId xmlns:a16="http://schemas.microsoft.com/office/drawing/2014/main" val="10003"/>
                  </a:ext>
                </a:extLst>
              </a:tr>
              <a:tr h="274320">
                <a:tc>
                  <a:txBody>
                    <a:bodyPr/>
                    <a:lstStyle/>
                    <a:p>
                      <a:r>
                        <a:rPr sz="1050" b="0">
                          <a:solidFill>
                            <a:srgbClr val="1A1A1A"/>
                          </a:solidFill>
                          <a:latin typeface="Calibri"/>
                        </a:rPr>
                        <a:t>4</a:t>
                      </a:r>
                    </a:p>
                  </a:txBody>
                  <a:tcPr>
                    <a:solidFill>
                      <a:srgbClr val="F7F7F7"/>
                    </a:solidFill>
                  </a:tcPr>
                </a:tc>
                <a:tc>
                  <a:txBody>
                    <a:bodyPr/>
                    <a:lstStyle/>
                    <a:p>
                      <a:r>
                        <a:rPr sz="1050" b="0">
                          <a:solidFill>
                            <a:srgbClr val="1A1A1A"/>
                          </a:solidFill>
                          <a:latin typeface="Calibri"/>
                        </a:rPr>
                        <a:t>B4_p50</a:t>
                      </a:r>
                    </a:p>
                  </a:txBody>
                  <a:tcPr>
                    <a:solidFill>
                      <a:srgbClr val="F7F7F7"/>
                    </a:solidFill>
                  </a:tcPr>
                </a:tc>
                <a:tc>
                  <a:txBody>
                    <a:bodyPr/>
                    <a:lstStyle/>
                    <a:p>
                      <a:r>
                        <a:rPr sz="1050" b="0">
                          <a:solidFill>
                            <a:srgbClr val="1A1A1A"/>
                          </a:solidFill>
                          <a:latin typeface="Calibri"/>
                        </a:rPr>
                        <a:t>0.0225</a:t>
                      </a:r>
                    </a:p>
                  </a:txBody>
                  <a:tcPr>
                    <a:solidFill>
                      <a:srgbClr val="F7F7F7"/>
                    </a:solidFill>
                  </a:tcPr>
                </a:tc>
                <a:tc>
                  <a:txBody>
                    <a:bodyPr/>
                    <a:lstStyle/>
                    <a:p>
                      <a:r>
                        <a:rPr sz="1050" b="0">
                          <a:solidFill>
                            <a:srgbClr val="1A1A1A"/>
                          </a:solidFill>
                          <a:latin typeface="Calibri"/>
                        </a:rPr>
                        <a:t>0.0751</a:t>
                      </a:r>
                    </a:p>
                  </a:txBody>
                  <a:tcPr>
                    <a:solidFill>
                      <a:srgbClr val="F7F7F7"/>
                    </a:solidFill>
                  </a:tcPr>
                </a:tc>
                <a:extLst>
                  <a:ext uri="{0D108BD9-81ED-4DB2-BD59-A6C34878D82A}">
                    <a16:rowId xmlns:a16="http://schemas.microsoft.com/office/drawing/2014/main" val="10004"/>
                  </a:ext>
                </a:extLst>
              </a:tr>
              <a:tr h="274320">
                <a:tc>
                  <a:txBody>
                    <a:bodyPr/>
                    <a:lstStyle/>
                    <a:p>
                      <a:r>
                        <a:rPr sz="1050" b="0">
                          <a:solidFill>
                            <a:srgbClr val="1A1A1A"/>
                          </a:solidFill>
                          <a:latin typeface="Calibri"/>
                        </a:rPr>
                        <a:t>5</a:t>
                      </a:r>
                    </a:p>
                  </a:txBody>
                  <a:tcPr>
                    <a:solidFill>
                      <a:srgbClr val="FFFFFF"/>
                    </a:solidFill>
                  </a:tcPr>
                </a:tc>
                <a:tc>
                  <a:txBody>
                    <a:bodyPr/>
                    <a:lstStyle/>
                    <a:p>
                      <a:r>
                        <a:rPr sz="1050" b="0">
                          <a:solidFill>
                            <a:srgbClr val="1A1A1A"/>
                          </a:solidFill>
                          <a:latin typeface="Calibri"/>
                        </a:rPr>
                        <a:t>B8_p75</a:t>
                      </a:r>
                    </a:p>
                  </a:txBody>
                  <a:tcPr>
                    <a:solidFill>
                      <a:srgbClr val="FFFFFF"/>
                    </a:solidFill>
                  </a:tcPr>
                </a:tc>
                <a:tc>
                  <a:txBody>
                    <a:bodyPr/>
                    <a:lstStyle/>
                    <a:p>
                      <a:r>
                        <a:rPr sz="1050" b="0">
                          <a:solidFill>
                            <a:srgbClr val="1A1A1A"/>
                          </a:solidFill>
                          <a:latin typeface="Calibri"/>
                        </a:rPr>
                        <a:t>0.0211</a:t>
                      </a:r>
                    </a:p>
                  </a:txBody>
                  <a:tcPr>
                    <a:solidFill>
                      <a:srgbClr val="FFFFFF"/>
                    </a:solidFill>
                  </a:tcPr>
                </a:tc>
                <a:tc>
                  <a:txBody>
                    <a:bodyPr/>
                    <a:lstStyle/>
                    <a:p>
                      <a:r>
                        <a:rPr sz="1050" b="0">
                          <a:solidFill>
                            <a:srgbClr val="1A1A1A"/>
                          </a:solidFill>
                          <a:latin typeface="Calibri"/>
                        </a:rPr>
                        <a:t>0.0446</a:t>
                      </a:r>
                    </a:p>
                  </a:txBody>
                  <a:tcP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Permutation importance on the holdout, with mean decrease in impurity alongside.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2212848"/>
            <a:ext cx="10881360" cy="320040"/>
          </a:xfrm>
          <a:prstGeom prst="rect">
            <a:avLst/>
          </a:prstGeom>
          <a:noFill/>
        </p:spPr>
        <p:txBody>
          <a:bodyPr wrap="square">
            <a:spAutoFit/>
          </a:bodyPr>
          <a:lstStyle/>
          <a:p>
            <a:pPr algn="l">
              <a:lnSpc>
                <a:spcPct val="125000"/>
              </a:lnSpc>
            </a:pPr>
            <a:r>
              <a:rPr sz="1200" b="1" i="0">
                <a:solidFill>
                  <a:srgbClr val="0B6E4F"/>
                </a:solidFill>
                <a:latin typeface="Calibri"/>
              </a:rPr>
              <a:t>SECTION 4 OF 7</a:t>
            </a:r>
          </a:p>
        </p:txBody>
      </p:sp>
      <p:sp>
        <p:nvSpPr>
          <p:cNvPr id="3" name="TextBox 2"/>
          <p:cNvSpPr txBox="1"/>
          <p:nvPr/>
        </p:nvSpPr>
        <p:spPr>
          <a:xfrm>
            <a:off x="822960" y="2560320"/>
            <a:ext cx="10881360" cy="914400"/>
          </a:xfrm>
          <a:prstGeom prst="rect">
            <a:avLst/>
          </a:prstGeom>
          <a:noFill/>
        </p:spPr>
        <p:txBody>
          <a:bodyPr wrap="square">
            <a:spAutoFit/>
          </a:bodyPr>
          <a:lstStyle/>
          <a:p>
            <a:pPr algn="l">
              <a:lnSpc>
                <a:spcPct val="125000"/>
              </a:lnSpc>
            </a:pPr>
            <a:r>
              <a:rPr sz="3000" b="1" i="0">
                <a:solidFill>
                  <a:srgbClr val="1A1A1A"/>
                </a:solidFill>
                <a:latin typeface="Calibri"/>
              </a:rPr>
              <a:t>Vietnam · transfer</a:t>
            </a:r>
          </a:p>
        </p:txBody>
      </p:sp>
      <p:sp>
        <p:nvSpPr>
          <p:cNvPr id="4" name="Rectangle 3"/>
          <p:cNvSpPr/>
          <p:nvPr/>
        </p:nvSpPr>
        <p:spPr>
          <a:xfrm>
            <a:off x="822960" y="3584448"/>
            <a:ext cx="3657600" cy="32004"/>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03904"/>
            <a:ext cx="8686800" cy="731520"/>
          </a:xfrm>
          <a:prstGeom prst="rect">
            <a:avLst/>
          </a:prstGeom>
          <a:noFill/>
        </p:spPr>
        <p:txBody>
          <a:bodyPr wrap="square">
            <a:spAutoFit/>
          </a:bodyPr>
          <a:lstStyle/>
          <a:p>
            <a:pPr algn="l">
              <a:lnSpc>
                <a:spcPct val="135000"/>
              </a:lnSpc>
            </a:pPr>
            <a:r>
              <a:rPr sz="1400" b="0" i="0">
                <a:solidFill>
                  <a:srgbClr val="6B6B6B"/>
                </a:solidFill>
                <a:latin typeface="Calibri"/>
              </a:rPr>
              <a:t>Zero-shot fails; local retraining repairs it, but not everywhere</a:t>
            </a:r>
          </a:p>
        </p:txBody>
      </p:sp>
      <p:sp>
        <p:nvSpPr>
          <p:cNvPr id="6" name="TextBox 5"/>
          <p:cNvSpPr txBox="1"/>
          <p:nvPr/>
        </p:nvSpPr>
        <p:spPr>
          <a:xfrm>
            <a:off x="822960" y="5577840"/>
            <a:ext cx="10881360" cy="822960"/>
          </a:xfrm>
          <a:prstGeom prst="rect">
            <a:avLst/>
          </a:prstGeom>
          <a:noFill/>
        </p:spPr>
        <p:txBody>
          <a:bodyPr wrap="square">
            <a:spAutoFit/>
          </a:bodyPr>
          <a:lstStyle/>
          <a:p>
            <a:pPr algn="l">
              <a:lnSpc>
                <a:spcPct val="125000"/>
              </a:lnSpc>
            </a:pPr>
            <a:r>
              <a:rPr sz="1000" b="0" i="0">
                <a:solidFill>
                  <a:srgbClr val="6B6B6B"/>
                </a:solidFill>
                <a:latin typeface="Calibri"/>
              </a:rPr>
              <a:t>1. Design and data · 2. Method · 3. Milan · same-source validation · 4. Vietnam · transfer · 5. Independent validation · 6. Why transfer fails · 7. Conclusions and limitations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VIETNAM · SAME-SOURCE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Zero-shot transfer of a Milan-trained model fails in both cities</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AlphaEarth embeddings. R² is at or below zero in three of the four city and predictor combinations, which is no more informative than predicting the mean everywhere.</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01_transfer_comparison.png"/>
          <p:cNvPicPr>
            <a:picLocks noChangeAspect="1"/>
          </p:cNvPicPr>
          <p:nvPr/>
        </p:nvPicPr>
        <p:blipFill>
          <a:blip r:embed="rId3"/>
          <a:stretch>
            <a:fillRect/>
          </a:stretch>
        </p:blipFill>
        <p:spPr>
          <a:xfrm>
            <a:off x="3837336" y="2066544"/>
            <a:ext cx="4523424" cy="3703320"/>
          </a:xfrm>
          <a:prstGeom prst="rect">
            <a:avLst/>
          </a:prstGeom>
        </p:spPr>
      </p:pic>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Every bar is scored against the training target, so a bias bar near zero means agreement with GHSL, not a correct map.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VIETNAM · SAME-SOURCE</a:t>
            </a:r>
          </a:p>
        </p:txBody>
      </p:sp>
      <p:sp>
        <p:nvSpPr>
          <p:cNvPr id="3" name="TextBox 2"/>
          <p:cNvSpPr txBox="1"/>
          <p:nvPr/>
        </p:nvSpPr>
        <p:spPr>
          <a:xfrm>
            <a:off x="658368" y="548640"/>
            <a:ext cx="10881360" cy="537648"/>
          </a:xfrm>
          <a:prstGeom prst="rect">
            <a:avLst/>
          </a:prstGeom>
          <a:noFill/>
        </p:spPr>
        <p:txBody>
          <a:bodyPr wrap="square">
            <a:spAutoFit/>
          </a:bodyPr>
          <a:lstStyle/>
          <a:p>
            <a:pPr algn="l">
              <a:lnSpc>
                <a:spcPct val="125000"/>
              </a:lnSpc>
            </a:pPr>
            <a:r>
              <a:rPr sz="2500" b="1" i="0" dirty="0">
                <a:solidFill>
                  <a:srgbClr val="1A1A1A"/>
                </a:solidFill>
                <a:latin typeface="Calibri"/>
              </a:rPr>
              <a:t>The Sentinel-2 features fail the same way</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S2 median composite: the same four metrics and the same two scenarios. Read the two slides as a pair — the shape of the result is the same in both.</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01_transfer_comparison.png"/>
          <p:cNvPicPr>
            <a:picLocks noChangeAspect="1"/>
          </p:cNvPicPr>
          <p:nvPr/>
        </p:nvPicPr>
        <p:blipFill>
          <a:blip r:embed="rId3"/>
          <a:stretch>
            <a:fillRect/>
          </a:stretch>
        </p:blipFill>
        <p:spPr>
          <a:xfrm>
            <a:off x="3838504" y="2066544"/>
            <a:ext cx="4521087" cy="3703320"/>
          </a:xfrm>
          <a:prstGeom prst="rect">
            <a:avLst/>
          </a:prstGeom>
        </p:spPr>
      </p:pic>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Caveat: composite depth is confounded with predictor type here, so the ordering between the two arms is not controlled.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VIETNAM · SAME-SOURCE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Both scenarios, both predictor sets, both cities</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Scored against GHS-BUILT-S on each city's spatial holdout: 895 points in Hanoi, 887 in HCMC. Bias is observed minus predicted, so a negative value means the map over-predicts.</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58368" y="2103120"/>
          <a:ext cx="10881360" cy="2633472"/>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tblGrid>
              <a:tr h="292608">
                <a:tc>
                  <a:txBody>
                    <a:bodyPr/>
                    <a:lstStyle/>
                    <a:p>
                      <a:r>
                        <a:rPr sz="1100" b="1">
                          <a:solidFill>
                            <a:srgbClr val="FFFFFF"/>
                          </a:solidFill>
                          <a:latin typeface="Calibri"/>
                        </a:rPr>
                        <a:t>City</a:t>
                      </a:r>
                    </a:p>
                  </a:txBody>
                  <a:tcPr>
                    <a:solidFill>
                      <a:srgbClr val="1A1A1A"/>
                    </a:solidFill>
                  </a:tcPr>
                </a:tc>
                <a:tc>
                  <a:txBody>
                    <a:bodyPr/>
                    <a:lstStyle/>
                    <a:p>
                      <a:r>
                        <a:rPr sz="1100" b="1">
                          <a:solidFill>
                            <a:srgbClr val="FFFFFF"/>
                          </a:solidFill>
                          <a:latin typeface="Calibri"/>
                        </a:rPr>
                        <a:t>Predictors</a:t>
                      </a:r>
                    </a:p>
                  </a:txBody>
                  <a:tcPr>
                    <a:solidFill>
                      <a:srgbClr val="1A1A1A"/>
                    </a:solidFill>
                  </a:tcPr>
                </a:tc>
                <a:tc>
                  <a:txBody>
                    <a:bodyPr/>
                    <a:lstStyle/>
                    <a:p>
                      <a:r>
                        <a:rPr sz="1100" b="1">
                          <a:solidFill>
                            <a:srgbClr val="FFFFFF"/>
                          </a:solidFill>
                          <a:latin typeface="Calibri"/>
                        </a:rPr>
                        <a:t>Scenario</a:t>
                      </a:r>
                    </a:p>
                  </a:txBody>
                  <a:tcPr>
                    <a:solidFill>
                      <a:srgbClr val="1A1A1A"/>
                    </a:solidFill>
                  </a:tcPr>
                </a:tc>
                <a:tc>
                  <a:txBody>
                    <a:bodyPr/>
                    <a:lstStyle/>
                    <a:p>
                      <a:r>
                        <a:rPr sz="1100" b="1">
                          <a:solidFill>
                            <a:srgbClr val="FFFFFF"/>
                          </a:solidFill>
                          <a:latin typeface="Calibri"/>
                        </a:rPr>
                        <a:t>RMSE</a:t>
                      </a:r>
                    </a:p>
                  </a:txBody>
                  <a:tcPr>
                    <a:solidFill>
                      <a:srgbClr val="1A1A1A"/>
                    </a:solidFill>
                  </a:tcPr>
                </a:tc>
                <a:tc>
                  <a:txBody>
                    <a:bodyPr/>
                    <a:lstStyle/>
                    <a:p>
                      <a:r>
                        <a:rPr sz="1100" b="1">
                          <a:solidFill>
                            <a:srgbClr val="FFFFFF"/>
                          </a:solidFill>
                          <a:latin typeface="Calibri"/>
                        </a:rPr>
                        <a:t>MAE</a:t>
                      </a:r>
                    </a:p>
                  </a:txBody>
                  <a:tcPr>
                    <a:solidFill>
                      <a:srgbClr val="1A1A1A"/>
                    </a:solidFill>
                  </a:tcPr>
                </a:tc>
                <a:tc>
                  <a:txBody>
                    <a:bodyPr/>
                    <a:lstStyle/>
                    <a:p>
                      <a:r>
                        <a:rPr sz="1100" b="1">
                          <a:solidFill>
                            <a:srgbClr val="FFFFFF"/>
                          </a:solidFill>
                          <a:latin typeface="Calibri"/>
                        </a:rPr>
                        <a:t>R²</a:t>
                      </a:r>
                    </a:p>
                  </a:txBody>
                  <a:tcPr>
                    <a:solidFill>
                      <a:srgbClr val="1A1A1A"/>
                    </a:solidFill>
                  </a:tcPr>
                </a:tc>
                <a:tc>
                  <a:txBody>
                    <a:bodyPr/>
                    <a:lstStyle/>
                    <a:p>
                      <a:r>
                        <a:rPr sz="1100" b="1">
                          <a:solidFill>
                            <a:srgbClr val="FFFFFF"/>
                          </a:solidFill>
                          <a:latin typeface="Calibri"/>
                        </a:rPr>
                        <a:t>Bias</a:t>
                      </a:r>
                    </a:p>
                  </a:txBody>
                  <a:tcPr>
                    <a:solidFill>
                      <a:srgbClr val="1A1A1A"/>
                    </a:solidFill>
                  </a:tcPr>
                </a:tc>
                <a:extLst>
                  <a:ext uri="{0D108BD9-81ED-4DB2-BD59-A6C34878D82A}">
                    <a16:rowId xmlns:a16="http://schemas.microsoft.com/office/drawing/2014/main" val="10000"/>
                  </a:ext>
                </a:extLst>
              </a:tr>
              <a:tr h="292608">
                <a:tc>
                  <a:txBody>
                    <a:bodyPr/>
                    <a:lstStyle/>
                    <a:p>
                      <a:r>
                        <a:rPr sz="1100" b="0">
                          <a:solidFill>
                            <a:srgbClr val="1A1A1A"/>
                          </a:solidFill>
                          <a:latin typeface="Calibri"/>
                        </a:rPr>
                        <a:t>Hanoi</a:t>
                      </a:r>
                    </a:p>
                  </a:txBody>
                  <a:tcPr>
                    <a:solidFill>
                      <a:srgbClr val="FFFFFF"/>
                    </a:solidFill>
                  </a:tcPr>
                </a:tc>
                <a:tc>
                  <a:txBody>
                    <a:bodyPr/>
                    <a:lstStyle/>
                    <a:p>
                      <a:r>
                        <a:rPr sz="1100" b="0">
                          <a:solidFill>
                            <a:srgbClr val="1A1A1A"/>
                          </a:solidFill>
                          <a:latin typeface="Calibri"/>
                        </a:rPr>
                        <a:t>AlphaEarth</a:t>
                      </a:r>
                    </a:p>
                  </a:txBody>
                  <a:tcPr>
                    <a:solidFill>
                      <a:srgbClr val="FFFFFF"/>
                    </a:solidFill>
                  </a:tcPr>
                </a:tc>
                <a:tc>
                  <a:txBody>
                    <a:bodyPr/>
                    <a:lstStyle/>
                    <a:p>
                      <a:r>
                        <a:rPr sz="1100" b="0">
                          <a:solidFill>
                            <a:srgbClr val="1A1A1A"/>
                          </a:solidFill>
                          <a:latin typeface="Calibri"/>
                        </a:rPr>
                        <a:t>zero-shot</a:t>
                      </a:r>
                    </a:p>
                  </a:txBody>
                  <a:tcPr>
                    <a:solidFill>
                      <a:srgbClr val="FFFFFF"/>
                    </a:solidFill>
                  </a:tcPr>
                </a:tc>
                <a:tc>
                  <a:txBody>
                    <a:bodyPr/>
                    <a:lstStyle/>
                    <a:p>
                      <a:r>
                        <a:rPr sz="1100" b="0">
                          <a:solidFill>
                            <a:srgbClr val="1A1A1A"/>
                          </a:solidFill>
                          <a:latin typeface="Calibri"/>
                        </a:rPr>
                        <a:t>35.960</a:t>
                      </a:r>
                    </a:p>
                  </a:txBody>
                  <a:tcPr>
                    <a:solidFill>
                      <a:srgbClr val="FFFFFF"/>
                    </a:solidFill>
                  </a:tcPr>
                </a:tc>
                <a:tc>
                  <a:txBody>
                    <a:bodyPr/>
                    <a:lstStyle/>
                    <a:p>
                      <a:r>
                        <a:rPr sz="1100" b="0">
                          <a:solidFill>
                            <a:srgbClr val="1A1A1A"/>
                          </a:solidFill>
                          <a:latin typeface="Calibri"/>
                        </a:rPr>
                        <a:t>30.140</a:t>
                      </a:r>
                    </a:p>
                  </a:txBody>
                  <a:tcPr>
                    <a:solidFill>
                      <a:srgbClr val="FFFFFF"/>
                    </a:solidFill>
                  </a:tcPr>
                </a:tc>
                <a:tc>
                  <a:txBody>
                    <a:bodyPr/>
                    <a:lstStyle/>
                    <a:p>
                      <a:r>
                        <a:rPr sz="1100" b="0">
                          <a:solidFill>
                            <a:srgbClr val="1A1A1A"/>
                          </a:solidFill>
                          <a:latin typeface="Calibri"/>
                        </a:rPr>
                        <a:t>−0.070</a:t>
                      </a:r>
                    </a:p>
                  </a:txBody>
                  <a:tcPr>
                    <a:solidFill>
                      <a:srgbClr val="FFFFFF"/>
                    </a:solidFill>
                  </a:tcPr>
                </a:tc>
                <a:tc>
                  <a:txBody>
                    <a:bodyPr/>
                    <a:lstStyle/>
                    <a:p>
                      <a:r>
                        <a:rPr sz="1100" b="0">
                          <a:solidFill>
                            <a:srgbClr val="1A1A1A"/>
                          </a:solidFill>
                          <a:latin typeface="Calibri"/>
                        </a:rPr>
                        <a:t>−24.930</a:t>
                      </a:r>
                    </a:p>
                  </a:txBody>
                  <a:tcPr>
                    <a:solidFill>
                      <a:srgbClr val="FFFFFF"/>
                    </a:solidFill>
                  </a:tcPr>
                </a:tc>
                <a:extLst>
                  <a:ext uri="{0D108BD9-81ED-4DB2-BD59-A6C34878D82A}">
                    <a16:rowId xmlns:a16="http://schemas.microsoft.com/office/drawing/2014/main" val="10001"/>
                  </a:ext>
                </a:extLst>
              </a:tr>
              <a:tr h="292608">
                <a:tc>
                  <a:txBody>
                    <a:bodyPr/>
                    <a:lstStyle/>
                    <a:p>
                      <a:r>
                        <a:rPr sz="1100" b="0">
                          <a:solidFill>
                            <a:srgbClr val="1A1A1A"/>
                          </a:solidFill>
                          <a:latin typeface="Calibri"/>
                        </a:rPr>
                        <a:t>Hanoi</a:t>
                      </a:r>
                    </a:p>
                  </a:txBody>
                  <a:tcPr>
                    <a:solidFill>
                      <a:srgbClr val="F7F7F7"/>
                    </a:solidFill>
                  </a:tcPr>
                </a:tc>
                <a:tc>
                  <a:txBody>
                    <a:bodyPr/>
                    <a:lstStyle/>
                    <a:p>
                      <a:r>
                        <a:rPr sz="1100" b="0">
                          <a:solidFill>
                            <a:srgbClr val="1A1A1A"/>
                          </a:solidFill>
                          <a:latin typeface="Calibri"/>
                        </a:rPr>
                        <a:t>AlphaEarth</a:t>
                      </a:r>
                    </a:p>
                  </a:txBody>
                  <a:tcPr>
                    <a:solidFill>
                      <a:srgbClr val="F7F7F7"/>
                    </a:solidFill>
                  </a:tcPr>
                </a:tc>
                <a:tc>
                  <a:txBody>
                    <a:bodyPr/>
                    <a:lstStyle/>
                    <a:p>
                      <a:r>
                        <a:rPr sz="1100" b="0">
                          <a:solidFill>
                            <a:srgbClr val="1A1A1A"/>
                          </a:solidFill>
                          <a:latin typeface="Calibri"/>
                        </a:rPr>
                        <a:t>local retrain</a:t>
                      </a:r>
                    </a:p>
                  </a:txBody>
                  <a:tcPr>
                    <a:solidFill>
                      <a:srgbClr val="F7F7F7"/>
                    </a:solidFill>
                  </a:tcPr>
                </a:tc>
                <a:tc>
                  <a:txBody>
                    <a:bodyPr/>
                    <a:lstStyle/>
                    <a:p>
                      <a:r>
                        <a:rPr sz="1100" b="0">
                          <a:solidFill>
                            <a:srgbClr val="1A1A1A"/>
                          </a:solidFill>
                          <a:latin typeface="Calibri"/>
                        </a:rPr>
                        <a:t>23.860</a:t>
                      </a:r>
                    </a:p>
                  </a:txBody>
                  <a:tcPr>
                    <a:solidFill>
                      <a:srgbClr val="F7F7F7"/>
                    </a:solidFill>
                  </a:tcPr>
                </a:tc>
                <a:tc>
                  <a:txBody>
                    <a:bodyPr/>
                    <a:lstStyle/>
                    <a:p>
                      <a:r>
                        <a:rPr sz="1100" b="0">
                          <a:solidFill>
                            <a:srgbClr val="1A1A1A"/>
                          </a:solidFill>
                          <a:latin typeface="Calibri"/>
                        </a:rPr>
                        <a:t>17.720</a:t>
                      </a:r>
                    </a:p>
                  </a:txBody>
                  <a:tcPr>
                    <a:solidFill>
                      <a:srgbClr val="F7F7F7"/>
                    </a:solidFill>
                  </a:tcPr>
                </a:tc>
                <a:tc>
                  <a:txBody>
                    <a:bodyPr/>
                    <a:lstStyle/>
                    <a:p>
                      <a:r>
                        <a:rPr sz="1100" b="0">
                          <a:solidFill>
                            <a:srgbClr val="1A1A1A"/>
                          </a:solidFill>
                          <a:latin typeface="Calibri"/>
                        </a:rPr>
                        <a:t>0.529</a:t>
                      </a:r>
                    </a:p>
                  </a:txBody>
                  <a:tcPr>
                    <a:solidFill>
                      <a:srgbClr val="F7F7F7"/>
                    </a:solidFill>
                  </a:tcPr>
                </a:tc>
                <a:tc>
                  <a:txBody>
                    <a:bodyPr/>
                    <a:lstStyle/>
                    <a:p>
                      <a:r>
                        <a:rPr sz="1100" b="0">
                          <a:solidFill>
                            <a:srgbClr val="1A1A1A"/>
                          </a:solidFill>
                          <a:latin typeface="Calibri"/>
                        </a:rPr>
                        <a:t>−0.690</a:t>
                      </a:r>
                    </a:p>
                  </a:txBody>
                  <a:tcPr>
                    <a:solidFill>
                      <a:srgbClr val="F7F7F7"/>
                    </a:solidFill>
                  </a:tcPr>
                </a:tc>
                <a:extLst>
                  <a:ext uri="{0D108BD9-81ED-4DB2-BD59-A6C34878D82A}">
                    <a16:rowId xmlns:a16="http://schemas.microsoft.com/office/drawing/2014/main" val="10002"/>
                  </a:ext>
                </a:extLst>
              </a:tr>
              <a:tr h="292608">
                <a:tc>
                  <a:txBody>
                    <a:bodyPr/>
                    <a:lstStyle/>
                    <a:p>
                      <a:r>
                        <a:rPr sz="1100" b="0">
                          <a:solidFill>
                            <a:srgbClr val="1A1A1A"/>
                          </a:solidFill>
                          <a:latin typeface="Calibri"/>
                        </a:rPr>
                        <a:t>Hanoi</a:t>
                      </a:r>
                    </a:p>
                  </a:txBody>
                  <a:tcPr>
                    <a:solidFill>
                      <a:srgbClr val="FFFFFF"/>
                    </a:solidFill>
                  </a:tcPr>
                </a:tc>
                <a:tc>
                  <a:txBody>
                    <a:bodyPr/>
                    <a:lstStyle/>
                    <a:p>
                      <a:r>
                        <a:rPr sz="1100" b="0">
                          <a:solidFill>
                            <a:srgbClr val="1A1A1A"/>
                          </a:solidFill>
                          <a:latin typeface="Calibri"/>
                        </a:rPr>
                        <a:t>S2 median</a:t>
                      </a:r>
                    </a:p>
                  </a:txBody>
                  <a:tcPr>
                    <a:solidFill>
                      <a:srgbClr val="FFFFFF"/>
                    </a:solidFill>
                  </a:tcPr>
                </a:tc>
                <a:tc>
                  <a:txBody>
                    <a:bodyPr/>
                    <a:lstStyle/>
                    <a:p>
                      <a:r>
                        <a:rPr sz="1100" b="0">
                          <a:solidFill>
                            <a:srgbClr val="1A1A1A"/>
                          </a:solidFill>
                          <a:latin typeface="Calibri"/>
                        </a:rPr>
                        <a:t>zero-shot</a:t>
                      </a:r>
                    </a:p>
                  </a:txBody>
                  <a:tcPr>
                    <a:solidFill>
                      <a:srgbClr val="FFFFFF"/>
                    </a:solidFill>
                  </a:tcPr>
                </a:tc>
                <a:tc>
                  <a:txBody>
                    <a:bodyPr/>
                    <a:lstStyle/>
                    <a:p>
                      <a:r>
                        <a:rPr sz="1100" b="0">
                          <a:solidFill>
                            <a:srgbClr val="1A1A1A"/>
                          </a:solidFill>
                          <a:latin typeface="Calibri"/>
                        </a:rPr>
                        <a:t>37.150</a:t>
                      </a:r>
                    </a:p>
                  </a:txBody>
                  <a:tcPr>
                    <a:solidFill>
                      <a:srgbClr val="FFFFFF"/>
                    </a:solidFill>
                  </a:tcPr>
                </a:tc>
                <a:tc>
                  <a:txBody>
                    <a:bodyPr/>
                    <a:lstStyle/>
                    <a:p>
                      <a:r>
                        <a:rPr sz="1100" b="0">
                          <a:solidFill>
                            <a:srgbClr val="1A1A1A"/>
                          </a:solidFill>
                          <a:latin typeface="Calibri"/>
                        </a:rPr>
                        <a:t>28.930</a:t>
                      </a:r>
                    </a:p>
                  </a:txBody>
                  <a:tcPr>
                    <a:solidFill>
                      <a:srgbClr val="FFFFFF"/>
                    </a:solidFill>
                  </a:tcPr>
                </a:tc>
                <a:tc>
                  <a:txBody>
                    <a:bodyPr/>
                    <a:lstStyle/>
                    <a:p>
                      <a:r>
                        <a:rPr sz="1100" b="0">
                          <a:solidFill>
                            <a:srgbClr val="1A1A1A"/>
                          </a:solidFill>
                          <a:latin typeface="Calibri"/>
                        </a:rPr>
                        <a:t>−0.142</a:t>
                      </a:r>
                    </a:p>
                  </a:txBody>
                  <a:tcPr>
                    <a:solidFill>
                      <a:srgbClr val="FFFFFF"/>
                    </a:solidFill>
                  </a:tcPr>
                </a:tc>
                <a:tc>
                  <a:txBody>
                    <a:bodyPr/>
                    <a:lstStyle/>
                    <a:p>
                      <a:r>
                        <a:rPr sz="1100" b="0">
                          <a:solidFill>
                            <a:srgbClr val="1A1A1A"/>
                          </a:solidFill>
                          <a:latin typeface="Calibri"/>
                        </a:rPr>
                        <a:t>−23.790</a:t>
                      </a:r>
                    </a:p>
                  </a:txBody>
                  <a:tcPr>
                    <a:solidFill>
                      <a:srgbClr val="FFFFFF"/>
                    </a:solidFill>
                  </a:tcPr>
                </a:tc>
                <a:extLst>
                  <a:ext uri="{0D108BD9-81ED-4DB2-BD59-A6C34878D82A}">
                    <a16:rowId xmlns:a16="http://schemas.microsoft.com/office/drawing/2014/main" val="10003"/>
                  </a:ext>
                </a:extLst>
              </a:tr>
              <a:tr h="292608">
                <a:tc>
                  <a:txBody>
                    <a:bodyPr/>
                    <a:lstStyle/>
                    <a:p>
                      <a:r>
                        <a:rPr sz="1100" b="0">
                          <a:solidFill>
                            <a:srgbClr val="1A1A1A"/>
                          </a:solidFill>
                          <a:latin typeface="Calibri"/>
                        </a:rPr>
                        <a:t>Hanoi</a:t>
                      </a:r>
                    </a:p>
                  </a:txBody>
                  <a:tcPr>
                    <a:solidFill>
                      <a:srgbClr val="F7F7F7"/>
                    </a:solidFill>
                  </a:tcPr>
                </a:tc>
                <a:tc>
                  <a:txBody>
                    <a:bodyPr/>
                    <a:lstStyle/>
                    <a:p>
                      <a:r>
                        <a:rPr sz="1100" b="0">
                          <a:solidFill>
                            <a:srgbClr val="1A1A1A"/>
                          </a:solidFill>
                          <a:latin typeface="Calibri"/>
                        </a:rPr>
                        <a:t>S2 median</a:t>
                      </a:r>
                    </a:p>
                  </a:txBody>
                  <a:tcPr>
                    <a:solidFill>
                      <a:srgbClr val="F7F7F7"/>
                    </a:solidFill>
                  </a:tcPr>
                </a:tc>
                <a:tc>
                  <a:txBody>
                    <a:bodyPr/>
                    <a:lstStyle/>
                    <a:p>
                      <a:r>
                        <a:rPr sz="1100" b="0">
                          <a:solidFill>
                            <a:srgbClr val="1A1A1A"/>
                          </a:solidFill>
                          <a:latin typeface="Calibri"/>
                        </a:rPr>
                        <a:t>local retrain</a:t>
                      </a:r>
                    </a:p>
                  </a:txBody>
                  <a:tcPr>
                    <a:solidFill>
                      <a:srgbClr val="F7F7F7"/>
                    </a:solidFill>
                  </a:tcPr>
                </a:tc>
                <a:tc>
                  <a:txBody>
                    <a:bodyPr/>
                    <a:lstStyle/>
                    <a:p>
                      <a:r>
                        <a:rPr sz="1100" b="0">
                          <a:solidFill>
                            <a:srgbClr val="1A1A1A"/>
                          </a:solidFill>
                          <a:latin typeface="Calibri"/>
                        </a:rPr>
                        <a:t>24.050</a:t>
                      </a:r>
                    </a:p>
                  </a:txBody>
                  <a:tcPr>
                    <a:solidFill>
                      <a:srgbClr val="F7F7F7"/>
                    </a:solidFill>
                  </a:tcPr>
                </a:tc>
                <a:tc>
                  <a:txBody>
                    <a:bodyPr/>
                    <a:lstStyle/>
                    <a:p>
                      <a:r>
                        <a:rPr sz="1100" b="0">
                          <a:solidFill>
                            <a:srgbClr val="1A1A1A"/>
                          </a:solidFill>
                          <a:latin typeface="Calibri"/>
                        </a:rPr>
                        <a:t>18.490</a:t>
                      </a:r>
                    </a:p>
                  </a:txBody>
                  <a:tcPr>
                    <a:solidFill>
                      <a:srgbClr val="F7F7F7"/>
                    </a:solidFill>
                  </a:tcPr>
                </a:tc>
                <a:tc>
                  <a:txBody>
                    <a:bodyPr/>
                    <a:lstStyle/>
                    <a:p>
                      <a:r>
                        <a:rPr sz="1100" b="0">
                          <a:solidFill>
                            <a:srgbClr val="1A1A1A"/>
                          </a:solidFill>
                          <a:latin typeface="Calibri"/>
                        </a:rPr>
                        <a:t>0.522</a:t>
                      </a:r>
                    </a:p>
                  </a:txBody>
                  <a:tcPr>
                    <a:solidFill>
                      <a:srgbClr val="F7F7F7"/>
                    </a:solidFill>
                  </a:tcPr>
                </a:tc>
                <a:tc>
                  <a:txBody>
                    <a:bodyPr/>
                    <a:lstStyle/>
                    <a:p>
                      <a:r>
                        <a:rPr sz="1100" b="0">
                          <a:solidFill>
                            <a:srgbClr val="1A1A1A"/>
                          </a:solidFill>
                          <a:latin typeface="Calibri"/>
                        </a:rPr>
                        <a:t>−2.080</a:t>
                      </a:r>
                    </a:p>
                  </a:txBody>
                  <a:tcPr>
                    <a:solidFill>
                      <a:srgbClr val="F7F7F7"/>
                    </a:solidFill>
                  </a:tcPr>
                </a:tc>
                <a:extLst>
                  <a:ext uri="{0D108BD9-81ED-4DB2-BD59-A6C34878D82A}">
                    <a16:rowId xmlns:a16="http://schemas.microsoft.com/office/drawing/2014/main" val="10004"/>
                  </a:ext>
                </a:extLst>
              </a:tr>
              <a:tr h="292608">
                <a:tc>
                  <a:txBody>
                    <a:bodyPr/>
                    <a:lstStyle/>
                    <a:p>
                      <a:r>
                        <a:rPr sz="1100" b="0">
                          <a:solidFill>
                            <a:srgbClr val="1A1A1A"/>
                          </a:solidFill>
                          <a:latin typeface="Calibri"/>
                        </a:rPr>
                        <a:t>HCMC</a:t>
                      </a:r>
                    </a:p>
                  </a:txBody>
                  <a:tcPr>
                    <a:solidFill>
                      <a:srgbClr val="FFFFFF"/>
                    </a:solidFill>
                  </a:tcPr>
                </a:tc>
                <a:tc>
                  <a:txBody>
                    <a:bodyPr/>
                    <a:lstStyle/>
                    <a:p>
                      <a:r>
                        <a:rPr sz="1100" b="0">
                          <a:solidFill>
                            <a:srgbClr val="1A1A1A"/>
                          </a:solidFill>
                          <a:latin typeface="Calibri"/>
                        </a:rPr>
                        <a:t>AlphaEarth</a:t>
                      </a:r>
                    </a:p>
                  </a:txBody>
                  <a:tcPr>
                    <a:solidFill>
                      <a:srgbClr val="FFFFFF"/>
                    </a:solidFill>
                  </a:tcPr>
                </a:tc>
                <a:tc>
                  <a:txBody>
                    <a:bodyPr/>
                    <a:lstStyle/>
                    <a:p>
                      <a:r>
                        <a:rPr sz="1100" b="0">
                          <a:solidFill>
                            <a:srgbClr val="1A1A1A"/>
                          </a:solidFill>
                          <a:latin typeface="Calibri"/>
                        </a:rPr>
                        <a:t>zero-shot</a:t>
                      </a:r>
                    </a:p>
                  </a:txBody>
                  <a:tcPr>
                    <a:solidFill>
                      <a:srgbClr val="FFFFFF"/>
                    </a:solidFill>
                  </a:tcPr>
                </a:tc>
                <a:tc>
                  <a:txBody>
                    <a:bodyPr/>
                    <a:lstStyle/>
                    <a:p>
                      <a:r>
                        <a:rPr sz="1100" b="0">
                          <a:solidFill>
                            <a:srgbClr val="1A1A1A"/>
                          </a:solidFill>
                          <a:latin typeface="Calibri"/>
                        </a:rPr>
                        <a:t>40.650</a:t>
                      </a:r>
                    </a:p>
                  </a:txBody>
                  <a:tcPr>
                    <a:solidFill>
                      <a:srgbClr val="FFFFFF"/>
                    </a:solidFill>
                  </a:tcPr>
                </a:tc>
                <a:tc>
                  <a:txBody>
                    <a:bodyPr/>
                    <a:lstStyle/>
                    <a:p>
                      <a:r>
                        <a:rPr sz="1100" b="0">
                          <a:solidFill>
                            <a:srgbClr val="1A1A1A"/>
                          </a:solidFill>
                          <a:latin typeface="Calibri"/>
                        </a:rPr>
                        <a:t>34.170</a:t>
                      </a:r>
                    </a:p>
                  </a:txBody>
                  <a:tcPr>
                    <a:solidFill>
                      <a:srgbClr val="FFFFFF"/>
                    </a:solidFill>
                  </a:tcPr>
                </a:tc>
                <a:tc>
                  <a:txBody>
                    <a:bodyPr/>
                    <a:lstStyle/>
                    <a:p>
                      <a:r>
                        <a:rPr sz="1100" b="0">
                          <a:solidFill>
                            <a:srgbClr val="1A1A1A"/>
                          </a:solidFill>
                          <a:latin typeface="Calibri"/>
                        </a:rPr>
                        <a:t>−0.279</a:t>
                      </a:r>
                    </a:p>
                  </a:txBody>
                  <a:tcPr>
                    <a:solidFill>
                      <a:srgbClr val="FFFFFF"/>
                    </a:solidFill>
                  </a:tcPr>
                </a:tc>
                <a:tc>
                  <a:txBody>
                    <a:bodyPr/>
                    <a:lstStyle/>
                    <a:p>
                      <a:r>
                        <a:rPr sz="1100" b="0">
                          <a:solidFill>
                            <a:srgbClr val="1A1A1A"/>
                          </a:solidFill>
                          <a:latin typeface="Calibri"/>
                        </a:rPr>
                        <a:t>−29.760</a:t>
                      </a:r>
                    </a:p>
                  </a:txBody>
                  <a:tcPr>
                    <a:solidFill>
                      <a:srgbClr val="FFFFFF"/>
                    </a:solidFill>
                  </a:tcPr>
                </a:tc>
                <a:extLst>
                  <a:ext uri="{0D108BD9-81ED-4DB2-BD59-A6C34878D82A}">
                    <a16:rowId xmlns:a16="http://schemas.microsoft.com/office/drawing/2014/main" val="10005"/>
                  </a:ext>
                </a:extLst>
              </a:tr>
              <a:tr h="292608">
                <a:tc>
                  <a:txBody>
                    <a:bodyPr/>
                    <a:lstStyle/>
                    <a:p>
                      <a:r>
                        <a:rPr sz="1100" b="0">
                          <a:solidFill>
                            <a:srgbClr val="1A1A1A"/>
                          </a:solidFill>
                          <a:latin typeface="Calibri"/>
                        </a:rPr>
                        <a:t>HCMC</a:t>
                      </a:r>
                    </a:p>
                  </a:txBody>
                  <a:tcPr>
                    <a:solidFill>
                      <a:srgbClr val="F7F7F7"/>
                    </a:solidFill>
                  </a:tcPr>
                </a:tc>
                <a:tc>
                  <a:txBody>
                    <a:bodyPr/>
                    <a:lstStyle/>
                    <a:p>
                      <a:r>
                        <a:rPr sz="1100" b="0">
                          <a:solidFill>
                            <a:srgbClr val="1A1A1A"/>
                          </a:solidFill>
                          <a:latin typeface="Calibri"/>
                        </a:rPr>
                        <a:t>AlphaEarth</a:t>
                      </a:r>
                    </a:p>
                  </a:txBody>
                  <a:tcPr>
                    <a:solidFill>
                      <a:srgbClr val="F7F7F7"/>
                    </a:solidFill>
                  </a:tcPr>
                </a:tc>
                <a:tc>
                  <a:txBody>
                    <a:bodyPr/>
                    <a:lstStyle/>
                    <a:p>
                      <a:r>
                        <a:rPr sz="1100" b="0">
                          <a:solidFill>
                            <a:srgbClr val="1A1A1A"/>
                          </a:solidFill>
                          <a:latin typeface="Calibri"/>
                        </a:rPr>
                        <a:t>local retrain</a:t>
                      </a:r>
                    </a:p>
                  </a:txBody>
                  <a:tcPr>
                    <a:solidFill>
                      <a:srgbClr val="F7F7F7"/>
                    </a:solidFill>
                  </a:tcPr>
                </a:tc>
                <a:tc>
                  <a:txBody>
                    <a:bodyPr/>
                    <a:lstStyle/>
                    <a:p>
                      <a:r>
                        <a:rPr sz="1100" b="0">
                          <a:solidFill>
                            <a:srgbClr val="1A1A1A"/>
                          </a:solidFill>
                          <a:latin typeface="Calibri"/>
                        </a:rPr>
                        <a:t>21.310</a:t>
                      </a:r>
                    </a:p>
                  </a:txBody>
                  <a:tcPr>
                    <a:solidFill>
                      <a:srgbClr val="F7F7F7"/>
                    </a:solidFill>
                  </a:tcPr>
                </a:tc>
                <a:tc>
                  <a:txBody>
                    <a:bodyPr/>
                    <a:lstStyle/>
                    <a:p>
                      <a:r>
                        <a:rPr sz="1100" b="0">
                          <a:solidFill>
                            <a:srgbClr val="1A1A1A"/>
                          </a:solidFill>
                          <a:latin typeface="Calibri"/>
                        </a:rPr>
                        <a:t>16.580</a:t>
                      </a:r>
                    </a:p>
                  </a:txBody>
                  <a:tcPr>
                    <a:solidFill>
                      <a:srgbClr val="F7F7F7"/>
                    </a:solidFill>
                  </a:tcPr>
                </a:tc>
                <a:tc>
                  <a:txBody>
                    <a:bodyPr/>
                    <a:lstStyle/>
                    <a:p>
                      <a:r>
                        <a:rPr sz="1100" b="0">
                          <a:solidFill>
                            <a:srgbClr val="1A1A1A"/>
                          </a:solidFill>
                          <a:latin typeface="Calibri"/>
                        </a:rPr>
                        <a:t>0.649</a:t>
                      </a:r>
                    </a:p>
                  </a:txBody>
                  <a:tcPr>
                    <a:solidFill>
                      <a:srgbClr val="F7F7F7"/>
                    </a:solidFill>
                  </a:tcPr>
                </a:tc>
                <a:tc>
                  <a:txBody>
                    <a:bodyPr/>
                    <a:lstStyle/>
                    <a:p>
                      <a:r>
                        <a:rPr sz="1100" b="0">
                          <a:solidFill>
                            <a:srgbClr val="1A1A1A"/>
                          </a:solidFill>
                          <a:latin typeface="Calibri"/>
                        </a:rPr>
                        <a:t>0.400</a:t>
                      </a:r>
                    </a:p>
                  </a:txBody>
                  <a:tcPr>
                    <a:solidFill>
                      <a:srgbClr val="F7F7F7"/>
                    </a:solidFill>
                  </a:tcPr>
                </a:tc>
                <a:extLst>
                  <a:ext uri="{0D108BD9-81ED-4DB2-BD59-A6C34878D82A}">
                    <a16:rowId xmlns:a16="http://schemas.microsoft.com/office/drawing/2014/main" val="10006"/>
                  </a:ext>
                </a:extLst>
              </a:tr>
              <a:tr h="292608">
                <a:tc>
                  <a:txBody>
                    <a:bodyPr/>
                    <a:lstStyle/>
                    <a:p>
                      <a:r>
                        <a:rPr sz="1100" b="0">
                          <a:solidFill>
                            <a:srgbClr val="1A1A1A"/>
                          </a:solidFill>
                          <a:latin typeface="Calibri"/>
                        </a:rPr>
                        <a:t>HCMC</a:t>
                      </a:r>
                    </a:p>
                  </a:txBody>
                  <a:tcPr>
                    <a:solidFill>
                      <a:srgbClr val="FFFFFF"/>
                    </a:solidFill>
                  </a:tcPr>
                </a:tc>
                <a:tc>
                  <a:txBody>
                    <a:bodyPr/>
                    <a:lstStyle/>
                    <a:p>
                      <a:r>
                        <a:rPr sz="1100" b="0">
                          <a:solidFill>
                            <a:srgbClr val="1A1A1A"/>
                          </a:solidFill>
                          <a:latin typeface="Calibri"/>
                        </a:rPr>
                        <a:t>S2 median</a:t>
                      </a:r>
                    </a:p>
                  </a:txBody>
                  <a:tcPr>
                    <a:solidFill>
                      <a:srgbClr val="FFFFFF"/>
                    </a:solidFill>
                  </a:tcPr>
                </a:tc>
                <a:tc>
                  <a:txBody>
                    <a:bodyPr/>
                    <a:lstStyle/>
                    <a:p>
                      <a:r>
                        <a:rPr sz="1100" b="0">
                          <a:solidFill>
                            <a:srgbClr val="1A1A1A"/>
                          </a:solidFill>
                          <a:latin typeface="Calibri"/>
                        </a:rPr>
                        <a:t>zero-shot</a:t>
                      </a:r>
                    </a:p>
                  </a:txBody>
                  <a:tcPr>
                    <a:solidFill>
                      <a:srgbClr val="FFFFFF"/>
                    </a:solidFill>
                  </a:tcPr>
                </a:tc>
                <a:tc>
                  <a:txBody>
                    <a:bodyPr/>
                    <a:lstStyle/>
                    <a:p>
                      <a:r>
                        <a:rPr sz="1100" b="0">
                          <a:solidFill>
                            <a:srgbClr val="1A1A1A"/>
                          </a:solidFill>
                          <a:latin typeface="Calibri"/>
                        </a:rPr>
                        <a:t>35.190</a:t>
                      </a:r>
                    </a:p>
                  </a:txBody>
                  <a:tcPr>
                    <a:solidFill>
                      <a:srgbClr val="FFFFFF"/>
                    </a:solidFill>
                  </a:tcPr>
                </a:tc>
                <a:tc>
                  <a:txBody>
                    <a:bodyPr/>
                    <a:lstStyle/>
                    <a:p>
                      <a:r>
                        <a:rPr sz="1100" b="0">
                          <a:solidFill>
                            <a:srgbClr val="1A1A1A"/>
                          </a:solidFill>
                          <a:latin typeface="Calibri"/>
                        </a:rPr>
                        <a:t>26.980</a:t>
                      </a:r>
                    </a:p>
                  </a:txBody>
                  <a:tcPr>
                    <a:solidFill>
                      <a:srgbClr val="FFFFFF"/>
                    </a:solidFill>
                  </a:tcPr>
                </a:tc>
                <a:tc>
                  <a:txBody>
                    <a:bodyPr/>
                    <a:lstStyle/>
                    <a:p>
                      <a:r>
                        <a:rPr sz="1100" b="0">
                          <a:solidFill>
                            <a:srgbClr val="1A1A1A"/>
                          </a:solidFill>
                          <a:latin typeface="Calibri"/>
                        </a:rPr>
                        <a:t>0.042</a:t>
                      </a:r>
                    </a:p>
                  </a:txBody>
                  <a:tcPr>
                    <a:solidFill>
                      <a:srgbClr val="FFFFFF"/>
                    </a:solidFill>
                  </a:tcPr>
                </a:tc>
                <a:tc>
                  <a:txBody>
                    <a:bodyPr/>
                    <a:lstStyle/>
                    <a:p>
                      <a:r>
                        <a:rPr sz="1100" b="0">
                          <a:solidFill>
                            <a:srgbClr val="1A1A1A"/>
                          </a:solidFill>
                          <a:latin typeface="Calibri"/>
                        </a:rPr>
                        <a:t>−23.180</a:t>
                      </a:r>
                    </a:p>
                  </a:txBody>
                  <a:tcPr>
                    <a:solidFill>
                      <a:srgbClr val="FFFFFF"/>
                    </a:solidFill>
                  </a:tcPr>
                </a:tc>
                <a:extLst>
                  <a:ext uri="{0D108BD9-81ED-4DB2-BD59-A6C34878D82A}">
                    <a16:rowId xmlns:a16="http://schemas.microsoft.com/office/drawing/2014/main" val="10007"/>
                  </a:ext>
                </a:extLst>
              </a:tr>
              <a:tr h="292608">
                <a:tc>
                  <a:txBody>
                    <a:bodyPr/>
                    <a:lstStyle/>
                    <a:p>
                      <a:r>
                        <a:rPr sz="1100" b="0">
                          <a:solidFill>
                            <a:srgbClr val="1A1A1A"/>
                          </a:solidFill>
                          <a:latin typeface="Calibri"/>
                        </a:rPr>
                        <a:t>HCMC</a:t>
                      </a:r>
                    </a:p>
                  </a:txBody>
                  <a:tcPr>
                    <a:solidFill>
                      <a:srgbClr val="F7F7F7"/>
                    </a:solidFill>
                  </a:tcPr>
                </a:tc>
                <a:tc>
                  <a:txBody>
                    <a:bodyPr/>
                    <a:lstStyle/>
                    <a:p>
                      <a:r>
                        <a:rPr sz="1100" b="0">
                          <a:solidFill>
                            <a:srgbClr val="1A1A1A"/>
                          </a:solidFill>
                          <a:latin typeface="Calibri"/>
                        </a:rPr>
                        <a:t>S2 median</a:t>
                      </a:r>
                    </a:p>
                  </a:txBody>
                  <a:tcPr>
                    <a:solidFill>
                      <a:srgbClr val="F7F7F7"/>
                    </a:solidFill>
                  </a:tcPr>
                </a:tc>
                <a:tc>
                  <a:txBody>
                    <a:bodyPr/>
                    <a:lstStyle/>
                    <a:p>
                      <a:r>
                        <a:rPr sz="1100" b="0">
                          <a:solidFill>
                            <a:srgbClr val="1A1A1A"/>
                          </a:solidFill>
                          <a:latin typeface="Calibri"/>
                        </a:rPr>
                        <a:t>local retrain</a:t>
                      </a:r>
                    </a:p>
                  </a:txBody>
                  <a:tcPr>
                    <a:solidFill>
                      <a:srgbClr val="F7F7F7"/>
                    </a:solidFill>
                  </a:tcPr>
                </a:tc>
                <a:tc>
                  <a:txBody>
                    <a:bodyPr/>
                    <a:lstStyle/>
                    <a:p>
                      <a:r>
                        <a:rPr sz="1100" b="0">
                          <a:solidFill>
                            <a:srgbClr val="1A1A1A"/>
                          </a:solidFill>
                          <a:latin typeface="Calibri"/>
                        </a:rPr>
                        <a:t>22.880</a:t>
                      </a:r>
                    </a:p>
                  </a:txBody>
                  <a:tcPr>
                    <a:solidFill>
                      <a:srgbClr val="F7F7F7"/>
                    </a:solidFill>
                  </a:tcPr>
                </a:tc>
                <a:tc>
                  <a:txBody>
                    <a:bodyPr/>
                    <a:lstStyle/>
                    <a:p>
                      <a:r>
                        <a:rPr sz="1100" b="0">
                          <a:solidFill>
                            <a:srgbClr val="1A1A1A"/>
                          </a:solidFill>
                          <a:latin typeface="Calibri"/>
                        </a:rPr>
                        <a:t>17.930</a:t>
                      </a:r>
                    </a:p>
                  </a:txBody>
                  <a:tcPr>
                    <a:solidFill>
                      <a:srgbClr val="F7F7F7"/>
                    </a:solidFill>
                  </a:tcPr>
                </a:tc>
                <a:tc>
                  <a:txBody>
                    <a:bodyPr/>
                    <a:lstStyle/>
                    <a:p>
                      <a:r>
                        <a:rPr sz="1100" b="0">
                          <a:solidFill>
                            <a:srgbClr val="1A1A1A"/>
                          </a:solidFill>
                          <a:latin typeface="Calibri"/>
                        </a:rPr>
                        <a:t>0.595</a:t>
                      </a:r>
                    </a:p>
                  </a:txBody>
                  <a:tcPr>
                    <a:solidFill>
                      <a:srgbClr val="F7F7F7"/>
                    </a:solidFill>
                  </a:tcPr>
                </a:tc>
                <a:tc>
                  <a:txBody>
                    <a:bodyPr/>
                    <a:lstStyle/>
                    <a:p>
                      <a:r>
                        <a:rPr sz="1100" b="0">
                          <a:solidFill>
                            <a:srgbClr val="1A1A1A"/>
                          </a:solidFill>
                          <a:latin typeface="Calibri"/>
                        </a:rPr>
                        <a:t>−1.900</a:t>
                      </a:r>
                    </a:p>
                  </a:txBody>
                  <a:tcPr>
                    <a:solidFill>
                      <a:srgbClr val="F7F7F7"/>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Zero-shot R² is at or below zero in three of four combinations; every local retrain lands between 0.522 and 0.649.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VIETNAM · SAME-SOURCE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Retraining is not uniformly better: above 80 % imperviousness it is worse</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Large gains in the low and middle classes, a clear reversal in the top class, in both cities and for both predictor sets.</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02_per_class_mae.png"/>
          <p:cNvPicPr>
            <a:picLocks noChangeAspect="1"/>
          </p:cNvPicPr>
          <p:nvPr/>
        </p:nvPicPr>
        <p:blipFill>
          <a:blip r:embed="rId3"/>
          <a:stretch>
            <a:fillRect/>
          </a:stretch>
        </p:blipFill>
        <p:spPr>
          <a:xfrm>
            <a:off x="3081174" y="2048256"/>
            <a:ext cx="6035747" cy="2084831"/>
          </a:xfrm>
          <a:prstGeom prst="rect">
            <a:avLst/>
          </a:prstGeom>
        </p:spPr>
      </p:pic>
      <p:graphicFrame>
        <p:nvGraphicFramePr>
          <p:cNvPr id="7" name="Table 6"/>
          <p:cNvGraphicFramePr>
            <a:graphicFrameLocks noGrp="1"/>
          </p:cNvGraphicFramePr>
          <p:nvPr/>
        </p:nvGraphicFramePr>
        <p:xfrm>
          <a:off x="2395728" y="4370832"/>
          <a:ext cx="7406640" cy="188976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tblGrid>
              <a:tr h="208026">
                <a:tc>
                  <a:txBody>
                    <a:bodyPr/>
                    <a:lstStyle/>
                    <a:p>
                      <a:r>
                        <a:rPr sz="950" b="1">
                          <a:solidFill>
                            <a:srgbClr val="FFFFFF"/>
                          </a:solidFill>
                          <a:latin typeface="Calibri"/>
                        </a:rPr>
                        <a:t>City</a:t>
                      </a:r>
                    </a:p>
                  </a:txBody>
                  <a:tcPr>
                    <a:solidFill>
                      <a:srgbClr val="1A1A1A"/>
                    </a:solidFill>
                  </a:tcPr>
                </a:tc>
                <a:tc>
                  <a:txBody>
                    <a:bodyPr/>
                    <a:lstStyle/>
                    <a:p>
                      <a:r>
                        <a:rPr sz="950" b="1">
                          <a:solidFill>
                            <a:srgbClr val="FFFFFF"/>
                          </a:solidFill>
                          <a:latin typeface="Calibri"/>
                        </a:rPr>
                        <a:t>Predictors</a:t>
                      </a:r>
                    </a:p>
                  </a:txBody>
                  <a:tcPr>
                    <a:solidFill>
                      <a:srgbClr val="1A1A1A"/>
                    </a:solidFill>
                  </a:tcPr>
                </a:tc>
                <a:tc>
                  <a:txBody>
                    <a:bodyPr/>
                    <a:lstStyle/>
                    <a:p>
                      <a:r>
                        <a:rPr sz="950" b="1">
                          <a:solidFill>
                            <a:srgbClr val="FFFFFF"/>
                          </a:solidFill>
                          <a:latin typeface="Calibri"/>
                        </a:rPr>
                        <a:t>Class</a:t>
                      </a:r>
                    </a:p>
                  </a:txBody>
                  <a:tcPr>
                    <a:solidFill>
                      <a:srgbClr val="1A1A1A"/>
                    </a:solidFill>
                  </a:tcPr>
                </a:tc>
                <a:tc>
                  <a:txBody>
                    <a:bodyPr/>
                    <a:lstStyle/>
                    <a:p>
                      <a:r>
                        <a:rPr sz="950" b="1">
                          <a:solidFill>
                            <a:srgbClr val="FFFFFF"/>
                          </a:solidFill>
                          <a:latin typeface="Calibri"/>
                        </a:rPr>
                        <a:t>Zero-shot MAE</a:t>
                      </a:r>
                    </a:p>
                  </a:txBody>
                  <a:tcPr>
                    <a:solidFill>
                      <a:srgbClr val="1A1A1A"/>
                    </a:solidFill>
                  </a:tcPr>
                </a:tc>
                <a:tc>
                  <a:txBody>
                    <a:bodyPr/>
                    <a:lstStyle/>
                    <a:p>
                      <a:r>
                        <a:rPr sz="950" b="1">
                          <a:solidFill>
                            <a:srgbClr val="FFFFFF"/>
                          </a:solidFill>
                          <a:latin typeface="Calibri"/>
                        </a:rPr>
                        <a:t>Retrain MAE</a:t>
                      </a:r>
                    </a:p>
                  </a:txBody>
                  <a:tcPr>
                    <a:solidFill>
                      <a:srgbClr val="1A1A1A"/>
                    </a:solidFill>
                  </a:tcPr>
                </a:tc>
                <a:tc>
                  <a:txBody>
                    <a:bodyPr/>
                    <a:lstStyle/>
                    <a:p>
                      <a:r>
                        <a:rPr sz="950" b="1">
                          <a:solidFill>
                            <a:srgbClr val="FFFFFF"/>
                          </a:solidFill>
                          <a:latin typeface="Calibri"/>
                        </a:rPr>
                        <a:t>Direction</a:t>
                      </a:r>
                    </a:p>
                  </a:txBody>
                  <a:tcPr>
                    <a:solidFill>
                      <a:srgbClr val="1A1A1A"/>
                    </a:solidFill>
                  </a:tcPr>
                </a:tc>
                <a:extLst>
                  <a:ext uri="{0D108BD9-81ED-4DB2-BD59-A6C34878D82A}">
                    <a16:rowId xmlns:a16="http://schemas.microsoft.com/office/drawing/2014/main" val="10000"/>
                  </a:ext>
                </a:extLst>
              </a:tr>
              <a:tr h="208026">
                <a:tc>
                  <a:txBody>
                    <a:bodyPr/>
                    <a:lstStyle/>
                    <a:p>
                      <a:r>
                        <a:rPr sz="950" b="0">
                          <a:solidFill>
                            <a:srgbClr val="1A1A1A"/>
                          </a:solidFill>
                          <a:latin typeface="Calibri"/>
                        </a:rPr>
                        <a:t>Hanoi</a:t>
                      </a:r>
                    </a:p>
                  </a:txBody>
                  <a:tcPr>
                    <a:solidFill>
                      <a:srgbClr val="FFFFFF"/>
                    </a:solidFill>
                  </a:tcPr>
                </a:tc>
                <a:tc>
                  <a:txBody>
                    <a:bodyPr/>
                    <a:lstStyle/>
                    <a:p>
                      <a:r>
                        <a:rPr sz="950" b="0">
                          <a:solidFill>
                            <a:srgbClr val="1A1A1A"/>
                          </a:solidFill>
                          <a:latin typeface="Calibri"/>
                        </a:rPr>
                        <a:t>AlphaEarth</a:t>
                      </a:r>
                    </a:p>
                  </a:txBody>
                  <a:tcPr>
                    <a:solidFill>
                      <a:srgbClr val="FFFFFF"/>
                    </a:solidFill>
                  </a:tcPr>
                </a:tc>
                <a:tc>
                  <a:txBody>
                    <a:bodyPr/>
                    <a:lstStyle/>
                    <a:p>
                      <a:r>
                        <a:rPr sz="950" b="0">
                          <a:solidFill>
                            <a:srgbClr val="1A1A1A"/>
                          </a:solidFill>
                          <a:latin typeface="Calibri"/>
                        </a:rPr>
                        <a:t>C0 (0 %)</a:t>
                      </a:r>
                    </a:p>
                  </a:txBody>
                  <a:tcPr>
                    <a:solidFill>
                      <a:srgbClr val="FFFFFF"/>
                    </a:solidFill>
                  </a:tcPr>
                </a:tc>
                <a:tc>
                  <a:txBody>
                    <a:bodyPr/>
                    <a:lstStyle/>
                    <a:p>
                      <a:r>
                        <a:rPr sz="950" b="0">
                          <a:solidFill>
                            <a:srgbClr val="1A1A1A"/>
                          </a:solidFill>
                          <a:latin typeface="Calibri"/>
                        </a:rPr>
                        <a:t>40.75</a:t>
                      </a:r>
                    </a:p>
                  </a:txBody>
                  <a:tcPr>
                    <a:solidFill>
                      <a:srgbClr val="FFFFFF"/>
                    </a:solidFill>
                  </a:tcPr>
                </a:tc>
                <a:tc>
                  <a:txBody>
                    <a:bodyPr/>
                    <a:lstStyle/>
                    <a:p>
                      <a:r>
                        <a:rPr sz="950" b="0">
                          <a:solidFill>
                            <a:srgbClr val="1A1A1A"/>
                          </a:solidFill>
                          <a:latin typeface="Calibri"/>
                        </a:rPr>
                        <a:t>6.36</a:t>
                      </a:r>
                    </a:p>
                  </a:txBody>
                  <a:tcPr>
                    <a:solidFill>
                      <a:srgbClr val="FFFFFF"/>
                    </a:solidFill>
                  </a:tcPr>
                </a:tc>
                <a:tc>
                  <a:txBody>
                    <a:bodyPr/>
                    <a:lstStyle/>
                    <a:p>
                      <a:r>
                        <a:rPr sz="950" b="0">
                          <a:solidFill>
                            <a:srgbClr val="1A1A1A"/>
                          </a:solidFill>
                          <a:latin typeface="Calibri"/>
                        </a:rPr>
                        <a:t>retrain better</a:t>
                      </a:r>
                    </a:p>
                  </a:txBody>
                  <a:tcPr>
                    <a:solidFill>
                      <a:srgbClr val="FFFFFF"/>
                    </a:solidFill>
                  </a:tcPr>
                </a:tc>
                <a:extLst>
                  <a:ext uri="{0D108BD9-81ED-4DB2-BD59-A6C34878D82A}">
                    <a16:rowId xmlns:a16="http://schemas.microsoft.com/office/drawing/2014/main" val="10001"/>
                  </a:ext>
                </a:extLst>
              </a:tr>
              <a:tr h="208026">
                <a:tc>
                  <a:txBody>
                    <a:bodyPr/>
                    <a:lstStyle/>
                    <a:p>
                      <a:r>
                        <a:rPr sz="950" b="0">
                          <a:solidFill>
                            <a:srgbClr val="1A1A1A"/>
                          </a:solidFill>
                          <a:latin typeface="Calibri"/>
                        </a:rPr>
                        <a:t>Hanoi</a:t>
                      </a:r>
                    </a:p>
                  </a:txBody>
                  <a:tcPr>
                    <a:solidFill>
                      <a:srgbClr val="F7F7F7"/>
                    </a:solidFill>
                  </a:tcPr>
                </a:tc>
                <a:tc>
                  <a:txBody>
                    <a:bodyPr/>
                    <a:lstStyle/>
                    <a:p>
                      <a:r>
                        <a:rPr sz="950" b="0">
                          <a:solidFill>
                            <a:srgbClr val="1A1A1A"/>
                          </a:solidFill>
                          <a:latin typeface="Calibri"/>
                        </a:rPr>
                        <a:t>AlphaEarth</a:t>
                      </a:r>
                    </a:p>
                  </a:txBody>
                  <a:tcPr>
                    <a:solidFill>
                      <a:srgbClr val="F7F7F7"/>
                    </a:solidFill>
                  </a:tcPr>
                </a:tc>
                <a:tc>
                  <a:txBody>
                    <a:bodyPr/>
                    <a:lstStyle/>
                    <a:p>
                      <a:r>
                        <a:rPr sz="950" b="0">
                          <a:solidFill>
                            <a:srgbClr val="1A1A1A"/>
                          </a:solidFill>
                          <a:latin typeface="Calibri"/>
                        </a:rPr>
                        <a:t>C1 (1–20 %)</a:t>
                      </a:r>
                    </a:p>
                  </a:txBody>
                  <a:tcPr>
                    <a:solidFill>
                      <a:srgbClr val="F7F7F7"/>
                    </a:solidFill>
                  </a:tcPr>
                </a:tc>
                <a:tc>
                  <a:txBody>
                    <a:bodyPr/>
                    <a:lstStyle/>
                    <a:p>
                      <a:r>
                        <a:rPr sz="950" b="0">
                          <a:solidFill>
                            <a:srgbClr val="1A1A1A"/>
                          </a:solidFill>
                          <a:latin typeface="Calibri"/>
                        </a:rPr>
                        <a:t>50.08</a:t>
                      </a:r>
                    </a:p>
                  </a:txBody>
                  <a:tcPr>
                    <a:solidFill>
                      <a:srgbClr val="F7F7F7"/>
                    </a:solidFill>
                  </a:tcPr>
                </a:tc>
                <a:tc>
                  <a:txBody>
                    <a:bodyPr/>
                    <a:lstStyle/>
                    <a:p>
                      <a:r>
                        <a:rPr sz="950" b="0">
                          <a:solidFill>
                            <a:srgbClr val="1A1A1A"/>
                          </a:solidFill>
                          <a:latin typeface="Calibri"/>
                        </a:rPr>
                        <a:t>20.12</a:t>
                      </a:r>
                    </a:p>
                  </a:txBody>
                  <a:tcPr>
                    <a:solidFill>
                      <a:srgbClr val="F7F7F7"/>
                    </a:solidFill>
                  </a:tcPr>
                </a:tc>
                <a:tc>
                  <a:txBody>
                    <a:bodyPr/>
                    <a:lstStyle/>
                    <a:p>
                      <a:r>
                        <a:rPr sz="950" b="0">
                          <a:solidFill>
                            <a:srgbClr val="1A1A1A"/>
                          </a:solidFill>
                          <a:latin typeface="Calibri"/>
                        </a:rPr>
                        <a:t>retrain better</a:t>
                      </a:r>
                    </a:p>
                  </a:txBody>
                  <a:tcPr>
                    <a:solidFill>
                      <a:srgbClr val="F7F7F7"/>
                    </a:solidFill>
                  </a:tcPr>
                </a:tc>
                <a:extLst>
                  <a:ext uri="{0D108BD9-81ED-4DB2-BD59-A6C34878D82A}">
                    <a16:rowId xmlns:a16="http://schemas.microsoft.com/office/drawing/2014/main" val="10002"/>
                  </a:ext>
                </a:extLst>
              </a:tr>
              <a:tr h="208026">
                <a:tc>
                  <a:txBody>
                    <a:bodyPr/>
                    <a:lstStyle/>
                    <a:p>
                      <a:r>
                        <a:rPr sz="950" b="0">
                          <a:solidFill>
                            <a:srgbClr val="1A1A1A"/>
                          </a:solidFill>
                          <a:latin typeface="Calibri"/>
                        </a:rPr>
                        <a:t>HCMC</a:t>
                      </a:r>
                    </a:p>
                  </a:txBody>
                  <a:tcPr>
                    <a:solidFill>
                      <a:srgbClr val="FFFFFF"/>
                    </a:solidFill>
                  </a:tcPr>
                </a:tc>
                <a:tc>
                  <a:txBody>
                    <a:bodyPr/>
                    <a:lstStyle/>
                    <a:p>
                      <a:r>
                        <a:rPr sz="950" b="0">
                          <a:solidFill>
                            <a:srgbClr val="1A1A1A"/>
                          </a:solidFill>
                          <a:latin typeface="Calibri"/>
                        </a:rPr>
                        <a:t>AlphaEarth</a:t>
                      </a:r>
                    </a:p>
                  </a:txBody>
                  <a:tcPr>
                    <a:solidFill>
                      <a:srgbClr val="FFFFFF"/>
                    </a:solidFill>
                  </a:tcPr>
                </a:tc>
                <a:tc>
                  <a:txBody>
                    <a:bodyPr/>
                    <a:lstStyle/>
                    <a:p>
                      <a:r>
                        <a:rPr sz="950" b="0">
                          <a:solidFill>
                            <a:srgbClr val="1A1A1A"/>
                          </a:solidFill>
                          <a:latin typeface="Calibri"/>
                        </a:rPr>
                        <a:t>C0 (0 %)</a:t>
                      </a:r>
                    </a:p>
                  </a:txBody>
                  <a:tcPr>
                    <a:solidFill>
                      <a:srgbClr val="FFFFFF"/>
                    </a:solidFill>
                  </a:tcPr>
                </a:tc>
                <a:tc>
                  <a:txBody>
                    <a:bodyPr/>
                    <a:lstStyle/>
                    <a:p>
                      <a:r>
                        <a:rPr sz="950" b="0">
                          <a:solidFill>
                            <a:srgbClr val="1A1A1A"/>
                          </a:solidFill>
                          <a:latin typeface="Calibri"/>
                        </a:rPr>
                        <a:t>49.05</a:t>
                      </a:r>
                    </a:p>
                  </a:txBody>
                  <a:tcPr>
                    <a:solidFill>
                      <a:srgbClr val="FFFFFF"/>
                    </a:solidFill>
                  </a:tcPr>
                </a:tc>
                <a:tc>
                  <a:txBody>
                    <a:bodyPr/>
                    <a:lstStyle/>
                    <a:p>
                      <a:r>
                        <a:rPr sz="950" b="0">
                          <a:solidFill>
                            <a:srgbClr val="1A1A1A"/>
                          </a:solidFill>
                          <a:latin typeface="Calibri"/>
                        </a:rPr>
                        <a:t>5.15</a:t>
                      </a:r>
                    </a:p>
                  </a:txBody>
                  <a:tcPr>
                    <a:solidFill>
                      <a:srgbClr val="FFFFFF"/>
                    </a:solidFill>
                  </a:tcPr>
                </a:tc>
                <a:tc>
                  <a:txBody>
                    <a:bodyPr/>
                    <a:lstStyle/>
                    <a:p>
                      <a:r>
                        <a:rPr sz="950" b="0">
                          <a:solidFill>
                            <a:srgbClr val="1A1A1A"/>
                          </a:solidFill>
                          <a:latin typeface="Calibri"/>
                        </a:rPr>
                        <a:t>retrain better</a:t>
                      </a:r>
                    </a:p>
                  </a:txBody>
                  <a:tcPr>
                    <a:solidFill>
                      <a:srgbClr val="FFFFFF"/>
                    </a:solidFill>
                  </a:tcPr>
                </a:tc>
                <a:extLst>
                  <a:ext uri="{0D108BD9-81ED-4DB2-BD59-A6C34878D82A}">
                    <a16:rowId xmlns:a16="http://schemas.microsoft.com/office/drawing/2014/main" val="10003"/>
                  </a:ext>
                </a:extLst>
              </a:tr>
              <a:tr h="208026">
                <a:tc>
                  <a:txBody>
                    <a:bodyPr/>
                    <a:lstStyle/>
                    <a:p>
                      <a:r>
                        <a:rPr sz="950" b="0">
                          <a:solidFill>
                            <a:srgbClr val="1A1A1A"/>
                          </a:solidFill>
                          <a:latin typeface="Calibri"/>
                        </a:rPr>
                        <a:t>Hanoi</a:t>
                      </a:r>
                    </a:p>
                  </a:txBody>
                  <a:tcPr>
                    <a:solidFill>
                      <a:srgbClr val="F7F7F7"/>
                    </a:solidFill>
                  </a:tcPr>
                </a:tc>
                <a:tc>
                  <a:txBody>
                    <a:bodyPr/>
                    <a:lstStyle/>
                    <a:p>
                      <a:r>
                        <a:rPr sz="950" b="0">
                          <a:solidFill>
                            <a:srgbClr val="1A1A1A"/>
                          </a:solidFill>
                          <a:latin typeface="Calibri"/>
                        </a:rPr>
                        <a:t>AlphaEarth</a:t>
                      </a:r>
                    </a:p>
                  </a:txBody>
                  <a:tcPr>
                    <a:solidFill>
                      <a:srgbClr val="F7F7F7"/>
                    </a:solidFill>
                  </a:tcPr>
                </a:tc>
                <a:tc>
                  <a:txBody>
                    <a:bodyPr/>
                    <a:lstStyle/>
                    <a:p>
                      <a:r>
                        <a:rPr sz="950" b="0">
                          <a:solidFill>
                            <a:srgbClr val="1A1A1A"/>
                          </a:solidFill>
                          <a:latin typeface="Calibri"/>
                        </a:rPr>
                        <a:t>C6 (100 %)</a:t>
                      </a:r>
                    </a:p>
                  </a:txBody>
                  <a:tcPr>
                    <a:solidFill>
                      <a:srgbClr val="F7F7F7"/>
                    </a:solidFill>
                  </a:tcPr>
                </a:tc>
                <a:tc>
                  <a:txBody>
                    <a:bodyPr/>
                    <a:lstStyle/>
                    <a:p>
                      <a:r>
                        <a:rPr sz="950" b="0">
                          <a:solidFill>
                            <a:srgbClr val="1A1A1A"/>
                          </a:solidFill>
                          <a:latin typeface="Calibri"/>
                        </a:rPr>
                        <a:t>17.25</a:t>
                      </a:r>
                    </a:p>
                  </a:txBody>
                  <a:tcPr>
                    <a:solidFill>
                      <a:srgbClr val="F7F7F7"/>
                    </a:solidFill>
                  </a:tcPr>
                </a:tc>
                <a:tc>
                  <a:txBody>
                    <a:bodyPr/>
                    <a:lstStyle/>
                    <a:p>
                      <a:r>
                        <a:rPr sz="950" b="0">
                          <a:solidFill>
                            <a:srgbClr val="1A1A1A"/>
                          </a:solidFill>
                          <a:latin typeface="Calibri"/>
                        </a:rPr>
                        <a:t>30.95</a:t>
                      </a:r>
                    </a:p>
                  </a:txBody>
                  <a:tcPr>
                    <a:solidFill>
                      <a:srgbClr val="F7F7F7"/>
                    </a:solidFill>
                  </a:tcPr>
                </a:tc>
                <a:tc>
                  <a:txBody>
                    <a:bodyPr/>
                    <a:lstStyle/>
                    <a:p>
                      <a:r>
                        <a:rPr sz="950" b="0">
                          <a:solidFill>
                            <a:srgbClr val="1A1A1A"/>
                          </a:solidFill>
                          <a:latin typeface="Calibri"/>
                        </a:rPr>
                        <a:t>retrain worse</a:t>
                      </a:r>
                    </a:p>
                  </a:txBody>
                  <a:tcPr>
                    <a:solidFill>
                      <a:srgbClr val="F7F7F7"/>
                    </a:solidFill>
                  </a:tcPr>
                </a:tc>
                <a:extLst>
                  <a:ext uri="{0D108BD9-81ED-4DB2-BD59-A6C34878D82A}">
                    <a16:rowId xmlns:a16="http://schemas.microsoft.com/office/drawing/2014/main" val="10004"/>
                  </a:ext>
                </a:extLst>
              </a:tr>
              <a:tr h="208026">
                <a:tc>
                  <a:txBody>
                    <a:bodyPr/>
                    <a:lstStyle/>
                    <a:p>
                      <a:r>
                        <a:rPr sz="950" b="0">
                          <a:solidFill>
                            <a:srgbClr val="1A1A1A"/>
                          </a:solidFill>
                          <a:latin typeface="Calibri"/>
                        </a:rPr>
                        <a:t>HCMC</a:t>
                      </a:r>
                    </a:p>
                  </a:txBody>
                  <a:tcPr>
                    <a:solidFill>
                      <a:srgbClr val="FFFFFF"/>
                    </a:solidFill>
                  </a:tcPr>
                </a:tc>
                <a:tc>
                  <a:txBody>
                    <a:bodyPr/>
                    <a:lstStyle/>
                    <a:p>
                      <a:r>
                        <a:rPr sz="950" b="0">
                          <a:solidFill>
                            <a:srgbClr val="1A1A1A"/>
                          </a:solidFill>
                          <a:latin typeface="Calibri"/>
                        </a:rPr>
                        <a:t>AlphaEarth</a:t>
                      </a:r>
                    </a:p>
                  </a:txBody>
                  <a:tcPr>
                    <a:solidFill>
                      <a:srgbClr val="FFFFFF"/>
                    </a:solidFill>
                  </a:tcPr>
                </a:tc>
                <a:tc>
                  <a:txBody>
                    <a:bodyPr/>
                    <a:lstStyle/>
                    <a:p>
                      <a:r>
                        <a:rPr sz="950" b="0">
                          <a:solidFill>
                            <a:srgbClr val="1A1A1A"/>
                          </a:solidFill>
                          <a:latin typeface="Calibri"/>
                        </a:rPr>
                        <a:t>C6 (100 %)</a:t>
                      </a:r>
                    </a:p>
                  </a:txBody>
                  <a:tcPr>
                    <a:solidFill>
                      <a:srgbClr val="FFFFFF"/>
                    </a:solidFill>
                  </a:tcPr>
                </a:tc>
                <a:tc>
                  <a:txBody>
                    <a:bodyPr/>
                    <a:lstStyle/>
                    <a:p>
                      <a:r>
                        <a:rPr sz="950" b="0">
                          <a:solidFill>
                            <a:srgbClr val="1A1A1A"/>
                          </a:solidFill>
                          <a:latin typeface="Calibri"/>
                        </a:rPr>
                        <a:t>12.93</a:t>
                      </a:r>
                    </a:p>
                  </a:txBody>
                  <a:tcPr>
                    <a:solidFill>
                      <a:srgbClr val="FFFFFF"/>
                    </a:solidFill>
                  </a:tcPr>
                </a:tc>
                <a:tc>
                  <a:txBody>
                    <a:bodyPr/>
                    <a:lstStyle/>
                    <a:p>
                      <a:r>
                        <a:rPr sz="950" b="0">
                          <a:solidFill>
                            <a:srgbClr val="1A1A1A"/>
                          </a:solidFill>
                          <a:latin typeface="Calibri"/>
                        </a:rPr>
                        <a:t>25.20</a:t>
                      </a:r>
                    </a:p>
                  </a:txBody>
                  <a:tcPr>
                    <a:solidFill>
                      <a:srgbClr val="FFFFFF"/>
                    </a:solidFill>
                  </a:tcPr>
                </a:tc>
                <a:tc>
                  <a:txBody>
                    <a:bodyPr/>
                    <a:lstStyle/>
                    <a:p>
                      <a:r>
                        <a:rPr sz="950" b="0">
                          <a:solidFill>
                            <a:srgbClr val="1A1A1A"/>
                          </a:solidFill>
                          <a:latin typeface="Calibri"/>
                        </a:rPr>
                        <a:t>retrain worse</a:t>
                      </a:r>
                    </a:p>
                  </a:txBody>
                  <a:tcPr>
                    <a:solidFill>
                      <a:srgbClr val="FFFFFF"/>
                    </a:solidFill>
                  </a:tcPr>
                </a:tc>
                <a:extLst>
                  <a:ext uri="{0D108BD9-81ED-4DB2-BD59-A6C34878D82A}">
                    <a16:rowId xmlns:a16="http://schemas.microsoft.com/office/drawing/2014/main" val="10005"/>
                  </a:ext>
                </a:extLst>
              </a:tr>
              <a:tr h="208026">
                <a:tc>
                  <a:txBody>
                    <a:bodyPr/>
                    <a:lstStyle/>
                    <a:p>
                      <a:r>
                        <a:rPr sz="950" b="0">
                          <a:solidFill>
                            <a:srgbClr val="1A1A1A"/>
                          </a:solidFill>
                          <a:latin typeface="Calibri"/>
                        </a:rPr>
                        <a:t>Hanoi</a:t>
                      </a:r>
                    </a:p>
                  </a:txBody>
                  <a:tcPr>
                    <a:solidFill>
                      <a:srgbClr val="F7F7F7"/>
                    </a:solidFill>
                  </a:tcPr>
                </a:tc>
                <a:tc>
                  <a:txBody>
                    <a:bodyPr/>
                    <a:lstStyle/>
                    <a:p>
                      <a:r>
                        <a:rPr sz="950" b="0">
                          <a:solidFill>
                            <a:srgbClr val="1A1A1A"/>
                          </a:solidFill>
                          <a:latin typeface="Calibri"/>
                        </a:rPr>
                        <a:t>S2 median</a:t>
                      </a:r>
                    </a:p>
                  </a:txBody>
                  <a:tcPr>
                    <a:solidFill>
                      <a:srgbClr val="F7F7F7"/>
                    </a:solidFill>
                  </a:tcPr>
                </a:tc>
                <a:tc>
                  <a:txBody>
                    <a:bodyPr/>
                    <a:lstStyle/>
                    <a:p>
                      <a:r>
                        <a:rPr sz="950" b="0">
                          <a:solidFill>
                            <a:srgbClr val="1A1A1A"/>
                          </a:solidFill>
                          <a:latin typeface="Calibri"/>
                        </a:rPr>
                        <a:t>C6 (100 %)</a:t>
                      </a:r>
                    </a:p>
                  </a:txBody>
                  <a:tcPr>
                    <a:solidFill>
                      <a:srgbClr val="F7F7F7"/>
                    </a:solidFill>
                  </a:tcPr>
                </a:tc>
                <a:tc>
                  <a:txBody>
                    <a:bodyPr/>
                    <a:lstStyle/>
                    <a:p>
                      <a:r>
                        <a:rPr sz="950" b="0">
                          <a:solidFill>
                            <a:srgbClr val="1A1A1A"/>
                          </a:solidFill>
                          <a:latin typeface="Calibri"/>
                        </a:rPr>
                        <a:t>8.07</a:t>
                      </a:r>
                    </a:p>
                  </a:txBody>
                  <a:tcPr>
                    <a:solidFill>
                      <a:srgbClr val="F7F7F7"/>
                    </a:solidFill>
                  </a:tcPr>
                </a:tc>
                <a:tc>
                  <a:txBody>
                    <a:bodyPr/>
                    <a:lstStyle/>
                    <a:p>
                      <a:r>
                        <a:rPr sz="950" b="0">
                          <a:solidFill>
                            <a:srgbClr val="1A1A1A"/>
                          </a:solidFill>
                          <a:latin typeface="Calibri"/>
                        </a:rPr>
                        <a:t>26.16</a:t>
                      </a:r>
                    </a:p>
                  </a:txBody>
                  <a:tcPr>
                    <a:solidFill>
                      <a:srgbClr val="F7F7F7"/>
                    </a:solidFill>
                  </a:tcPr>
                </a:tc>
                <a:tc>
                  <a:txBody>
                    <a:bodyPr/>
                    <a:lstStyle/>
                    <a:p>
                      <a:r>
                        <a:rPr sz="950" b="0">
                          <a:solidFill>
                            <a:srgbClr val="1A1A1A"/>
                          </a:solidFill>
                          <a:latin typeface="Calibri"/>
                        </a:rPr>
                        <a:t>retrain worse</a:t>
                      </a:r>
                    </a:p>
                  </a:txBody>
                  <a:tcPr>
                    <a:solidFill>
                      <a:srgbClr val="F7F7F7"/>
                    </a:solidFill>
                  </a:tcPr>
                </a:tc>
                <a:extLst>
                  <a:ext uri="{0D108BD9-81ED-4DB2-BD59-A6C34878D82A}">
                    <a16:rowId xmlns:a16="http://schemas.microsoft.com/office/drawing/2014/main" val="10006"/>
                  </a:ext>
                </a:extLst>
              </a:tr>
              <a:tr h="208026">
                <a:tc>
                  <a:txBody>
                    <a:bodyPr/>
                    <a:lstStyle/>
                    <a:p>
                      <a:r>
                        <a:rPr sz="950" b="0">
                          <a:solidFill>
                            <a:srgbClr val="1A1A1A"/>
                          </a:solidFill>
                          <a:latin typeface="Calibri"/>
                        </a:rPr>
                        <a:t>HCMC</a:t>
                      </a:r>
                    </a:p>
                  </a:txBody>
                  <a:tcPr>
                    <a:solidFill>
                      <a:srgbClr val="FFFFFF"/>
                    </a:solidFill>
                  </a:tcPr>
                </a:tc>
                <a:tc>
                  <a:txBody>
                    <a:bodyPr/>
                    <a:lstStyle/>
                    <a:p>
                      <a:r>
                        <a:rPr sz="950" b="0">
                          <a:solidFill>
                            <a:srgbClr val="1A1A1A"/>
                          </a:solidFill>
                          <a:latin typeface="Calibri"/>
                        </a:rPr>
                        <a:t>S2 median</a:t>
                      </a:r>
                    </a:p>
                  </a:txBody>
                  <a:tcPr>
                    <a:solidFill>
                      <a:srgbClr val="FFFFFF"/>
                    </a:solidFill>
                  </a:tcPr>
                </a:tc>
                <a:tc>
                  <a:txBody>
                    <a:bodyPr/>
                    <a:lstStyle/>
                    <a:p>
                      <a:r>
                        <a:rPr sz="950" b="0">
                          <a:solidFill>
                            <a:srgbClr val="1A1A1A"/>
                          </a:solidFill>
                          <a:latin typeface="Calibri"/>
                        </a:rPr>
                        <a:t>C6 (100 %)</a:t>
                      </a:r>
                    </a:p>
                  </a:txBody>
                  <a:tcPr>
                    <a:solidFill>
                      <a:srgbClr val="FFFFFF"/>
                    </a:solidFill>
                  </a:tcPr>
                </a:tc>
                <a:tc>
                  <a:txBody>
                    <a:bodyPr/>
                    <a:lstStyle/>
                    <a:p>
                      <a:r>
                        <a:rPr sz="950" b="0">
                          <a:solidFill>
                            <a:srgbClr val="1A1A1A"/>
                          </a:solidFill>
                          <a:latin typeface="Calibri"/>
                        </a:rPr>
                        <a:t>5.91</a:t>
                      </a:r>
                    </a:p>
                  </a:txBody>
                  <a:tcPr>
                    <a:solidFill>
                      <a:srgbClr val="FFFFFF"/>
                    </a:solidFill>
                  </a:tcPr>
                </a:tc>
                <a:tc>
                  <a:txBody>
                    <a:bodyPr/>
                    <a:lstStyle/>
                    <a:p>
                      <a:r>
                        <a:rPr sz="950" b="0">
                          <a:solidFill>
                            <a:srgbClr val="1A1A1A"/>
                          </a:solidFill>
                          <a:latin typeface="Calibri"/>
                        </a:rPr>
                        <a:t>22.58</a:t>
                      </a:r>
                    </a:p>
                  </a:txBody>
                  <a:tcPr>
                    <a:solidFill>
                      <a:srgbClr val="FFFFFF"/>
                    </a:solidFill>
                  </a:tcPr>
                </a:tc>
                <a:tc>
                  <a:txBody>
                    <a:bodyPr/>
                    <a:lstStyle/>
                    <a:p>
                      <a:r>
                        <a:rPr sz="950" b="0">
                          <a:solidFill>
                            <a:srgbClr val="1A1A1A"/>
                          </a:solidFill>
                          <a:latin typeface="Calibri"/>
                        </a:rPr>
                        <a:t>retrain worse</a:t>
                      </a:r>
                    </a:p>
                  </a:txBody>
                  <a:tcPr>
                    <a:solidFill>
                      <a:srgbClr val="FFFFFF"/>
                    </a:solidFill>
                  </a:tcPr>
                </a:tc>
                <a:extLst>
                  <a:ext uri="{0D108BD9-81ED-4DB2-BD59-A6C34878D82A}">
                    <a16:rowId xmlns:a16="http://schemas.microsoft.com/office/drawing/2014/main" val="10007"/>
                  </a:ext>
                </a:extLst>
              </a:tr>
            </a:tbl>
          </a:graphicData>
        </a:graphic>
      </p:graphicFrame>
      <p:sp>
        <p:nvSpPr>
          <p:cNvPr id="8" name="TextBox 7"/>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MAE per IMD class, AlphaEarth embeddings, scored against GHS-BUILT-S. Žgela reports the same pattern.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2212848"/>
            <a:ext cx="10881360" cy="320040"/>
          </a:xfrm>
          <a:prstGeom prst="rect">
            <a:avLst/>
          </a:prstGeom>
          <a:noFill/>
        </p:spPr>
        <p:txBody>
          <a:bodyPr wrap="square">
            <a:spAutoFit/>
          </a:bodyPr>
          <a:lstStyle/>
          <a:p>
            <a:pPr algn="l">
              <a:lnSpc>
                <a:spcPct val="125000"/>
              </a:lnSpc>
            </a:pPr>
            <a:r>
              <a:rPr sz="1200" b="1" i="0">
                <a:solidFill>
                  <a:srgbClr val="0B6E4F"/>
                </a:solidFill>
                <a:latin typeface="Calibri"/>
              </a:rPr>
              <a:t>SECTION 5 OF 7</a:t>
            </a:r>
          </a:p>
        </p:txBody>
      </p:sp>
      <p:sp>
        <p:nvSpPr>
          <p:cNvPr id="3" name="TextBox 2"/>
          <p:cNvSpPr txBox="1"/>
          <p:nvPr/>
        </p:nvSpPr>
        <p:spPr>
          <a:xfrm>
            <a:off x="822960" y="2560320"/>
            <a:ext cx="10881360" cy="914400"/>
          </a:xfrm>
          <a:prstGeom prst="rect">
            <a:avLst/>
          </a:prstGeom>
          <a:noFill/>
        </p:spPr>
        <p:txBody>
          <a:bodyPr wrap="square">
            <a:spAutoFit/>
          </a:bodyPr>
          <a:lstStyle/>
          <a:p>
            <a:pPr algn="l">
              <a:lnSpc>
                <a:spcPct val="125000"/>
              </a:lnSpc>
            </a:pPr>
            <a:r>
              <a:rPr sz="3000" b="1" i="0">
                <a:solidFill>
                  <a:srgbClr val="1A1A1A"/>
                </a:solidFill>
                <a:latin typeface="Calibri"/>
              </a:rPr>
              <a:t>Independent validation</a:t>
            </a:r>
          </a:p>
        </p:txBody>
      </p:sp>
      <p:sp>
        <p:nvSpPr>
          <p:cNvPr id="4" name="Rectangle 3"/>
          <p:cNvSpPr/>
          <p:nvPr/>
        </p:nvSpPr>
        <p:spPr>
          <a:xfrm>
            <a:off x="822960" y="3584448"/>
            <a:ext cx="3657600" cy="32004"/>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03904"/>
            <a:ext cx="8686800" cy="731520"/>
          </a:xfrm>
          <a:prstGeom prst="rect">
            <a:avLst/>
          </a:prstGeom>
          <a:noFill/>
        </p:spPr>
        <p:txBody>
          <a:bodyPr wrap="square">
            <a:spAutoFit/>
          </a:bodyPr>
          <a:lstStyle/>
          <a:p>
            <a:pPr algn="l">
              <a:lnSpc>
                <a:spcPct val="135000"/>
              </a:lnSpc>
            </a:pPr>
            <a:r>
              <a:rPr sz="1400" b="0" i="0">
                <a:solidFill>
                  <a:srgbClr val="6B6B6B"/>
                </a:solidFill>
                <a:latin typeface="Calibri"/>
              </a:rPr>
              <a:t>Change the reference and most of that margin turns out to be agreement</a:t>
            </a:r>
          </a:p>
        </p:txBody>
      </p:sp>
      <p:sp>
        <p:nvSpPr>
          <p:cNvPr id="6" name="TextBox 5"/>
          <p:cNvSpPr txBox="1"/>
          <p:nvPr/>
        </p:nvSpPr>
        <p:spPr>
          <a:xfrm>
            <a:off x="822960" y="5577840"/>
            <a:ext cx="10881360" cy="822960"/>
          </a:xfrm>
          <a:prstGeom prst="rect">
            <a:avLst/>
          </a:prstGeom>
          <a:noFill/>
        </p:spPr>
        <p:txBody>
          <a:bodyPr wrap="square">
            <a:spAutoFit/>
          </a:bodyPr>
          <a:lstStyle/>
          <a:p>
            <a:pPr algn="l">
              <a:lnSpc>
                <a:spcPct val="125000"/>
              </a:lnSpc>
            </a:pPr>
            <a:r>
              <a:rPr sz="1000" b="0" i="0">
                <a:solidFill>
                  <a:srgbClr val="6B6B6B"/>
                </a:solidFill>
                <a:latin typeface="Calibri"/>
              </a:rPr>
              <a:t>1. Design and data · 2. Method · 3. Milan · same-source validation · 4. Vietnam · transfer · 5. Independent validation · 6. Why transfer fails · 7. Conclusions and limitations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INDEPENDENT VALIDATION · THE RESULT</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Change the reference and the Milan spread compresses about 6.4-fold</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The four-way spread falls from 4.661 RMSE — 33.0 % of the worst map — to 1.340, or 5.2 %. Most of what the first validation measured as separation was agreement with CLMS rather than accuracy.</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samesource_vs_independent.png"/>
          <p:cNvPicPr>
            <a:picLocks noChangeAspect="1"/>
          </p:cNvPicPr>
          <p:nvPr/>
        </p:nvPicPr>
        <p:blipFill>
          <a:blip r:embed="rId3"/>
          <a:stretch>
            <a:fillRect/>
          </a:stretch>
        </p:blipFill>
        <p:spPr>
          <a:xfrm>
            <a:off x="1374973" y="2029968"/>
            <a:ext cx="4510390" cy="329184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3553041905"/>
              </p:ext>
            </p:extLst>
          </p:nvPr>
        </p:nvGraphicFramePr>
        <p:xfrm>
          <a:off x="6306639" y="2139696"/>
          <a:ext cx="5644356" cy="3931920"/>
        </p:xfrm>
        <a:graphic>
          <a:graphicData uri="http://schemas.openxmlformats.org/drawingml/2006/table">
            <a:tbl>
              <a:tblPr firstRow="1" bandRow="1">
                <a:tableStyleId>{5C22544A-7EE6-4342-B048-85BDC9FD1C3A}</a:tableStyleId>
              </a:tblPr>
              <a:tblGrid>
                <a:gridCol w="569082">
                  <a:extLst>
                    <a:ext uri="{9D8B030D-6E8A-4147-A177-3AD203B41FA5}">
                      <a16:colId xmlns:a16="http://schemas.microsoft.com/office/drawing/2014/main" val="20000"/>
                    </a:ext>
                  </a:extLst>
                </a:gridCol>
                <a:gridCol w="1312370">
                  <a:extLst>
                    <a:ext uri="{9D8B030D-6E8A-4147-A177-3AD203B41FA5}">
                      <a16:colId xmlns:a16="http://schemas.microsoft.com/office/drawing/2014/main" val="20001"/>
                    </a:ext>
                  </a:extLst>
                </a:gridCol>
                <a:gridCol w="940726">
                  <a:extLst>
                    <a:ext uri="{9D8B030D-6E8A-4147-A177-3AD203B41FA5}">
                      <a16:colId xmlns:a16="http://schemas.microsoft.com/office/drawing/2014/main" val="20002"/>
                    </a:ext>
                  </a:extLst>
                </a:gridCol>
                <a:gridCol w="940726">
                  <a:extLst>
                    <a:ext uri="{9D8B030D-6E8A-4147-A177-3AD203B41FA5}">
                      <a16:colId xmlns:a16="http://schemas.microsoft.com/office/drawing/2014/main" val="20003"/>
                    </a:ext>
                  </a:extLst>
                </a:gridCol>
                <a:gridCol w="940726">
                  <a:extLst>
                    <a:ext uri="{9D8B030D-6E8A-4147-A177-3AD203B41FA5}">
                      <a16:colId xmlns:a16="http://schemas.microsoft.com/office/drawing/2014/main" val="20004"/>
                    </a:ext>
                  </a:extLst>
                </a:gridCol>
                <a:gridCol w="940726">
                  <a:extLst>
                    <a:ext uri="{9D8B030D-6E8A-4147-A177-3AD203B41FA5}">
                      <a16:colId xmlns:a16="http://schemas.microsoft.com/office/drawing/2014/main" val="20005"/>
                    </a:ext>
                  </a:extLst>
                </a:gridCol>
              </a:tblGrid>
              <a:tr h="245745">
                <a:tc>
                  <a:txBody>
                    <a:bodyPr/>
                    <a:lstStyle/>
                    <a:p>
                      <a:r>
                        <a:rPr sz="850" b="1">
                          <a:solidFill>
                            <a:srgbClr val="FFFFFF"/>
                          </a:solidFill>
                          <a:latin typeface="Calibri"/>
                        </a:rPr>
                        <a:t>City</a:t>
                      </a:r>
                    </a:p>
                  </a:txBody>
                  <a:tcPr>
                    <a:solidFill>
                      <a:srgbClr val="1A1A1A"/>
                    </a:solidFill>
                  </a:tcPr>
                </a:tc>
                <a:tc>
                  <a:txBody>
                    <a:bodyPr/>
                    <a:lstStyle/>
                    <a:p>
                      <a:r>
                        <a:rPr sz="850" b="1">
                          <a:solidFill>
                            <a:srgbClr val="FFFFFF"/>
                          </a:solidFill>
                          <a:latin typeface="Calibri"/>
                        </a:rPr>
                        <a:t>Map</a:t>
                      </a:r>
                    </a:p>
                  </a:txBody>
                  <a:tcPr>
                    <a:solidFill>
                      <a:srgbClr val="1A1A1A"/>
                    </a:solidFill>
                  </a:tcPr>
                </a:tc>
                <a:tc>
                  <a:txBody>
                    <a:bodyPr/>
                    <a:lstStyle/>
                    <a:p>
                      <a:r>
                        <a:rPr sz="850" b="1">
                          <a:solidFill>
                            <a:srgbClr val="FFFFFF"/>
                          </a:solidFill>
                          <a:latin typeface="Calibri"/>
                        </a:rPr>
                        <a:t>Role</a:t>
                      </a:r>
                    </a:p>
                  </a:txBody>
                  <a:tcPr>
                    <a:solidFill>
                      <a:srgbClr val="1A1A1A"/>
                    </a:solidFill>
                  </a:tcPr>
                </a:tc>
                <a:tc>
                  <a:txBody>
                    <a:bodyPr/>
                    <a:lstStyle/>
                    <a:p>
                      <a:r>
                        <a:rPr sz="850" b="1">
                          <a:solidFill>
                            <a:srgbClr val="FFFFFF"/>
                          </a:solidFill>
                          <a:latin typeface="Calibri"/>
                        </a:rPr>
                        <a:t>RMSE</a:t>
                      </a:r>
                    </a:p>
                  </a:txBody>
                  <a:tcPr>
                    <a:solidFill>
                      <a:srgbClr val="1A1A1A"/>
                    </a:solidFill>
                  </a:tcPr>
                </a:tc>
                <a:tc>
                  <a:txBody>
                    <a:bodyPr/>
                    <a:lstStyle/>
                    <a:p>
                      <a:r>
                        <a:rPr sz="850" b="1">
                          <a:solidFill>
                            <a:srgbClr val="FFFFFF"/>
                          </a:solidFill>
                          <a:latin typeface="Calibri"/>
                        </a:rPr>
                        <a:t>MAE</a:t>
                      </a:r>
                    </a:p>
                  </a:txBody>
                  <a:tcPr>
                    <a:solidFill>
                      <a:srgbClr val="1A1A1A"/>
                    </a:solidFill>
                  </a:tcPr>
                </a:tc>
                <a:tc>
                  <a:txBody>
                    <a:bodyPr/>
                    <a:lstStyle/>
                    <a:p>
                      <a:r>
                        <a:rPr sz="850" b="1">
                          <a:solidFill>
                            <a:srgbClr val="FFFFFF"/>
                          </a:solidFill>
                          <a:latin typeface="Calibri"/>
                        </a:rPr>
                        <a:t>Bias</a:t>
                      </a:r>
                    </a:p>
                  </a:txBody>
                  <a:tcPr>
                    <a:solidFill>
                      <a:srgbClr val="1A1A1A"/>
                    </a:solidFill>
                  </a:tcPr>
                </a:tc>
                <a:extLst>
                  <a:ext uri="{0D108BD9-81ED-4DB2-BD59-A6C34878D82A}">
                    <a16:rowId xmlns:a16="http://schemas.microsoft.com/office/drawing/2014/main" val="10000"/>
                  </a:ext>
                </a:extLst>
              </a:tr>
              <a:tr h="245745">
                <a:tc>
                  <a:txBody>
                    <a:bodyPr/>
                    <a:lstStyle/>
                    <a:p>
                      <a:r>
                        <a:rPr sz="850" b="0">
                          <a:solidFill>
                            <a:srgbClr val="1A1A1A"/>
                          </a:solidFill>
                          <a:latin typeface="Calibri"/>
                        </a:rPr>
                        <a:t>Milan</a:t>
                      </a:r>
                    </a:p>
                  </a:txBody>
                  <a:tcPr>
                    <a:solidFill>
                      <a:srgbClr val="FFFFFF"/>
                    </a:solidFill>
                  </a:tcPr>
                </a:tc>
                <a:tc>
                  <a:txBody>
                    <a:bodyPr/>
                    <a:lstStyle/>
                    <a:p>
                      <a:r>
                        <a:rPr sz="850" b="0">
                          <a:solidFill>
                            <a:srgbClr val="1A1A1A"/>
                          </a:solidFill>
                          <a:latin typeface="Calibri"/>
                        </a:rPr>
                        <a:t>S2 stack</a:t>
                      </a:r>
                    </a:p>
                  </a:txBody>
                  <a:tcPr>
                    <a:solidFill>
                      <a:srgbClr val="FFFFFF"/>
                    </a:solidFill>
                  </a:tcPr>
                </a:tc>
                <a:tc>
                  <a:txBody>
                    <a:bodyPr/>
                    <a:lstStyle/>
                    <a:p>
                      <a:r>
                        <a:rPr sz="850" b="0">
                          <a:solidFill>
                            <a:srgbClr val="1A1A1A"/>
                          </a:solidFill>
                          <a:latin typeface="Calibri"/>
                        </a:rPr>
                        <a:t>model</a:t>
                      </a:r>
                    </a:p>
                  </a:txBody>
                  <a:tcPr>
                    <a:solidFill>
                      <a:srgbClr val="FFFFFF"/>
                    </a:solidFill>
                  </a:tcPr>
                </a:tc>
                <a:tc>
                  <a:txBody>
                    <a:bodyPr/>
                    <a:lstStyle/>
                    <a:p>
                      <a:r>
                        <a:rPr sz="850" b="0">
                          <a:solidFill>
                            <a:srgbClr val="1A1A1A"/>
                          </a:solidFill>
                          <a:latin typeface="Calibri"/>
                        </a:rPr>
                        <a:t>24.644</a:t>
                      </a:r>
                    </a:p>
                  </a:txBody>
                  <a:tcPr>
                    <a:solidFill>
                      <a:srgbClr val="FFFFFF"/>
                    </a:solidFill>
                  </a:tcPr>
                </a:tc>
                <a:tc>
                  <a:txBody>
                    <a:bodyPr/>
                    <a:lstStyle/>
                    <a:p>
                      <a:r>
                        <a:rPr sz="850" b="0">
                          <a:solidFill>
                            <a:srgbClr val="1A1A1A"/>
                          </a:solidFill>
                          <a:latin typeface="Calibri"/>
                        </a:rPr>
                        <a:t>16.551</a:t>
                      </a:r>
                    </a:p>
                  </a:txBody>
                  <a:tcPr>
                    <a:solidFill>
                      <a:srgbClr val="FFFFFF"/>
                    </a:solidFill>
                  </a:tcPr>
                </a:tc>
                <a:tc>
                  <a:txBody>
                    <a:bodyPr/>
                    <a:lstStyle/>
                    <a:p>
                      <a:r>
                        <a:rPr sz="850" b="0">
                          <a:solidFill>
                            <a:srgbClr val="1A1A1A"/>
                          </a:solidFill>
                          <a:latin typeface="Calibri"/>
                        </a:rPr>
                        <a:t>−3.344</a:t>
                      </a:r>
                    </a:p>
                  </a:txBody>
                  <a:tcPr>
                    <a:solidFill>
                      <a:srgbClr val="FFFFFF"/>
                    </a:solidFill>
                  </a:tcPr>
                </a:tc>
                <a:extLst>
                  <a:ext uri="{0D108BD9-81ED-4DB2-BD59-A6C34878D82A}">
                    <a16:rowId xmlns:a16="http://schemas.microsoft.com/office/drawing/2014/main" val="10001"/>
                  </a:ext>
                </a:extLst>
              </a:tr>
              <a:tr h="245745">
                <a:tc>
                  <a:txBody>
                    <a:bodyPr/>
                    <a:lstStyle/>
                    <a:p>
                      <a:r>
                        <a:rPr sz="850" b="0">
                          <a:solidFill>
                            <a:srgbClr val="1A1A1A"/>
                          </a:solidFill>
                          <a:latin typeface="Calibri"/>
                        </a:rPr>
                        <a:t>Milan</a:t>
                      </a:r>
                    </a:p>
                  </a:txBody>
                  <a:tcPr>
                    <a:solidFill>
                      <a:srgbClr val="F7F7F7"/>
                    </a:solidFill>
                  </a:tcPr>
                </a:tc>
                <a:tc>
                  <a:txBody>
                    <a:bodyPr/>
                    <a:lstStyle/>
                    <a:p>
                      <a:r>
                        <a:rPr sz="850" b="0" dirty="0">
                          <a:solidFill>
                            <a:srgbClr val="1A1A1A"/>
                          </a:solidFill>
                          <a:latin typeface="Calibri"/>
                        </a:rPr>
                        <a:t>S2 percentile</a:t>
                      </a:r>
                    </a:p>
                  </a:txBody>
                  <a:tcPr>
                    <a:solidFill>
                      <a:srgbClr val="F7F7F7"/>
                    </a:solidFill>
                  </a:tcPr>
                </a:tc>
                <a:tc>
                  <a:txBody>
                    <a:bodyPr/>
                    <a:lstStyle/>
                    <a:p>
                      <a:r>
                        <a:rPr sz="850" b="0">
                          <a:solidFill>
                            <a:srgbClr val="1A1A1A"/>
                          </a:solidFill>
                          <a:latin typeface="Calibri"/>
                        </a:rPr>
                        <a:t>model</a:t>
                      </a:r>
                    </a:p>
                  </a:txBody>
                  <a:tcPr>
                    <a:solidFill>
                      <a:srgbClr val="F7F7F7"/>
                    </a:solidFill>
                  </a:tcPr>
                </a:tc>
                <a:tc>
                  <a:txBody>
                    <a:bodyPr/>
                    <a:lstStyle/>
                    <a:p>
                      <a:r>
                        <a:rPr sz="850" b="0">
                          <a:solidFill>
                            <a:srgbClr val="1A1A1A"/>
                          </a:solidFill>
                          <a:latin typeface="Calibri"/>
                        </a:rPr>
                        <a:t>24.809</a:t>
                      </a:r>
                    </a:p>
                  </a:txBody>
                  <a:tcPr>
                    <a:solidFill>
                      <a:srgbClr val="F7F7F7"/>
                    </a:solidFill>
                  </a:tcPr>
                </a:tc>
                <a:tc>
                  <a:txBody>
                    <a:bodyPr/>
                    <a:lstStyle/>
                    <a:p>
                      <a:r>
                        <a:rPr sz="850" b="0">
                          <a:solidFill>
                            <a:srgbClr val="1A1A1A"/>
                          </a:solidFill>
                          <a:latin typeface="Calibri"/>
                        </a:rPr>
                        <a:t>16.486</a:t>
                      </a:r>
                    </a:p>
                  </a:txBody>
                  <a:tcPr>
                    <a:solidFill>
                      <a:srgbClr val="F7F7F7"/>
                    </a:solidFill>
                  </a:tcPr>
                </a:tc>
                <a:tc>
                  <a:txBody>
                    <a:bodyPr/>
                    <a:lstStyle/>
                    <a:p>
                      <a:r>
                        <a:rPr sz="850" b="0">
                          <a:solidFill>
                            <a:srgbClr val="1A1A1A"/>
                          </a:solidFill>
                          <a:latin typeface="Calibri"/>
                        </a:rPr>
                        <a:t>−3.342</a:t>
                      </a:r>
                    </a:p>
                  </a:txBody>
                  <a:tcPr>
                    <a:solidFill>
                      <a:srgbClr val="F7F7F7"/>
                    </a:solidFill>
                  </a:tcPr>
                </a:tc>
                <a:extLst>
                  <a:ext uri="{0D108BD9-81ED-4DB2-BD59-A6C34878D82A}">
                    <a16:rowId xmlns:a16="http://schemas.microsoft.com/office/drawing/2014/main" val="10002"/>
                  </a:ext>
                </a:extLst>
              </a:tr>
              <a:tr h="245745">
                <a:tc>
                  <a:txBody>
                    <a:bodyPr/>
                    <a:lstStyle/>
                    <a:p>
                      <a:r>
                        <a:rPr sz="850" b="0">
                          <a:solidFill>
                            <a:srgbClr val="1A1A1A"/>
                          </a:solidFill>
                          <a:latin typeface="Calibri"/>
                        </a:rPr>
                        <a:t>Milan</a:t>
                      </a:r>
                    </a:p>
                  </a:txBody>
                  <a:tcPr>
                    <a:solidFill>
                      <a:srgbClr val="FFFFFF"/>
                    </a:solidFill>
                  </a:tcPr>
                </a:tc>
                <a:tc>
                  <a:txBody>
                    <a:bodyPr/>
                    <a:lstStyle/>
                    <a:p>
                      <a:r>
                        <a:rPr sz="850" b="0">
                          <a:solidFill>
                            <a:srgbClr val="1A1A1A"/>
                          </a:solidFill>
                          <a:latin typeface="Calibri"/>
                        </a:rPr>
                        <a:t>emb_RF</a:t>
                      </a:r>
                    </a:p>
                  </a:txBody>
                  <a:tcPr>
                    <a:solidFill>
                      <a:srgbClr val="FFFFFF"/>
                    </a:solidFill>
                  </a:tcPr>
                </a:tc>
                <a:tc>
                  <a:txBody>
                    <a:bodyPr/>
                    <a:lstStyle/>
                    <a:p>
                      <a:r>
                        <a:rPr sz="850" b="0">
                          <a:solidFill>
                            <a:srgbClr val="1A1A1A"/>
                          </a:solidFill>
                          <a:latin typeface="Calibri"/>
                        </a:rPr>
                        <a:t>model</a:t>
                      </a:r>
                    </a:p>
                  </a:txBody>
                  <a:tcPr>
                    <a:solidFill>
                      <a:srgbClr val="FFFFFF"/>
                    </a:solidFill>
                  </a:tcPr>
                </a:tc>
                <a:tc>
                  <a:txBody>
                    <a:bodyPr/>
                    <a:lstStyle/>
                    <a:p>
                      <a:r>
                        <a:rPr sz="850" b="0">
                          <a:solidFill>
                            <a:srgbClr val="1A1A1A"/>
                          </a:solidFill>
                          <a:latin typeface="Calibri"/>
                        </a:rPr>
                        <a:t>25.625</a:t>
                      </a:r>
                    </a:p>
                  </a:txBody>
                  <a:tcPr>
                    <a:solidFill>
                      <a:srgbClr val="FFFFFF"/>
                    </a:solidFill>
                  </a:tcPr>
                </a:tc>
                <a:tc>
                  <a:txBody>
                    <a:bodyPr/>
                    <a:lstStyle/>
                    <a:p>
                      <a:r>
                        <a:rPr sz="850" b="0">
                          <a:solidFill>
                            <a:srgbClr val="1A1A1A"/>
                          </a:solidFill>
                          <a:latin typeface="Calibri"/>
                        </a:rPr>
                        <a:t>18.299</a:t>
                      </a:r>
                    </a:p>
                  </a:txBody>
                  <a:tcPr>
                    <a:solidFill>
                      <a:srgbClr val="FFFFFF"/>
                    </a:solidFill>
                  </a:tcPr>
                </a:tc>
                <a:tc>
                  <a:txBody>
                    <a:bodyPr/>
                    <a:lstStyle/>
                    <a:p>
                      <a:r>
                        <a:rPr sz="850" b="0">
                          <a:solidFill>
                            <a:srgbClr val="1A1A1A"/>
                          </a:solidFill>
                          <a:latin typeface="Calibri"/>
                        </a:rPr>
                        <a:t>−1.622</a:t>
                      </a:r>
                    </a:p>
                  </a:txBody>
                  <a:tcPr>
                    <a:solidFill>
                      <a:srgbClr val="FFFFFF"/>
                    </a:solidFill>
                  </a:tcPr>
                </a:tc>
                <a:extLst>
                  <a:ext uri="{0D108BD9-81ED-4DB2-BD59-A6C34878D82A}">
                    <a16:rowId xmlns:a16="http://schemas.microsoft.com/office/drawing/2014/main" val="10003"/>
                  </a:ext>
                </a:extLst>
              </a:tr>
              <a:tr h="245745">
                <a:tc>
                  <a:txBody>
                    <a:bodyPr/>
                    <a:lstStyle/>
                    <a:p>
                      <a:r>
                        <a:rPr sz="850" b="0">
                          <a:solidFill>
                            <a:srgbClr val="1A1A1A"/>
                          </a:solidFill>
                          <a:latin typeface="Calibri"/>
                        </a:rPr>
                        <a:t>Milan</a:t>
                      </a:r>
                    </a:p>
                  </a:txBody>
                  <a:tcPr>
                    <a:solidFill>
                      <a:srgbClr val="F7F7F7"/>
                    </a:solidFill>
                  </a:tcPr>
                </a:tc>
                <a:tc>
                  <a:txBody>
                    <a:bodyPr/>
                    <a:lstStyle/>
                    <a:p>
                      <a:r>
                        <a:rPr sz="850" b="0">
                          <a:solidFill>
                            <a:srgbClr val="1A1A1A"/>
                          </a:solidFill>
                          <a:latin typeface="Calibri"/>
                        </a:rPr>
                        <a:t>S2 median</a:t>
                      </a:r>
                    </a:p>
                  </a:txBody>
                  <a:tcPr>
                    <a:solidFill>
                      <a:srgbClr val="F7F7F7"/>
                    </a:solidFill>
                  </a:tcPr>
                </a:tc>
                <a:tc>
                  <a:txBody>
                    <a:bodyPr/>
                    <a:lstStyle/>
                    <a:p>
                      <a:r>
                        <a:rPr sz="850" b="0">
                          <a:solidFill>
                            <a:srgbClr val="1A1A1A"/>
                          </a:solidFill>
                          <a:latin typeface="Calibri"/>
                        </a:rPr>
                        <a:t>model</a:t>
                      </a:r>
                    </a:p>
                  </a:txBody>
                  <a:tcPr>
                    <a:solidFill>
                      <a:srgbClr val="F7F7F7"/>
                    </a:solidFill>
                  </a:tcPr>
                </a:tc>
                <a:tc>
                  <a:txBody>
                    <a:bodyPr/>
                    <a:lstStyle/>
                    <a:p>
                      <a:r>
                        <a:rPr sz="850" b="0">
                          <a:solidFill>
                            <a:srgbClr val="1A1A1A"/>
                          </a:solidFill>
                          <a:latin typeface="Calibri"/>
                        </a:rPr>
                        <a:t>25.984</a:t>
                      </a:r>
                    </a:p>
                  </a:txBody>
                  <a:tcPr>
                    <a:solidFill>
                      <a:srgbClr val="F7F7F7"/>
                    </a:solidFill>
                  </a:tcPr>
                </a:tc>
                <a:tc>
                  <a:txBody>
                    <a:bodyPr/>
                    <a:lstStyle/>
                    <a:p>
                      <a:r>
                        <a:rPr sz="850" b="0">
                          <a:solidFill>
                            <a:srgbClr val="1A1A1A"/>
                          </a:solidFill>
                          <a:latin typeface="Calibri"/>
                        </a:rPr>
                        <a:t>18.363</a:t>
                      </a:r>
                    </a:p>
                  </a:txBody>
                  <a:tcPr>
                    <a:solidFill>
                      <a:srgbClr val="F7F7F7"/>
                    </a:solidFill>
                  </a:tcPr>
                </a:tc>
                <a:tc>
                  <a:txBody>
                    <a:bodyPr/>
                    <a:lstStyle/>
                    <a:p>
                      <a:r>
                        <a:rPr sz="850" b="0">
                          <a:solidFill>
                            <a:srgbClr val="1A1A1A"/>
                          </a:solidFill>
                          <a:latin typeface="Calibri"/>
                        </a:rPr>
                        <a:t>−4.176</a:t>
                      </a:r>
                    </a:p>
                  </a:txBody>
                  <a:tcPr>
                    <a:solidFill>
                      <a:srgbClr val="F7F7F7"/>
                    </a:solidFill>
                  </a:tcPr>
                </a:tc>
                <a:extLst>
                  <a:ext uri="{0D108BD9-81ED-4DB2-BD59-A6C34878D82A}">
                    <a16:rowId xmlns:a16="http://schemas.microsoft.com/office/drawing/2014/main" val="10004"/>
                  </a:ext>
                </a:extLst>
              </a:tr>
              <a:tr h="245745">
                <a:tc>
                  <a:txBody>
                    <a:bodyPr/>
                    <a:lstStyle/>
                    <a:p>
                      <a:r>
                        <a:rPr sz="850" b="0">
                          <a:solidFill>
                            <a:srgbClr val="1A1A1A"/>
                          </a:solidFill>
                          <a:latin typeface="Calibri"/>
                        </a:rPr>
                        <a:t>Milan</a:t>
                      </a:r>
                    </a:p>
                  </a:txBody>
                  <a:tcPr>
                    <a:solidFill>
                      <a:schemeClr val="accent4">
                        <a:lumMod val="20000"/>
                        <a:lumOff val="80000"/>
                      </a:schemeClr>
                    </a:solidFill>
                  </a:tcPr>
                </a:tc>
                <a:tc>
                  <a:txBody>
                    <a:bodyPr/>
                    <a:lstStyle/>
                    <a:p>
                      <a:r>
                        <a:rPr sz="850" b="0">
                          <a:solidFill>
                            <a:srgbClr val="1A1A1A"/>
                          </a:solidFill>
                          <a:latin typeface="Calibri"/>
                        </a:rPr>
                        <a:t>CLMS</a:t>
                      </a:r>
                    </a:p>
                  </a:txBody>
                  <a:tcPr>
                    <a:solidFill>
                      <a:schemeClr val="accent4">
                        <a:lumMod val="20000"/>
                        <a:lumOff val="80000"/>
                      </a:schemeClr>
                    </a:solidFill>
                  </a:tcPr>
                </a:tc>
                <a:tc>
                  <a:txBody>
                    <a:bodyPr/>
                    <a:lstStyle/>
                    <a:p>
                      <a:r>
                        <a:rPr sz="850" b="0">
                          <a:solidFill>
                            <a:srgbClr val="1A1A1A"/>
                          </a:solidFill>
                          <a:latin typeface="Calibri"/>
                        </a:rPr>
                        <a:t>reference</a:t>
                      </a:r>
                    </a:p>
                  </a:txBody>
                  <a:tcPr>
                    <a:solidFill>
                      <a:schemeClr val="accent4">
                        <a:lumMod val="20000"/>
                        <a:lumOff val="80000"/>
                      </a:schemeClr>
                    </a:solidFill>
                  </a:tcPr>
                </a:tc>
                <a:tc>
                  <a:txBody>
                    <a:bodyPr/>
                    <a:lstStyle/>
                    <a:p>
                      <a:r>
                        <a:rPr sz="850" b="0" dirty="0">
                          <a:solidFill>
                            <a:srgbClr val="1A1A1A"/>
                          </a:solidFill>
                          <a:latin typeface="Calibri"/>
                        </a:rPr>
                        <a:t>26.253</a:t>
                      </a:r>
                    </a:p>
                  </a:txBody>
                  <a:tcPr>
                    <a:solidFill>
                      <a:schemeClr val="accent4">
                        <a:lumMod val="20000"/>
                        <a:lumOff val="80000"/>
                      </a:schemeClr>
                    </a:solidFill>
                  </a:tcPr>
                </a:tc>
                <a:tc>
                  <a:txBody>
                    <a:bodyPr/>
                    <a:lstStyle/>
                    <a:p>
                      <a:r>
                        <a:rPr sz="850" b="0">
                          <a:solidFill>
                            <a:srgbClr val="1A1A1A"/>
                          </a:solidFill>
                          <a:latin typeface="Calibri"/>
                        </a:rPr>
                        <a:t>14.606</a:t>
                      </a:r>
                    </a:p>
                  </a:txBody>
                  <a:tcPr>
                    <a:solidFill>
                      <a:schemeClr val="accent4">
                        <a:lumMod val="20000"/>
                        <a:lumOff val="80000"/>
                      </a:schemeClr>
                    </a:solidFill>
                  </a:tcPr>
                </a:tc>
                <a:tc>
                  <a:txBody>
                    <a:bodyPr/>
                    <a:lstStyle/>
                    <a:p>
                      <a:r>
                        <a:rPr sz="850" b="0" dirty="0">
                          <a:solidFill>
                            <a:srgbClr val="1A1A1A"/>
                          </a:solidFill>
                          <a:latin typeface="Calibri"/>
                        </a:rPr>
                        <a:t>2.263</a:t>
                      </a:r>
                    </a:p>
                  </a:txBody>
                  <a:tcPr>
                    <a:solidFill>
                      <a:schemeClr val="accent4">
                        <a:lumMod val="20000"/>
                        <a:lumOff val="80000"/>
                      </a:schemeClr>
                    </a:solidFill>
                  </a:tcPr>
                </a:tc>
                <a:extLst>
                  <a:ext uri="{0D108BD9-81ED-4DB2-BD59-A6C34878D82A}">
                    <a16:rowId xmlns:a16="http://schemas.microsoft.com/office/drawing/2014/main" val="10005"/>
                  </a:ext>
                </a:extLst>
              </a:tr>
              <a:tr h="245745">
                <a:tc>
                  <a:txBody>
                    <a:bodyPr/>
                    <a:lstStyle/>
                    <a:p>
                      <a:r>
                        <a:rPr sz="850" b="0">
                          <a:solidFill>
                            <a:srgbClr val="1A1A1A"/>
                          </a:solidFill>
                          <a:latin typeface="Calibri"/>
                        </a:rPr>
                        <a:t>Hanoi</a:t>
                      </a:r>
                    </a:p>
                  </a:txBody>
                  <a:tcPr>
                    <a:solidFill>
                      <a:srgbClr val="F7F7F7"/>
                    </a:solidFill>
                  </a:tcPr>
                </a:tc>
                <a:tc>
                  <a:txBody>
                    <a:bodyPr/>
                    <a:lstStyle/>
                    <a:p>
                      <a:r>
                        <a:rPr sz="850" b="0">
                          <a:solidFill>
                            <a:srgbClr val="1A1A1A"/>
                          </a:solidFill>
                          <a:latin typeface="Calibri"/>
                        </a:rPr>
                        <a:t>emb_localrf</a:t>
                      </a:r>
                    </a:p>
                  </a:txBody>
                  <a:tcPr>
                    <a:solidFill>
                      <a:srgbClr val="F7F7F7"/>
                    </a:solidFill>
                  </a:tcPr>
                </a:tc>
                <a:tc>
                  <a:txBody>
                    <a:bodyPr/>
                    <a:lstStyle/>
                    <a:p>
                      <a:r>
                        <a:rPr sz="850" b="0">
                          <a:solidFill>
                            <a:srgbClr val="1A1A1A"/>
                          </a:solidFill>
                          <a:latin typeface="Calibri"/>
                        </a:rPr>
                        <a:t>model</a:t>
                      </a:r>
                    </a:p>
                  </a:txBody>
                  <a:tcPr>
                    <a:solidFill>
                      <a:srgbClr val="F7F7F7"/>
                    </a:solidFill>
                  </a:tcPr>
                </a:tc>
                <a:tc>
                  <a:txBody>
                    <a:bodyPr/>
                    <a:lstStyle/>
                    <a:p>
                      <a:r>
                        <a:rPr sz="850" b="0">
                          <a:solidFill>
                            <a:srgbClr val="1A1A1A"/>
                          </a:solidFill>
                          <a:latin typeface="Calibri"/>
                        </a:rPr>
                        <a:t>26.502</a:t>
                      </a:r>
                    </a:p>
                  </a:txBody>
                  <a:tcPr>
                    <a:solidFill>
                      <a:srgbClr val="F7F7F7"/>
                    </a:solidFill>
                  </a:tcPr>
                </a:tc>
                <a:tc>
                  <a:txBody>
                    <a:bodyPr/>
                    <a:lstStyle/>
                    <a:p>
                      <a:r>
                        <a:rPr sz="850" b="0">
                          <a:solidFill>
                            <a:srgbClr val="1A1A1A"/>
                          </a:solidFill>
                          <a:latin typeface="Calibri"/>
                        </a:rPr>
                        <a:t>19.588</a:t>
                      </a:r>
                    </a:p>
                  </a:txBody>
                  <a:tcPr>
                    <a:solidFill>
                      <a:srgbClr val="F7F7F7"/>
                    </a:solidFill>
                  </a:tcPr>
                </a:tc>
                <a:tc>
                  <a:txBody>
                    <a:bodyPr/>
                    <a:lstStyle/>
                    <a:p>
                      <a:r>
                        <a:rPr sz="850" b="0">
                          <a:solidFill>
                            <a:srgbClr val="1A1A1A"/>
                          </a:solidFill>
                          <a:latin typeface="Calibri"/>
                        </a:rPr>
                        <a:t>6.592</a:t>
                      </a:r>
                    </a:p>
                  </a:txBody>
                  <a:tcPr>
                    <a:solidFill>
                      <a:srgbClr val="F7F7F7"/>
                    </a:solidFill>
                  </a:tcPr>
                </a:tc>
                <a:extLst>
                  <a:ext uri="{0D108BD9-81ED-4DB2-BD59-A6C34878D82A}">
                    <a16:rowId xmlns:a16="http://schemas.microsoft.com/office/drawing/2014/main" val="10006"/>
                  </a:ext>
                </a:extLst>
              </a:tr>
              <a:tr h="245745">
                <a:tc>
                  <a:txBody>
                    <a:bodyPr/>
                    <a:lstStyle/>
                    <a:p>
                      <a:r>
                        <a:rPr sz="850" b="0">
                          <a:solidFill>
                            <a:srgbClr val="1A1A1A"/>
                          </a:solidFill>
                          <a:latin typeface="Calibri"/>
                        </a:rPr>
                        <a:t>Hanoi</a:t>
                      </a:r>
                    </a:p>
                  </a:txBody>
                  <a:tcPr>
                    <a:solidFill>
                      <a:srgbClr val="FFFFFF"/>
                    </a:solidFill>
                  </a:tcPr>
                </a:tc>
                <a:tc>
                  <a:txBody>
                    <a:bodyPr/>
                    <a:lstStyle/>
                    <a:p>
                      <a:r>
                        <a:rPr sz="850" b="0">
                          <a:solidFill>
                            <a:srgbClr val="1A1A1A"/>
                          </a:solidFill>
                          <a:latin typeface="Calibri"/>
                        </a:rPr>
                        <a:t>S2_median_localrf</a:t>
                      </a:r>
                    </a:p>
                  </a:txBody>
                  <a:tcPr>
                    <a:solidFill>
                      <a:srgbClr val="FFFFFF"/>
                    </a:solidFill>
                  </a:tcPr>
                </a:tc>
                <a:tc>
                  <a:txBody>
                    <a:bodyPr/>
                    <a:lstStyle/>
                    <a:p>
                      <a:r>
                        <a:rPr sz="850" b="0">
                          <a:solidFill>
                            <a:srgbClr val="1A1A1A"/>
                          </a:solidFill>
                          <a:latin typeface="Calibri"/>
                        </a:rPr>
                        <a:t>model</a:t>
                      </a:r>
                    </a:p>
                  </a:txBody>
                  <a:tcPr>
                    <a:solidFill>
                      <a:srgbClr val="FFFFFF"/>
                    </a:solidFill>
                  </a:tcPr>
                </a:tc>
                <a:tc>
                  <a:txBody>
                    <a:bodyPr/>
                    <a:lstStyle/>
                    <a:p>
                      <a:r>
                        <a:rPr sz="850" b="0">
                          <a:solidFill>
                            <a:srgbClr val="1A1A1A"/>
                          </a:solidFill>
                          <a:latin typeface="Calibri"/>
                        </a:rPr>
                        <a:t>27.282</a:t>
                      </a:r>
                    </a:p>
                  </a:txBody>
                  <a:tcPr>
                    <a:solidFill>
                      <a:srgbClr val="FFFFFF"/>
                    </a:solidFill>
                  </a:tcPr>
                </a:tc>
                <a:tc>
                  <a:txBody>
                    <a:bodyPr/>
                    <a:lstStyle/>
                    <a:p>
                      <a:r>
                        <a:rPr sz="850" b="0">
                          <a:solidFill>
                            <a:srgbClr val="1A1A1A"/>
                          </a:solidFill>
                          <a:latin typeface="Calibri"/>
                        </a:rPr>
                        <a:t>21.320</a:t>
                      </a:r>
                    </a:p>
                  </a:txBody>
                  <a:tcPr>
                    <a:solidFill>
                      <a:srgbClr val="FFFFFF"/>
                    </a:solidFill>
                  </a:tcPr>
                </a:tc>
                <a:tc>
                  <a:txBody>
                    <a:bodyPr/>
                    <a:lstStyle/>
                    <a:p>
                      <a:r>
                        <a:rPr sz="850" b="0">
                          <a:solidFill>
                            <a:srgbClr val="1A1A1A"/>
                          </a:solidFill>
                          <a:latin typeface="Calibri"/>
                        </a:rPr>
                        <a:t>8.181</a:t>
                      </a:r>
                    </a:p>
                  </a:txBody>
                  <a:tcPr>
                    <a:solidFill>
                      <a:srgbClr val="FFFFFF"/>
                    </a:solidFill>
                  </a:tcPr>
                </a:tc>
                <a:extLst>
                  <a:ext uri="{0D108BD9-81ED-4DB2-BD59-A6C34878D82A}">
                    <a16:rowId xmlns:a16="http://schemas.microsoft.com/office/drawing/2014/main" val="10007"/>
                  </a:ext>
                </a:extLst>
              </a:tr>
              <a:tr h="245745">
                <a:tc>
                  <a:txBody>
                    <a:bodyPr/>
                    <a:lstStyle/>
                    <a:p>
                      <a:r>
                        <a:rPr sz="850" b="0">
                          <a:solidFill>
                            <a:srgbClr val="1A1A1A"/>
                          </a:solidFill>
                          <a:latin typeface="Calibri"/>
                        </a:rPr>
                        <a:t>Hanoi</a:t>
                      </a:r>
                    </a:p>
                  </a:txBody>
                  <a:tcPr>
                    <a:solidFill>
                      <a:srgbClr val="F7F7F7"/>
                    </a:solidFill>
                  </a:tcPr>
                </a:tc>
                <a:tc>
                  <a:txBody>
                    <a:bodyPr/>
                    <a:lstStyle/>
                    <a:p>
                      <a:r>
                        <a:rPr sz="850" b="0">
                          <a:solidFill>
                            <a:srgbClr val="1A1A1A"/>
                          </a:solidFill>
                          <a:latin typeface="Calibri"/>
                        </a:rPr>
                        <a:t>S2_median_zeroshot</a:t>
                      </a:r>
                    </a:p>
                  </a:txBody>
                  <a:tcPr>
                    <a:solidFill>
                      <a:srgbClr val="F7F7F7"/>
                    </a:solidFill>
                  </a:tcPr>
                </a:tc>
                <a:tc>
                  <a:txBody>
                    <a:bodyPr/>
                    <a:lstStyle/>
                    <a:p>
                      <a:r>
                        <a:rPr sz="850" b="0">
                          <a:solidFill>
                            <a:srgbClr val="1A1A1A"/>
                          </a:solidFill>
                          <a:latin typeface="Calibri"/>
                        </a:rPr>
                        <a:t>model</a:t>
                      </a:r>
                    </a:p>
                  </a:txBody>
                  <a:tcPr>
                    <a:solidFill>
                      <a:srgbClr val="F7F7F7"/>
                    </a:solidFill>
                  </a:tcPr>
                </a:tc>
                <a:tc>
                  <a:txBody>
                    <a:bodyPr/>
                    <a:lstStyle/>
                    <a:p>
                      <a:r>
                        <a:rPr sz="850" b="0">
                          <a:solidFill>
                            <a:srgbClr val="1A1A1A"/>
                          </a:solidFill>
                          <a:latin typeface="Calibri"/>
                        </a:rPr>
                        <a:t>33.791</a:t>
                      </a:r>
                    </a:p>
                  </a:txBody>
                  <a:tcPr>
                    <a:solidFill>
                      <a:srgbClr val="F7F7F7"/>
                    </a:solidFill>
                  </a:tcPr>
                </a:tc>
                <a:tc>
                  <a:txBody>
                    <a:bodyPr/>
                    <a:lstStyle/>
                    <a:p>
                      <a:r>
                        <a:rPr sz="850" b="0">
                          <a:solidFill>
                            <a:srgbClr val="1A1A1A"/>
                          </a:solidFill>
                          <a:latin typeface="Calibri"/>
                        </a:rPr>
                        <a:t>24.469</a:t>
                      </a:r>
                    </a:p>
                  </a:txBody>
                  <a:tcPr>
                    <a:solidFill>
                      <a:srgbClr val="F7F7F7"/>
                    </a:solidFill>
                  </a:tcPr>
                </a:tc>
                <a:tc>
                  <a:txBody>
                    <a:bodyPr/>
                    <a:lstStyle/>
                    <a:p>
                      <a:r>
                        <a:rPr sz="850" b="0">
                          <a:solidFill>
                            <a:srgbClr val="1A1A1A"/>
                          </a:solidFill>
                          <a:latin typeface="Calibri"/>
                        </a:rPr>
                        <a:t>−15.876</a:t>
                      </a:r>
                    </a:p>
                  </a:txBody>
                  <a:tcPr>
                    <a:solidFill>
                      <a:srgbClr val="F7F7F7"/>
                    </a:solidFill>
                  </a:tcPr>
                </a:tc>
                <a:extLst>
                  <a:ext uri="{0D108BD9-81ED-4DB2-BD59-A6C34878D82A}">
                    <a16:rowId xmlns:a16="http://schemas.microsoft.com/office/drawing/2014/main" val="10008"/>
                  </a:ext>
                </a:extLst>
              </a:tr>
              <a:tr h="245745">
                <a:tc>
                  <a:txBody>
                    <a:bodyPr/>
                    <a:lstStyle/>
                    <a:p>
                      <a:r>
                        <a:rPr sz="850" b="0">
                          <a:solidFill>
                            <a:srgbClr val="1A1A1A"/>
                          </a:solidFill>
                          <a:latin typeface="Calibri"/>
                        </a:rPr>
                        <a:t>Hanoi</a:t>
                      </a:r>
                    </a:p>
                  </a:txBody>
                  <a:tcPr>
                    <a:solidFill>
                      <a:srgbClr val="FFFFFF"/>
                    </a:solidFill>
                  </a:tcPr>
                </a:tc>
                <a:tc>
                  <a:txBody>
                    <a:bodyPr/>
                    <a:lstStyle/>
                    <a:p>
                      <a:r>
                        <a:rPr sz="850" b="0">
                          <a:solidFill>
                            <a:srgbClr val="1A1A1A"/>
                          </a:solidFill>
                          <a:latin typeface="Calibri"/>
                        </a:rPr>
                        <a:t>emb_zeroshot</a:t>
                      </a:r>
                    </a:p>
                  </a:txBody>
                  <a:tcPr>
                    <a:solidFill>
                      <a:srgbClr val="FFFFFF"/>
                    </a:solidFill>
                  </a:tcPr>
                </a:tc>
                <a:tc>
                  <a:txBody>
                    <a:bodyPr/>
                    <a:lstStyle/>
                    <a:p>
                      <a:r>
                        <a:rPr sz="850" b="0">
                          <a:solidFill>
                            <a:srgbClr val="1A1A1A"/>
                          </a:solidFill>
                          <a:latin typeface="Calibri"/>
                        </a:rPr>
                        <a:t>model</a:t>
                      </a:r>
                    </a:p>
                  </a:txBody>
                  <a:tcPr>
                    <a:solidFill>
                      <a:srgbClr val="FFFFFF"/>
                    </a:solidFill>
                  </a:tcPr>
                </a:tc>
                <a:tc>
                  <a:txBody>
                    <a:bodyPr/>
                    <a:lstStyle/>
                    <a:p>
                      <a:r>
                        <a:rPr sz="850" b="0">
                          <a:solidFill>
                            <a:srgbClr val="1A1A1A"/>
                          </a:solidFill>
                          <a:latin typeface="Calibri"/>
                        </a:rPr>
                        <a:t>34.352</a:t>
                      </a:r>
                    </a:p>
                  </a:txBody>
                  <a:tcPr>
                    <a:solidFill>
                      <a:srgbClr val="FFFFFF"/>
                    </a:solidFill>
                  </a:tcPr>
                </a:tc>
                <a:tc>
                  <a:txBody>
                    <a:bodyPr/>
                    <a:lstStyle/>
                    <a:p>
                      <a:r>
                        <a:rPr sz="850" b="0">
                          <a:solidFill>
                            <a:srgbClr val="1A1A1A"/>
                          </a:solidFill>
                          <a:latin typeface="Calibri"/>
                        </a:rPr>
                        <a:t>29.537</a:t>
                      </a:r>
                    </a:p>
                  </a:txBody>
                  <a:tcPr>
                    <a:solidFill>
                      <a:srgbClr val="FFFFFF"/>
                    </a:solidFill>
                  </a:tcPr>
                </a:tc>
                <a:tc>
                  <a:txBody>
                    <a:bodyPr/>
                    <a:lstStyle/>
                    <a:p>
                      <a:r>
                        <a:rPr sz="850" b="0">
                          <a:solidFill>
                            <a:srgbClr val="1A1A1A"/>
                          </a:solidFill>
                          <a:latin typeface="Calibri"/>
                        </a:rPr>
                        <a:t>−15.716</a:t>
                      </a:r>
                    </a:p>
                  </a:txBody>
                  <a:tcPr>
                    <a:solidFill>
                      <a:srgbClr val="FFFFFF"/>
                    </a:solidFill>
                  </a:tcPr>
                </a:tc>
                <a:extLst>
                  <a:ext uri="{0D108BD9-81ED-4DB2-BD59-A6C34878D82A}">
                    <a16:rowId xmlns:a16="http://schemas.microsoft.com/office/drawing/2014/main" val="10009"/>
                  </a:ext>
                </a:extLst>
              </a:tr>
              <a:tr h="245745">
                <a:tc>
                  <a:txBody>
                    <a:bodyPr/>
                    <a:lstStyle/>
                    <a:p>
                      <a:r>
                        <a:rPr sz="850" b="0">
                          <a:solidFill>
                            <a:srgbClr val="1A1A1A"/>
                          </a:solidFill>
                          <a:latin typeface="Calibri"/>
                        </a:rPr>
                        <a:t>Hanoi</a:t>
                      </a:r>
                    </a:p>
                  </a:txBody>
                  <a:tcPr>
                    <a:solidFill>
                      <a:schemeClr val="accent4">
                        <a:lumMod val="20000"/>
                        <a:lumOff val="80000"/>
                      </a:schemeClr>
                    </a:solidFill>
                  </a:tcPr>
                </a:tc>
                <a:tc>
                  <a:txBody>
                    <a:bodyPr/>
                    <a:lstStyle/>
                    <a:p>
                      <a:r>
                        <a:rPr sz="850" b="0">
                          <a:solidFill>
                            <a:srgbClr val="1A1A1A"/>
                          </a:solidFill>
                          <a:latin typeface="Calibri"/>
                        </a:rPr>
                        <a:t>GHSL</a:t>
                      </a:r>
                    </a:p>
                  </a:txBody>
                  <a:tcPr>
                    <a:solidFill>
                      <a:schemeClr val="accent4">
                        <a:lumMod val="20000"/>
                        <a:lumOff val="80000"/>
                      </a:schemeClr>
                    </a:solidFill>
                  </a:tcPr>
                </a:tc>
                <a:tc>
                  <a:txBody>
                    <a:bodyPr/>
                    <a:lstStyle/>
                    <a:p>
                      <a:r>
                        <a:rPr sz="850" b="0">
                          <a:solidFill>
                            <a:srgbClr val="1A1A1A"/>
                          </a:solidFill>
                          <a:latin typeface="Calibri"/>
                        </a:rPr>
                        <a:t>reference</a:t>
                      </a:r>
                    </a:p>
                  </a:txBody>
                  <a:tcPr>
                    <a:solidFill>
                      <a:schemeClr val="accent4">
                        <a:lumMod val="20000"/>
                        <a:lumOff val="80000"/>
                      </a:schemeClr>
                    </a:solidFill>
                  </a:tcPr>
                </a:tc>
                <a:tc>
                  <a:txBody>
                    <a:bodyPr/>
                    <a:lstStyle/>
                    <a:p>
                      <a:r>
                        <a:rPr sz="850" b="0">
                          <a:solidFill>
                            <a:srgbClr val="1A1A1A"/>
                          </a:solidFill>
                          <a:latin typeface="Calibri"/>
                        </a:rPr>
                        <a:t>40.345</a:t>
                      </a:r>
                    </a:p>
                  </a:txBody>
                  <a:tcPr>
                    <a:solidFill>
                      <a:schemeClr val="accent4">
                        <a:lumMod val="20000"/>
                        <a:lumOff val="80000"/>
                      </a:schemeClr>
                    </a:solidFill>
                  </a:tcPr>
                </a:tc>
                <a:tc>
                  <a:txBody>
                    <a:bodyPr/>
                    <a:lstStyle/>
                    <a:p>
                      <a:r>
                        <a:rPr sz="850" b="0">
                          <a:solidFill>
                            <a:srgbClr val="1A1A1A"/>
                          </a:solidFill>
                          <a:latin typeface="Calibri"/>
                        </a:rPr>
                        <a:t>27.052</a:t>
                      </a:r>
                    </a:p>
                  </a:txBody>
                  <a:tcPr>
                    <a:solidFill>
                      <a:schemeClr val="accent4">
                        <a:lumMod val="20000"/>
                        <a:lumOff val="80000"/>
                      </a:schemeClr>
                    </a:solidFill>
                  </a:tcPr>
                </a:tc>
                <a:tc>
                  <a:txBody>
                    <a:bodyPr/>
                    <a:lstStyle/>
                    <a:p>
                      <a:r>
                        <a:rPr sz="850" b="0" dirty="0">
                          <a:solidFill>
                            <a:srgbClr val="1A1A1A"/>
                          </a:solidFill>
                          <a:latin typeface="Calibri"/>
                        </a:rPr>
                        <a:t>19.680</a:t>
                      </a:r>
                    </a:p>
                  </a:txBody>
                  <a:tcPr>
                    <a:solidFill>
                      <a:schemeClr val="accent4">
                        <a:lumMod val="20000"/>
                        <a:lumOff val="80000"/>
                      </a:schemeClr>
                    </a:solidFill>
                  </a:tcPr>
                </a:tc>
                <a:extLst>
                  <a:ext uri="{0D108BD9-81ED-4DB2-BD59-A6C34878D82A}">
                    <a16:rowId xmlns:a16="http://schemas.microsoft.com/office/drawing/2014/main" val="10010"/>
                  </a:ext>
                </a:extLst>
              </a:tr>
              <a:tr h="245745">
                <a:tc>
                  <a:txBody>
                    <a:bodyPr/>
                    <a:lstStyle/>
                    <a:p>
                      <a:r>
                        <a:rPr sz="850" b="0">
                          <a:solidFill>
                            <a:srgbClr val="1A1A1A"/>
                          </a:solidFill>
                          <a:latin typeface="Calibri"/>
                        </a:rPr>
                        <a:t>HCMC</a:t>
                      </a:r>
                    </a:p>
                  </a:txBody>
                  <a:tcPr>
                    <a:solidFill>
                      <a:srgbClr val="FFFFFF"/>
                    </a:solidFill>
                  </a:tcPr>
                </a:tc>
                <a:tc>
                  <a:txBody>
                    <a:bodyPr/>
                    <a:lstStyle/>
                    <a:p>
                      <a:r>
                        <a:rPr sz="850" b="0">
                          <a:solidFill>
                            <a:srgbClr val="1A1A1A"/>
                          </a:solidFill>
                          <a:latin typeface="Calibri"/>
                        </a:rPr>
                        <a:t>S2_median_zeroshot</a:t>
                      </a:r>
                    </a:p>
                  </a:txBody>
                  <a:tcPr>
                    <a:solidFill>
                      <a:srgbClr val="FFFFFF"/>
                    </a:solidFill>
                  </a:tcPr>
                </a:tc>
                <a:tc>
                  <a:txBody>
                    <a:bodyPr/>
                    <a:lstStyle/>
                    <a:p>
                      <a:r>
                        <a:rPr sz="850" b="0">
                          <a:solidFill>
                            <a:srgbClr val="1A1A1A"/>
                          </a:solidFill>
                          <a:latin typeface="Calibri"/>
                        </a:rPr>
                        <a:t>model</a:t>
                      </a:r>
                    </a:p>
                  </a:txBody>
                  <a:tcPr>
                    <a:solidFill>
                      <a:srgbClr val="FFFFFF"/>
                    </a:solidFill>
                  </a:tcPr>
                </a:tc>
                <a:tc>
                  <a:txBody>
                    <a:bodyPr/>
                    <a:lstStyle/>
                    <a:p>
                      <a:r>
                        <a:rPr sz="850" b="0">
                          <a:solidFill>
                            <a:srgbClr val="1A1A1A"/>
                          </a:solidFill>
                          <a:latin typeface="Calibri"/>
                        </a:rPr>
                        <a:t>25.950</a:t>
                      </a:r>
                    </a:p>
                  </a:txBody>
                  <a:tcPr>
                    <a:solidFill>
                      <a:srgbClr val="FFFFFF"/>
                    </a:solidFill>
                  </a:tcPr>
                </a:tc>
                <a:tc>
                  <a:txBody>
                    <a:bodyPr/>
                    <a:lstStyle/>
                    <a:p>
                      <a:r>
                        <a:rPr sz="850" b="0">
                          <a:solidFill>
                            <a:srgbClr val="1A1A1A"/>
                          </a:solidFill>
                          <a:latin typeface="Calibri"/>
                        </a:rPr>
                        <a:t>16.779</a:t>
                      </a:r>
                    </a:p>
                  </a:txBody>
                  <a:tcPr>
                    <a:solidFill>
                      <a:srgbClr val="FFFFFF"/>
                    </a:solidFill>
                  </a:tcPr>
                </a:tc>
                <a:tc>
                  <a:txBody>
                    <a:bodyPr/>
                    <a:lstStyle/>
                    <a:p>
                      <a:r>
                        <a:rPr sz="850" b="0">
                          <a:solidFill>
                            <a:srgbClr val="1A1A1A"/>
                          </a:solidFill>
                          <a:latin typeface="Calibri"/>
                        </a:rPr>
                        <a:t>−6.827</a:t>
                      </a:r>
                    </a:p>
                  </a:txBody>
                  <a:tcPr>
                    <a:solidFill>
                      <a:srgbClr val="FFFFFF"/>
                    </a:solidFill>
                  </a:tcPr>
                </a:tc>
                <a:extLst>
                  <a:ext uri="{0D108BD9-81ED-4DB2-BD59-A6C34878D82A}">
                    <a16:rowId xmlns:a16="http://schemas.microsoft.com/office/drawing/2014/main" val="10011"/>
                  </a:ext>
                </a:extLst>
              </a:tr>
              <a:tr h="245745">
                <a:tc>
                  <a:txBody>
                    <a:bodyPr/>
                    <a:lstStyle/>
                    <a:p>
                      <a:r>
                        <a:rPr sz="850" b="0">
                          <a:solidFill>
                            <a:srgbClr val="1A1A1A"/>
                          </a:solidFill>
                          <a:latin typeface="Calibri"/>
                        </a:rPr>
                        <a:t>HCMC</a:t>
                      </a:r>
                    </a:p>
                  </a:txBody>
                  <a:tcPr>
                    <a:solidFill>
                      <a:srgbClr val="F7F7F7"/>
                    </a:solidFill>
                  </a:tcPr>
                </a:tc>
                <a:tc>
                  <a:txBody>
                    <a:bodyPr/>
                    <a:lstStyle/>
                    <a:p>
                      <a:r>
                        <a:rPr sz="850" b="0">
                          <a:solidFill>
                            <a:srgbClr val="1A1A1A"/>
                          </a:solidFill>
                          <a:latin typeface="Calibri"/>
                        </a:rPr>
                        <a:t>emb_localrf</a:t>
                      </a:r>
                    </a:p>
                  </a:txBody>
                  <a:tcPr>
                    <a:solidFill>
                      <a:srgbClr val="F7F7F7"/>
                    </a:solidFill>
                  </a:tcPr>
                </a:tc>
                <a:tc>
                  <a:txBody>
                    <a:bodyPr/>
                    <a:lstStyle/>
                    <a:p>
                      <a:r>
                        <a:rPr sz="850" b="0">
                          <a:solidFill>
                            <a:srgbClr val="1A1A1A"/>
                          </a:solidFill>
                          <a:latin typeface="Calibri"/>
                        </a:rPr>
                        <a:t>model</a:t>
                      </a:r>
                    </a:p>
                  </a:txBody>
                  <a:tcPr>
                    <a:solidFill>
                      <a:srgbClr val="F7F7F7"/>
                    </a:solidFill>
                  </a:tcPr>
                </a:tc>
                <a:tc>
                  <a:txBody>
                    <a:bodyPr/>
                    <a:lstStyle/>
                    <a:p>
                      <a:r>
                        <a:rPr sz="850" b="0">
                          <a:solidFill>
                            <a:srgbClr val="1A1A1A"/>
                          </a:solidFill>
                          <a:latin typeface="Calibri"/>
                        </a:rPr>
                        <a:t>27.242</a:t>
                      </a:r>
                    </a:p>
                  </a:txBody>
                  <a:tcPr>
                    <a:solidFill>
                      <a:srgbClr val="F7F7F7"/>
                    </a:solidFill>
                  </a:tcPr>
                </a:tc>
                <a:tc>
                  <a:txBody>
                    <a:bodyPr/>
                    <a:lstStyle/>
                    <a:p>
                      <a:r>
                        <a:rPr sz="850" b="0">
                          <a:solidFill>
                            <a:srgbClr val="1A1A1A"/>
                          </a:solidFill>
                          <a:latin typeface="Calibri"/>
                        </a:rPr>
                        <a:t>20.294</a:t>
                      </a:r>
                    </a:p>
                  </a:txBody>
                  <a:tcPr>
                    <a:solidFill>
                      <a:srgbClr val="F7F7F7"/>
                    </a:solidFill>
                  </a:tcPr>
                </a:tc>
                <a:tc>
                  <a:txBody>
                    <a:bodyPr/>
                    <a:lstStyle/>
                    <a:p>
                      <a:r>
                        <a:rPr sz="850" b="0">
                          <a:solidFill>
                            <a:srgbClr val="1A1A1A"/>
                          </a:solidFill>
                          <a:latin typeface="Calibri"/>
                        </a:rPr>
                        <a:t>11.088</a:t>
                      </a:r>
                    </a:p>
                  </a:txBody>
                  <a:tcPr>
                    <a:solidFill>
                      <a:srgbClr val="F7F7F7"/>
                    </a:solidFill>
                  </a:tcPr>
                </a:tc>
                <a:extLst>
                  <a:ext uri="{0D108BD9-81ED-4DB2-BD59-A6C34878D82A}">
                    <a16:rowId xmlns:a16="http://schemas.microsoft.com/office/drawing/2014/main" val="10012"/>
                  </a:ext>
                </a:extLst>
              </a:tr>
              <a:tr h="245745">
                <a:tc>
                  <a:txBody>
                    <a:bodyPr/>
                    <a:lstStyle/>
                    <a:p>
                      <a:r>
                        <a:rPr sz="850" b="0">
                          <a:solidFill>
                            <a:srgbClr val="1A1A1A"/>
                          </a:solidFill>
                          <a:latin typeface="Calibri"/>
                        </a:rPr>
                        <a:t>HCMC</a:t>
                      </a:r>
                    </a:p>
                  </a:txBody>
                  <a:tcPr>
                    <a:solidFill>
                      <a:srgbClr val="FFFFFF"/>
                    </a:solidFill>
                  </a:tcPr>
                </a:tc>
                <a:tc>
                  <a:txBody>
                    <a:bodyPr/>
                    <a:lstStyle/>
                    <a:p>
                      <a:r>
                        <a:rPr sz="850" b="0">
                          <a:solidFill>
                            <a:srgbClr val="1A1A1A"/>
                          </a:solidFill>
                          <a:latin typeface="Calibri"/>
                        </a:rPr>
                        <a:t>S2_median_localrf</a:t>
                      </a:r>
                    </a:p>
                  </a:txBody>
                  <a:tcPr>
                    <a:solidFill>
                      <a:srgbClr val="FFFFFF"/>
                    </a:solidFill>
                  </a:tcPr>
                </a:tc>
                <a:tc>
                  <a:txBody>
                    <a:bodyPr/>
                    <a:lstStyle/>
                    <a:p>
                      <a:r>
                        <a:rPr sz="850" b="0">
                          <a:solidFill>
                            <a:srgbClr val="1A1A1A"/>
                          </a:solidFill>
                          <a:latin typeface="Calibri"/>
                        </a:rPr>
                        <a:t>model</a:t>
                      </a:r>
                    </a:p>
                  </a:txBody>
                  <a:tcPr>
                    <a:solidFill>
                      <a:srgbClr val="FFFFFF"/>
                    </a:solidFill>
                  </a:tcPr>
                </a:tc>
                <a:tc>
                  <a:txBody>
                    <a:bodyPr/>
                    <a:lstStyle/>
                    <a:p>
                      <a:r>
                        <a:rPr sz="850" b="0">
                          <a:solidFill>
                            <a:srgbClr val="1A1A1A"/>
                          </a:solidFill>
                          <a:latin typeface="Calibri"/>
                        </a:rPr>
                        <a:t>29.615</a:t>
                      </a:r>
                    </a:p>
                  </a:txBody>
                  <a:tcPr>
                    <a:solidFill>
                      <a:srgbClr val="FFFFFF"/>
                    </a:solidFill>
                  </a:tcPr>
                </a:tc>
                <a:tc>
                  <a:txBody>
                    <a:bodyPr/>
                    <a:lstStyle/>
                    <a:p>
                      <a:r>
                        <a:rPr sz="850" b="0">
                          <a:solidFill>
                            <a:srgbClr val="1A1A1A"/>
                          </a:solidFill>
                          <a:latin typeface="Calibri"/>
                        </a:rPr>
                        <a:t>23.030</a:t>
                      </a:r>
                    </a:p>
                  </a:txBody>
                  <a:tcPr>
                    <a:solidFill>
                      <a:srgbClr val="FFFFFF"/>
                    </a:solidFill>
                  </a:tcPr>
                </a:tc>
                <a:tc>
                  <a:txBody>
                    <a:bodyPr/>
                    <a:lstStyle/>
                    <a:p>
                      <a:r>
                        <a:rPr sz="850" b="0">
                          <a:solidFill>
                            <a:srgbClr val="1A1A1A"/>
                          </a:solidFill>
                          <a:latin typeface="Calibri"/>
                        </a:rPr>
                        <a:t>12.233</a:t>
                      </a:r>
                    </a:p>
                  </a:txBody>
                  <a:tcPr>
                    <a:solidFill>
                      <a:srgbClr val="FFFFFF"/>
                    </a:solidFill>
                  </a:tcPr>
                </a:tc>
                <a:extLst>
                  <a:ext uri="{0D108BD9-81ED-4DB2-BD59-A6C34878D82A}">
                    <a16:rowId xmlns:a16="http://schemas.microsoft.com/office/drawing/2014/main" val="10013"/>
                  </a:ext>
                </a:extLst>
              </a:tr>
              <a:tr h="245745">
                <a:tc>
                  <a:txBody>
                    <a:bodyPr/>
                    <a:lstStyle/>
                    <a:p>
                      <a:r>
                        <a:rPr sz="850" b="0">
                          <a:solidFill>
                            <a:srgbClr val="1A1A1A"/>
                          </a:solidFill>
                          <a:latin typeface="Calibri"/>
                        </a:rPr>
                        <a:t>HCMC</a:t>
                      </a:r>
                    </a:p>
                  </a:txBody>
                  <a:tcPr>
                    <a:solidFill>
                      <a:schemeClr val="accent4">
                        <a:lumMod val="20000"/>
                        <a:lumOff val="80000"/>
                      </a:schemeClr>
                    </a:solidFill>
                  </a:tcPr>
                </a:tc>
                <a:tc>
                  <a:txBody>
                    <a:bodyPr/>
                    <a:lstStyle/>
                    <a:p>
                      <a:r>
                        <a:rPr sz="850" b="0">
                          <a:solidFill>
                            <a:srgbClr val="1A1A1A"/>
                          </a:solidFill>
                          <a:latin typeface="Calibri"/>
                        </a:rPr>
                        <a:t>GHSL</a:t>
                      </a:r>
                    </a:p>
                  </a:txBody>
                  <a:tcPr>
                    <a:solidFill>
                      <a:schemeClr val="accent4">
                        <a:lumMod val="20000"/>
                        <a:lumOff val="80000"/>
                      </a:schemeClr>
                    </a:solidFill>
                  </a:tcPr>
                </a:tc>
                <a:tc>
                  <a:txBody>
                    <a:bodyPr/>
                    <a:lstStyle/>
                    <a:p>
                      <a:r>
                        <a:rPr sz="850" b="0">
                          <a:solidFill>
                            <a:srgbClr val="1A1A1A"/>
                          </a:solidFill>
                          <a:latin typeface="Calibri"/>
                        </a:rPr>
                        <a:t>reference</a:t>
                      </a:r>
                    </a:p>
                  </a:txBody>
                  <a:tcPr>
                    <a:solidFill>
                      <a:schemeClr val="accent4">
                        <a:lumMod val="20000"/>
                        <a:lumOff val="80000"/>
                      </a:schemeClr>
                    </a:solidFill>
                  </a:tcPr>
                </a:tc>
                <a:tc>
                  <a:txBody>
                    <a:bodyPr/>
                    <a:lstStyle/>
                    <a:p>
                      <a:r>
                        <a:rPr sz="850" b="0">
                          <a:solidFill>
                            <a:srgbClr val="1A1A1A"/>
                          </a:solidFill>
                          <a:latin typeface="Calibri"/>
                        </a:rPr>
                        <a:t>37.355</a:t>
                      </a:r>
                    </a:p>
                  </a:txBody>
                  <a:tcPr>
                    <a:solidFill>
                      <a:schemeClr val="accent4">
                        <a:lumMod val="20000"/>
                        <a:lumOff val="80000"/>
                      </a:schemeClr>
                    </a:solidFill>
                  </a:tcPr>
                </a:tc>
                <a:tc>
                  <a:txBody>
                    <a:bodyPr/>
                    <a:lstStyle/>
                    <a:p>
                      <a:r>
                        <a:rPr sz="850" b="0">
                          <a:solidFill>
                            <a:srgbClr val="1A1A1A"/>
                          </a:solidFill>
                          <a:latin typeface="Calibri"/>
                        </a:rPr>
                        <a:t>25.730</a:t>
                      </a:r>
                    </a:p>
                  </a:txBody>
                  <a:tcPr>
                    <a:solidFill>
                      <a:schemeClr val="accent4">
                        <a:lumMod val="20000"/>
                        <a:lumOff val="80000"/>
                      </a:schemeClr>
                    </a:solidFill>
                  </a:tcPr>
                </a:tc>
                <a:tc>
                  <a:txBody>
                    <a:bodyPr/>
                    <a:lstStyle/>
                    <a:p>
                      <a:r>
                        <a:rPr sz="850" b="0" dirty="0">
                          <a:solidFill>
                            <a:srgbClr val="1A1A1A"/>
                          </a:solidFill>
                          <a:latin typeface="Calibri"/>
                        </a:rPr>
                        <a:t>19.800</a:t>
                      </a:r>
                    </a:p>
                  </a:txBody>
                  <a:tcPr>
                    <a:solidFill>
                      <a:schemeClr val="accent4">
                        <a:lumMod val="20000"/>
                        <a:lumOff val="80000"/>
                      </a:schemeClr>
                    </a:solidFill>
                  </a:tcPr>
                </a:tc>
                <a:extLst>
                  <a:ext uri="{0D108BD9-81ED-4DB2-BD59-A6C34878D82A}">
                    <a16:rowId xmlns:a16="http://schemas.microsoft.com/office/drawing/2014/main" val="10014"/>
                  </a:ext>
                </a:extLst>
              </a:tr>
              <a:tr h="245745">
                <a:tc>
                  <a:txBody>
                    <a:bodyPr/>
                    <a:lstStyle/>
                    <a:p>
                      <a:r>
                        <a:rPr sz="850" b="0">
                          <a:solidFill>
                            <a:srgbClr val="1A1A1A"/>
                          </a:solidFill>
                          <a:latin typeface="Calibri"/>
                        </a:rPr>
                        <a:t>HCMC</a:t>
                      </a:r>
                    </a:p>
                  </a:txBody>
                  <a:tcPr>
                    <a:solidFill>
                      <a:srgbClr val="FFFFFF"/>
                    </a:solidFill>
                  </a:tcPr>
                </a:tc>
                <a:tc>
                  <a:txBody>
                    <a:bodyPr/>
                    <a:lstStyle/>
                    <a:p>
                      <a:r>
                        <a:rPr sz="850" b="0">
                          <a:solidFill>
                            <a:srgbClr val="1A1A1A"/>
                          </a:solidFill>
                          <a:latin typeface="Calibri"/>
                        </a:rPr>
                        <a:t>emb_zeroshot</a:t>
                      </a:r>
                    </a:p>
                  </a:txBody>
                  <a:tcPr>
                    <a:solidFill>
                      <a:srgbClr val="FFFFFF"/>
                    </a:solidFill>
                  </a:tcPr>
                </a:tc>
                <a:tc>
                  <a:txBody>
                    <a:bodyPr/>
                    <a:lstStyle/>
                    <a:p>
                      <a:r>
                        <a:rPr sz="850" b="0">
                          <a:solidFill>
                            <a:srgbClr val="1A1A1A"/>
                          </a:solidFill>
                          <a:latin typeface="Calibri"/>
                        </a:rPr>
                        <a:t>model</a:t>
                      </a:r>
                    </a:p>
                  </a:txBody>
                  <a:tcPr>
                    <a:solidFill>
                      <a:srgbClr val="FFFFFF"/>
                    </a:solidFill>
                  </a:tcPr>
                </a:tc>
                <a:tc>
                  <a:txBody>
                    <a:bodyPr/>
                    <a:lstStyle/>
                    <a:p>
                      <a:r>
                        <a:rPr sz="850" b="0">
                          <a:solidFill>
                            <a:srgbClr val="1A1A1A"/>
                          </a:solidFill>
                          <a:latin typeface="Calibri"/>
                        </a:rPr>
                        <a:t>38.494</a:t>
                      </a:r>
                    </a:p>
                  </a:txBody>
                  <a:tcPr>
                    <a:solidFill>
                      <a:srgbClr val="FFFFFF"/>
                    </a:solidFill>
                  </a:tcPr>
                </a:tc>
                <a:tc>
                  <a:txBody>
                    <a:bodyPr/>
                    <a:lstStyle/>
                    <a:p>
                      <a:r>
                        <a:rPr sz="850" b="0">
                          <a:solidFill>
                            <a:srgbClr val="1A1A1A"/>
                          </a:solidFill>
                          <a:latin typeface="Calibri"/>
                        </a:rPr>
                        <a:t>32.404</a:t>
                      </a:r>
                    </a:p>
                  </a:txBody>
                  <a:tcPr>
                    <a:solidFill>
                      <a:srgbClr val="FFFFFF"/>
                    </a:solidFill>
                  </a:tcPr>
                </a:tc>
                <a:tc>
                  <a:txBody>
                    <a:bodyPr/>
                    <a:lstStyle/>
                    <a:p>
                      <a:r>
                        <a:rPr sz="850" b="0" dirty="0">
                          <a:solidFill>
                            <a:srgbClr val="1A1A1A"/>
                          </a:solidFill>
                          <a:latin typeface="Calibri"/>
                        </a:rPr>
                        <a:t>−19.641</a:t>
                      </a:r>
                    </a:p>
                  </a:txBody>
                  <a:tcPr>
                    <a:solidFill>
                      <a:srgbClr val="FFFFFF"/>
                    </a:solidFill>
                  </a:tcPr>
                </a:tc>
                <a:extLst>
                  <a:ext uri="{0D108BD9-81ED-4DB2-BD59-A6C34878D82A}">
                    <a16:rowId xmlns:a16="http://schemas.microsoft.com/office/drawing/2014/main" val="10015"/>
                  </a:ext>
                </a:extLst>
              </a:tr>
            </a:tbl>
          </a:graphicData>
        </a:graphic>
      </p:graphicFrame>
      <p:sp>
        <p:nvSpPr>
          <p:cNvPr id="8" name="TextBox 7"/>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All fifteen maps, strict rule, 450 plots per city. The two axes are different references on different samples.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INDEPENDENT VALIDATION · PAIRED TESTING</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What survives is small but real: two tiers of two, not a clean ranking of four</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Paired Wilcoxon on per-plot absolute error, Milan, 450 plots, Benjamini-Hochberg within the city.</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58368" y="2103120"/>
          <a:ext cx="10881360" cy="2048256"/>
        </p:xfrm>
        <a:graphic>
          <a:graphicData uri="http://schemas.openxmlformats.org/drawingml/2006/table">
            <a:tbl>
              <a:tblPr firstRow="1" bandRow="1">
                <a:tableStyleId>{5C22544A-7EE6-4342-B048-85BDC9FD1C3A}</a:tableStyleId>
              </a:tblPr>
              <a:tblGrid>
                <a:gridCol w="1360170">
                  <a:extLst>
                    <a:ext uri="{9D8B030D-6E8A-4147-A177-3AD203B41FA5}">
                      <a16:colId xmlns:a16="http://schemas.microsoft.com/office/drawing/2014/main" val="20000"/>
                    </a:ext>
                  </a:extLst>
                </a:gridCol>
                <a:gridCol w="1360170">
                  <a:extLst>
                    <a:ext uri="{9D8B030D-6E8A-4147-A177-3AD203B41FA5}">
                      <a16:colId xmlns:a16="http://schemas.microsoft.com/office/drawing/2014/main" val="20001"/>
                    </a:ext>
                  </a:extLst>
                </a:gridCol>
                <a:gridCol w="1360170">
                  <a:extLst>
                    <a:ext uri="{9D8B030D-6E8A-4147-A177-3AD203B41FA5}">
                      <a16:colId xmlns:a16="http://schemas.microsoft.com/office/drawing/2014/main" val="20002"/>
                    </a:ext>
                  </a:extLst>
                </a:gridCol>
                <a:gridCol w="1360170">
                  <a:extLst>
                    <a:ext uri="{9D8B030D-6E8A-4147-A177-3AD203B41FA5}">
                      <a16:colId xmlns:a16="http://schemas.microsoft.com/office/drawing/2014/main" val="20003"/>
                    </a:ext>
                  </a:extLst>
                </a:gridCol>
                <a:gridCol w="1360170">
                  <a:extLst>
                    <a:ext uri="{9D8B030D-6E8A-4147-A177-3AD203B41FA5}">
                      <a16:colId xmlns:a16="http://schemas.microsoft.com/office/drawing/2014/main" val="20004"/>
                    </a:ext>
                  </a:extLst>
                </a:gridCol>
                <a:gridCol w="1360170">
                  <a:extLst>
                    <a:ext uri="{9D8B030D-6E8A-4147-A177-3AD203B41FA5}">
                      <a16:colId xmlns:a16="http://schemas.microsoft.com/office/drawing/2014/main" val="20005"/>
                    </a:ext>
                  </a:extLst>
                </a:gridCol>
                <a:gridCol w="1360170">
                  <a:extLst>
                    <a:ext uri="{9D8B030D-6E8A-4147-A177-3AD203B41FA5}">
                      <a16:colId xmlns:a16="http://schemas.microsoft.com/office/drawing/2014/main" val="20006"/>
                    </a:ext>
                  </a:extLst>
                </a:gridCol>
                <a:gridCol w="1360170">
                  <a:extLst>
                    <a:ext uri="{9D8B030D-6E8A-4147-A177-3AD203B41FA5}">
                      <a16:colId xmlns:a16="http://schemas.microsoft.com/office/drawing/2014/main" val="20007"/>
                    </a:ext>
                  </a:extLst>
                </a:gridCol>
              </a:tblGrid>
              <a:tr h="292608">
                <a:tc>
                  <a:txBody>
                    <a:bodyPr/>
                    <a:lstStyle/>
                    <a:p>
                      <a:r>
                        <a:rPr sz="1100" b="1">
                          <a:solidFill>
                            <a:srgbClr val="FFFFFF"/>
                          </a:solidFill>
                          <a:latin typeface="Calibri"/>
                        </a:rPr>
                        <a:t>Map A</a:t>
                      </a:r>
                    </a:p>
                  </a:txBody>
                  <a:tcPr>
                    <a:solidFill>
                      <a:srgbClr val="1A1A1A"/>
                    </a:solidFill>
                  </a:tcPr>
                </a:tc>
                <a:tc>
                  <a:txBody>
                    <a:bodyPr/>
                    <a:lstStyle/>
                    <a:p>
                      <a:r>
                        <a:rPr sz="1100" b="1">
                          <a:solidFill>
                            <a:srgbClr val="FFFFFF"/>
                          </a:solidFill>
                          <a:latin typeface="Calibri"/>
                        </a:rPr>
                        <a:t>Map B</a:t>
                      </a:r>
                    </a:p>
                  </a:txBody>
                  <a:tcPr>
                    <a:solidFill>
                      <a:srgbClr val="1A1A1A"/>
                    </a:solidFill>
                  </a:tcPr>
                </a:tc>
                <a:tc>
                  <a:txBody>
                    <a:bodyPr/>
                    <a:lstStyle/>
                    <a:p>
                      <a:r>
                        <a:rPr sz="1100" b="1">
                          <a:solidFill>
                            <a:srgbClr val="FFFFFF"/>
                          </a:solidFill>
                          <a:latin typeface="Calibri"/>
                        </a:rPr>
                        <a:t>MAE A</a:t>
                      </a:r>
                    </a:p>
                  </a:txBody>
                  <a:tcPr>
                    <a:solidFill>
                      <a:srgbClr val="1A1A1A"/>
                    </a:solidFill>
                  </a:tcPr>
                </a:tc>
                <a:tc>
                  <a:txBody>
                    <a:bodyPr/>
                    <a:lstStyle/>
                    <a:p>
                      <a:r>
                        <a:rPr sz="1100" b="1">
                          <a:solidFill>
                            <a:srgbClr val="FFFFFF"/>
                          </a:solidFill>
                          <a:latin typeface="Calibri"/>
                        </a:rPr>
                        <a:t>MAE B</a:t>
                      </a:r>
                    </a:p>
                  </a:txBody>
                  <a:tcPr>
                    <a:solidFill>
                      <a:srgbClr val="1A1A1A"/>
                    </a:solidFill>
                  </a:tcPr>
                </a:tc>
                <a:tc>
                  <a:txBody>
                    <a:bodyPr/>
                    <a:lstStyle/>
                    <a:p>
                      <a:r>
                        <a:rPr sz="1100" b="1">
                          <a:solidFill>
                            <a:srgbClr val="FFFFFF"/>
                          </a:solidFill>
                          <a:latin typeface="Calibri"/>
                        </a:rPr>
                        <a:t>Median diff.</a:t>
                      </a:r>
                    </a:p>
                  </a:txBody>
                  <a:tcPr>
                    <a:solidFill>
                      <a:srgbClr val="1A1A1A"/>
                    </a:solidFill>
                  </a:tcPr>
                </a:tc>
                <a:tc>
                  <a:txBody>
                    <a:bodyPr/>
                    <a:lstStyle/>
                    <a:p>
                      <a:r>
                        <a:rPr sz="1100" b="1">
                          <a:solidFill>
                            <a:srgbClr val="FFFFFF"/>
                          </a:solidFill>
                          <a:latin typeface="Calibri"/>
                        </a:rPr>
                        <a:t>p</a:t>
                      </a:r>
                    </a:p>
                  </a:txBody>
                  <a:tcPr>
                    <a:solidFill>
                      <a:srgbClr val="1A1A1A"/>
                    </a:solidFill>
                  </a:tcPr>
                </a:tc>
                <a:tc>
                  <a:txBody>
                    <a:bodyPr/>
                    <a:lstStyle/>
                    <a:p>
                      <a:r>
                        <a:rPr sz="1100" b="1">
                          <a:solidFill>
                            <a:srgbClr val="FFFFFF"/>
                          </a:solidFill>
                          <a:latin typeface="Calibri"/>
                        </a:rPr>
                        <a:t>q (BH)</a:t>
                      </a:r>
                    </a:p>
                  </a:txBody>
                  <a:tcPr>
                    <a:solidFill>
                      <a:srgbClr val="1A1A1A"/>
                    </a:solidFill>
                  </a:tcPr>
                </a:tc>
                <a:tc>
                  <a:txBody>
                    <a:bodyPr/>
                    <a:lstStyle/>
                    <a:p>
                      <a:r>
                        <a:rPr sz="1100" b="1">
                          <a:solidFill>
                            <a:srgbClr val="FFFFFF"/>
                          </a:solidFill>
                          <a:latin typeface="Calibri"/>
                        </a:rPr>
                        <a:t>Distinguishable</a:t>
                      </a:r>
                    </a:p>
                  </a:txBody>
                  <a:tcPr>
                    <a:solidFill>
                      <a:srgbClr val="1A1A1A"/>
                    </a:solidFill>
                  </a:tcPr>
                </a:tc>
                <a:extLst>
                  <a:ext uri="{0D108BD9-81ED-4DB2-BD59-A6C34878D82A}">
                    <a16:rowId xmlns:a16="http://schemas.microsoft.com/office/drawing/2014/main" val="10000"/>
                  </a:ext>
                </a:extLst>
              </a:tr>
              <a:tr h="292608">
                <a:tc>
                  <a:txBody>
                    <a:bodyPr/>
                    <a:lstStyle/>
                    <a:p>
                      <a:r>
                        <a:rPr sz="1100" b="0">
                          <a:solidFill>
                            <a:srgbClr val="1A1A1A"/>
                          </a:solidFill>
                          <a:latin typeface="Calibri"/>
                        </a:rPr>
                        <a:t>S2 median</a:t>
                      </a:r>
                    </a:p>
                  </a:txBody>
                  <a:tcPr>
                    <a:solidFill>
                      <a:srgbClr val="FFFFFF"/>
                    </a:solidFill>
                  </a:tcPr>
                </a:tc>
                <a:tc>
                  <a:txBody>
                    <a:bodyPr/>
                    <a:lstStyle/>
                    <a:p>
                      <a:r>
                        <a:rPr sz="1100" b="0">
                          <a:solidFill>
                            <a:srgbClr val="1A1A1A"/>
                          </a:solidFill>
                          <a:latin typeface="Calibri"/>
                        </a:rPr>
                        <a:t>S2 percentile</a:t>
                      </a:r>
                    </a:p>
                  </a:txBody>
                  <a:tcPr>
                    <a:solidFill>
                      <a:srgbClr val="FFFFFF"/>
                    </a:solidFill>
                  </a:tcPr>
                </a:tc>
                <a:tc>
                  <a:txBody>
                    <a:bodyPr/>
                    <a:lstStyle/>
                    <a:p>
                      <a:r>
                        <a:rPr sz="1100" b="0">
                          <a:solidFill>
                            <a:srgbClr val="1A1A1A"/>
                          </a:solidFill>
                          <a:latin typeface="Calibri"/>
                        </a:rPr>
                        <a:t>18.36</a:t>
                      </a:r>
                    </a:p>
                  </a:txBody>
                  <a:tcPr>
                    <a:solidFill>
                      <a:srgbClr val="FFFFFF"/>
                    </a:solidFill>
                  </a:tcPr>
                </a:tc>
                <a:tc>
                  <a:txBody>
                    <a:bodyPr/>
                    <a:lstStyle/>
                    <a:p>
                      <a:r>
                        <a:rPr sz="1100" b="0">
                          <a:solidFill>
                            <a:srgbClr val="1A1A1A"/>
                          </a:solidFill>
                          <a:latin typeface="Calibri"/>
                        </a:rPr>
                        <a:t>16.49</a:t>
                      </a:r>
                    </a:p>
                  </a:txBody>
                  <a:tcPr>
                    <a:solidFill>
                      <a:srgbClr val="FFFFFF"/>
                    </a:solidFill>
                  </a:tcPr>
                </a:tc>
                <a:tc>
                  <a:txBody>
                    <a:bodyPr/>
                    <a:lstStyle/>
                    <a:p>
                      <a:r>
                        <a:rPr sz="1100" b="0">
                          <a:solidFill>
                            <a:srgbClr val="1A1A1A"/>
                          </a:solidFill>
                          <a:latin typeface="Calibri"/>
                        </a:rPr>
                        <a:t>0.92</a:t>
                      </a:r>
                    </a:p>
                  </a:txBody>
                  <a:tcPr>
                    <a:solidFill>
                      <a:srgbClr val="FFFFFF"/>
                    </a:solidFill>
                  </a:tcPr>
                </a:tc>
                <a:tc>
                  <a:txBody>
                    <a:bodyPr/>
                    <a:lstStyle/>
                    <a:p>
                      <a:r>
                        <a:rPr sz="1100" b="0">
                          <a:solidFill>
                            <a:srgbClr val="1A1A1A"/>
                          </a:solidFill>
                          <a:latin typeface="Calibri"/>
                        </a:rPr>
                        <a:t>5.95e-09</a:t>
                      </a:r>
                    </a:p>
                  </a:txBody>
                  <a:tcPr>
                    <a:solidFill>
                      <a:srgbClr val="FFFFFF"/>
                    </a:solidFill>
                  </a:tcPr>
                </a:tc>
                <a:tc>
                  <a:txBody>
                    <a:bodyPr/>
                    <a:lstStyle/>
                    <a:p>
                      <a:r>
                        <a:rPr sz="1100" b="0">
                          <a:solidFill>
                            <a:srgbClr val="1A1A1A"/>
                          </a:solidFill>
                          <a:latin typeface="Calibri"/>
                        </a:rPr>
                        <a:t>3.57e-08</a:t>
                      </a:r>
                    </a:p>
                  </a:txBody>
                  <a:tcPr>
                    <a:solidFill>
                      <a:srgbClr val="FFFFFF"/>
                    </a:solidFill>
                  </a:tcPr>
                </a:tc>
                <a:tc>
                  <a:txBody>
                    <a:bodyPr/>
                    <a:lstStyle/>
                    <a:p>
                      <a:r>
                        <a:rPr sz="1100" b="0">
                          <a:solidFill>
                            <a:srgbClr val="1A1A1A"/>
                          </a:solidFill>
                          <a:latin typeface="Calibri"/>
                        </a:rPr>
                        <a:t>yes</a:t>
                      </a:r>
                    </a:p>
                  </a:txBody>
                  <a:tcPr>
                    <a:solidFill>
                      <a:srgbClr val="FFFFFF"/>
                    </a:solidFill>
                  </a:tcPr>
                </a:tc>
                <a:extLst>
                  <a:ext uri="{0D108BD9-81ED-4DB2-BD59-A6C34878D82A}">
                    <a16:rowId xmlns:a16="http://schemas.microsoft.com/office/drawing/2014/main" val="10001"/>
                  </a:ext>
                </a:extLst>
              </a:tr>
              <a:tr h="292608">
                <a:tc>
                  <a:txBody>
                    <a:bodyPr/>
                    <a:lstStyle/>
                    <a:p>
                      <a:r>
                        <a:rPr sz="1100" b="0">
                          <a:solidFill>
                            <a:srgbClr val="1A1A1A"/>
                          </a:solidFill>
                          <a:latin typeface="Calibri"/>
                        </a:rPr>
                        <a:t>S2 median</a:t>
                      </a:r>
                    </a:p>
                  </a:txBody>
                  <a:tcPr>
                    <a:solidFill>
                      <a:srgbClr val="F7F7F7"/>
                    </a:solidFill>
                  </a:tcPr>
                </a:tc>
                <a:tc>
                  <a:txBody>
                    <a:bodyPr/>
                    <a:lstStyle/>
                    <a:p>
                      <a:r>
                        <a:rPr sz="1100" b="0">
                          <a:solidFill>
                            <a:srgbClr val="1A1A1A"/>
                          </a:solidFill>
                          <a:latin typeface="Calibri"/>
                        </a:rPr>
                        <a:t>S2 stack</a:t>
                      </a:r>
                    </a:p>
                  </a:txBody>
                  <a:tcPr>
                    <a:solidFill>
                      <a:srgbClr val="F7F7F7"/>
                    </a:solidFill>
                  </a:tcPr>
                </a:tc>
                <a:tc>
                  <a:txBody>
                    <a:bodyPr/>
                    <a:lstStyle/>
                    <a:p>
                      <a:r>
                        <a:rPr sz="1100" b="0">
                          <a:solidFill>
                            <a:srgbClr val="1A1A1A"/>
                          </a:solidFill>
                          <a:latin typeface="Calibri"/>
                        </a:rPr>
                        <a:t>18.36</a:t>
                      </a:r>
                    </a:p>
                  </a:txBody>
                  <a:tcPr>
                    <a:solidFill>
                      <a:srgbClr val="F7F7F7"/>
                    </a:solidFill>
                  </a:tcPr>
                </a:tc>
                <a:tc>
                  <a:txBody>
                    <a:bodyPr/>
                    <a:lstStyle/>
                    <a:p>
                      <a:r>
                        <a:rPr sz="1100" b="0">
                          <a:solidFill>
                            <a:srgbClr val="1A1A1A"/>
                          </a:solidFill>
                          <a:latin typeface="Calibri"/>
                        </a:rPr>
                        <a:t>16.55</a:t>
                      </a:r>
                    </a:p>
                  </a:txBody>
                  <a:tcPr>
                    <a:solidFill>
                      <a:srgbClr val="F7F7F7"/>
                    </a:solidFill>
                  </a:tcPr>
                </a:tc>
                <a:tc>
                  <a:txBody>
                    <a:bodyPr/>
                    <a:lstStyle/>
                    <a:p>
                      <a:r>
                        <a:rPr sz="1100" b="0">
                          <a:solidFill>
                            <a:srgbClr val="1A1A1A"/>
                          </a:solidFill>
                          <a:latin typeface="Calibri"/>
                        </a:rPr>
                        <a:t>1.07</a:t>
                      </a:r>
                    </a:p>
                  </a:txBody>
                  <a:tcPr>
                    <a:solidFill>
                      <a:srgbClr val="F7F7F7"/>
                    </a:solidFill>
                  </a:tcPr>
                </a:tc>
                <a:tc>
                  <a:txBody>
                    <a:bodyPr/>
                    <a:lstStyle/>
                    <a:p>
                      <a:r>
                        <a:rPr sz="1100" b="0">
                          <a:solidFill>
                            <a:srgbClr val="1A1A1A"/>
                          </a:solidFill>
                          <a:latin typeface="Calibri"/>
                        </a:rPr>
                        <a:t>4.33e-05</a:t>
                      </a:r>
                    </a:p>
                  </a:txBody>
                  <a:tcPr>
                    <a:solidFill>
                      <a:srgbClr val="F7F7F7"/>
                    </a:solidFill>
                  </a:tcPr>
                </a:tc>
                <a:tc>
                  <a:txBody>
                    <a:bodyPr/>
                    <a:lstStyle/>
                    <a:p>
                      <a:r>
                        <a:rPr sz="1100" b="0">
                          <a:solidFill>
                            <a:srgbClr val="1A1A1A"/>
                          </a:solidFill>
                          <a:latin typeface="Calibri"/>
                        </a:rPr>
                        <a:t>1.30e-04</a:t>
                      </a:r>
                    </a:p>
                  </a:txBody>
                  <a:tcPr>
                    <a:solidFill>
                      <a:srgbClr val="F7F7F7"/>
                    </a:solidFill>
                  </a:tcPr>
                </a:tc>
                <a:tc>
                  <a:txBody>
                    <a:bodyPr/>
                    <a:lstStyle/>
                    <a:p>
                      <a:r>
                        <a:rPr sz="1100" b="0">
                          <a:solidFill>
                            <a:srgbClr val="1A1A1A"/>
                          </a:solidFill>
                          <a:latin typeface="Calibri"/>
                        </a:rPr>
                        <a:t>yes</a:t>
                      </a:r>
                    </a:p>
                  </a:txBody>
                  <a:tcPr>
                    <a:solidFill>
                      <a:srgbClr val="F7F7F7"/>
                    </a:solidFill>
                  </a:tcPr>
                </a:tc>
                <a:extLst>
                  <a:ext uri="{0D108BD9-81ED-4DB2-BD59-A6C34878D82A}">
                    <a16:rowId xmlns:a16="http://schemas.microsoft.com/office/drawing/2014/main" val="10002"/>
                  </a:ext>
                </a:extLst>
              </a:tr>
              <a:tr h="292608">
                <a:tc>
                  <a:txBody>
                    <a:bodyPr/>
                    <a:lstStyle/>
                    <a:p>
                      <a:r>
                        <a:rPr sz="1100" b="0">
                          <a:solidFill>
                            <a:srgbClr val="1A1A1A"/>
                          </a:solidFill>
                          <a:latin typeface="Calibri"/>
                        </a:rPr>
                        <a:t>emb_RF</a:t>
                      </a:r>
                    </a:p>
                  </a:txBody>
                  <a:tcPr>
                    <a:solidFill>
                      <a:srgbClr val="FFFFFF"/>
                    </a:solidFill>
                  </a:tcPr>
                </a:tc>
                <a:tc>
                  <a:txBody>
                    <a:bodyPr/>
                    <a:lstStyle/>
                    <a:p>
                      <a:r>
                        <a:rPr sz="1100" b="0">
                          <a:solidFill>
                            <a:srgbClr val="1A1A1A"/>
                          </a:solidFill>
                          <a:latin typeface="Calibri"/>
                        </a:rPr>
                        <a:t>S2 stack</a:t>
                      </a:r>
                    </a:p>
                  </a:txBody>
                  <a:tcPr>
                    <a:solidFill>
                      <a:srgbClr val="FFFFFF"/>
                    </a:solidFill>
                  </a:tcPr>
                </a:tc>
                <a:tc>
                  <a:txBody>
                    <a:bodyPr/>
                    <a:lstStyle/>
                    <a:p>
                      <a:r>
                        <a:rPr sz="1100" b="0">
                          <a:solidFill>
                            <a:srgbClr val="1A1A1A"/>
                          </a:solidFill>
                          <a:latin typeface="Calibri"/>
                        </a:rPr>
                        <a:t>18.30</a:t>
                      </a:r>
                    </a:p>
                  </a:txBody>
                  <a:tcPr>
                    <a:solidFill>
                      <a:srgbClr val="FFFFFF"/>
                    </a:solidFill>
                  </a:tcPr>
                </a:tc>
                <a:tc>
                  <a:txBody>
                    <a:bodyPr/>
                    <a:lstStyle/>
                    <a:p>
                      <a:r>
                        <a:rPr sz="1100" b="0">
                          <a:solidFill>
                            <a:srgbClr val="1A1A1A"/>
                          </a:solidFill>
                          <a:latin typeface="Calibri"/>
                        </a:rPr>
                        <a:t>16.55</a:t>
                      </a:r>
                    </a:p>
                  </a:txBody>
                  <a:tcPr>
                    <a:solidFill>
                      <a:srgbClr val="FFFFFF"/>
                    </a:solidFill>
                  </a:tcPr>
                </a:tc>
                <a:tc>
                  <a:txBody>
                    <a:bodyPr/>
                    <a:lstStyle/>
                    <a:p>
                      <a:r>
                        <a:rPr sz="1100" b="0">
                          <a:solidFill>
                            <a:srgbClr val="1A1A1A"/>
                          </a:solidFill>
                          <a:latin typeface="Calibri"/>
                        </a:rPr>
                        <a:t>0.60</a:t>
                      </a:r>
                    </a:p>
                  </a:txBody>
                  <a:tcPr>
                    <a:solidFill>
                      <a:srgbClr val="FFFFFF"/>
                    </a:solidFill>
                  </a:tcPr>
                </a:tc>
                <a:tc>
                  <a:txBody>
                    <a:bodyPr/>
                    <a:lstStyle/>
                    <a:p>
                      <a:r>
                        <a:rPr sz="1100" b="0">
                          <a:solidFill>
                            <a:srgbClr val="1A1A1A"/>
                          </a:solidFill>
                          <a:latin typeface="Calibri"/>
                        </a:rPr>
                        <a:t>9.62e-04</a:t>
                      </a:r>
                    </a:p>
                  </a:txBody>
                  <a:tcPr>
                    <a:solidFill>
                      <a:srgbClr val="FFFFFF"/>
                    </a:solidFill>
                  </a:tcPr>
                </a:tc>
                <a:tc>
                  <a:txBody>
                    <a:bodyPr/>
                    <a:lstStyle/>
                    <a:p>
                      <a:r>
                        <a:rPr sz="1100" b="0">
                          <a:solidFill>
                            <a:srgbClr val="1A1A1A"/>
                          </a:solidFill>
                          <a:latin typeface="Calibri"/>
                        </a:rPr>
                        <a:t>1.92e-03</a:t>
                      </a:r>
                    </a:p>
                  </a:txBody>
                  <a:tcPr>
                    <a:solidFill>
                      <a:srgbClr val="FFFFFF"/>
                    </a:solidFill>
                  </a:tcPr>
                </a:tc>
                <a:tc>
                  <a:txBody>
                    <a:bodyPr/>
                    <a:lstStyle/>
                    <a:p>
                      <a:r>
                        <a:rPr sz="1100" b="0">
                          <a:solidFill>
                            <a:srgbClr val="1A1A1A"/>
                          </a:solidFill>
                          <a:latin typeface="Calibri"/>
                        </a:rPr>
                        <a:t>yes</a:t>
                      </a:r>
                    </a:p>
                  </a:txBody>
                  <a:tcPr>
                    <a:solidFill>
                      <a:srgbClr val="FFFFFF"/>
                    </a:solidFill>
                  </a:tcPr>
                </a:tc>
                <a:extLst>
                  <a:ext uri="{0D108BD9-81ED-4DB2-BD59-A6C34878D82A}">
                    <a16:rowId xmlns:a16="http://schemas.microsoft.com/office/drawing/2014/main" val="10003"/>
                  </a:ext>
                </a:extLst>
              </a:tr>
              <a:tr h="292608">
                <a:tc>
                  <a:txBody>
                    <a:bodyPr/>
                    <a:lstStyle/>
                    <a:p>
                      <a:r>
                        <a:rPr sz="1100" b="0">
                          <a:solidFill>
                            <a:srgbClr val="1A1A1A"/>
                          </a:solidFill>
                          <a:latin typeface="Calibri"/>
                        </a:rPr>
                        <a:t>emb_RF</a:t>
                      </a:r>
                    </a:p>
                  </a:txBody>
                  <a:tcPr>
                    <a:solidFill>
                      <a:srgbClr val="F7F7F7"/>
                    </a:solidFill>
                  </a:tcPr>
                </a:tc>
                <a:tc>
                  <a:txBody>
                    <a:bodyPr/>
                    <a:lstStyle/>
                    <a:p>
                      <a:r>
                        <a:rPr sz="1100" b="0">
                          <a:solidFill>
                            <a:srgbClr val="1A1A1A"/>
                          </a:solidFill>
                          <a:latin typeface="Calibri"/>
                        </a:rPr>
                        <a:t>S2 percentile</a:t>
                      </a:r>
                    </a:p>
                  </a:txBody>
                  <a:tcPr>
                    <a:solidFill>
                      <a:srgbClr val="F7F7F7"/>
                    </a:solidFill>
                  </a:tcPr>
                </a:tc>
                <a:tc>
                  <a:txBody>
                    <a:bodyPr/>
                    <a:lstStyle/>
                    <a:p>
                      <a:r>
                        <a:rPr sz="1100" b="0">
                          <a:solidFill>
                            <a:srgbClr val="1A1A1A"/>
                          </a:solidFill>
                          <a:latin typeface="Calibri"/>
                        </a:rPr>
                        <a:t>18.30</a:t>
                      </a:r>
                    </a:p>
                  </a:txBody>
                  <a:tcPr>
                    <a:solidFill>
                      <a:srgbClr val="F7F7F7"/>
                    </a:solidFill>
                  </a:tcPr>
                </a:tc>
                <a:tc>
                  <a:txBody>
                    <a:bodyPr/>
                    <a:lstStyle/>
                    <a:p>
                      <a:r>
                        <a:rPr sz="1100" b="0">
                          <a:solidFill>
                            <a:srgbClr val="1A1A1A"/>
                          </a:solidFill>
                          <a:latin typeface="Calibri"/>
                        </a:rPr>
                        <a:t>16.49</a:t>
                      </a:r>
                    </a:p>
                  </a:txBody>
                  <a:tcPr>
                    <a:solidFill>
                      <a:srgbClr val="F7F7F7"/>
                    </a:solidFill>
                  </a:tcPr>
                </a:tc>
                <a:tc>
                  <a:txBody>
                    <a:bodyPr/>
                    <a:lstStyle/>
                    <a:p>
                      <a:r>
                        <a:rPr sz="1100" b="0">
                          <a:solidFill>
                            <a:srgbClr val="1A1A1A"/>
                          </a:solidFill>
                          <a:latin typeface="Calibri"/>
                        </a:rPr>
                        <a:t>0.31</a:t>
                      </a:r>
                    </a:p>
                  </a:txBody>
                  <a:tcPr>
                    <a:solidFill>
                      <a:srgbClr val="F7F7F7"/>
                    </a:solidFill>
                  </a:tcPr>
                </a:tc>
                <a:tc>
                  <a:txBody>
                    <a:bodyPr/>
                    <a:lstStyle/>
                    <a:p>
                      <a:r>
                        <a:rPr sz="1100" b="0">
                          <a:solidFill>
                            <a:srgbClr val="1A1A1A"/>
                          </a:solidFill>
                          <a:latin typeface="Calibri"/>
                        </a:rPr>
                        <a:t>4.56e-03</a:t>
                      </a:r>
                    </a:p>
                  </a:txBody>
                  <a:tcPr>
                    <a:solidFill>
                      <a:srgbClr val="F7F7F7"/>
                    </a:solidFill>
                  </a:tcPr>
                </a:tc>
                <a:tc>
                  <a:txBody>
                    <a:bodyPr/>
                    <a:lstStyle/>
                    <a:p>
                      <a:r>
                        <a:rPr sz="1100" b="0">
                          <a:solidFill>
                            <a:srgbClr val="1A1A1A"/>
                          </a:solidFill>
                          <a:latin typeface="Calibri"/>
                        </a:rPr>
                        <a:t>6.84e-03</a:t>
                      </a:r>
                    </a:p>
                  </a:txBody>
                  <a:tcPr>
                    <a:solidFill>
                      <a:srgbClr val="F7F7F7"/>
                    </a:solidFill>
                  </a:tcPr>
                </a:tc>
                <a:tc>
                  <a:txBody>
                    <a:bodyPr/>
                    <a:lstStyle/>
                    <a:p>
                      <a:r>
                        <a:rPr sz="1100" b="0">
                          <a:solidFill>
                            <a:srgbClr val="1A1A1A"/>
                          </a:solidFill>
                          <a:latin typeface="Calibri"/>
                        </a:rPr>
                        <a:t>yes</a:t>
                      </a:r>
                    </a:p>
                  </a:txBody>
                  <a:tcPr>
                    <a:solidFill>
                      <a:srgbClr val="F7F7F7"/>
                    </a:solidFill>
                  </a:tcPr>
                </a:tc>
                <a:extLst>
                  <a:ext uri="{0D108BD9-81ED-4DB2-BD59-A6C34878D82A}">
                    <a16:rowId xmlns:a16="http://schemas.microsoft.com/office/drawing/2014/main" val="10004"/>
                  </a:ext>
                </a:extLst>
              </a:tr>
              <a:tr h="292608">
                <a:tc>
                  <a:txBody>
                    <a:bodyPr/>
                    <a:lstStyle/>
                    <a:p>
                      <a:r>
                        <a:rPr sz="1100" b="0">
                          <a:solidFill>
                            <a:srgbClr val="1A1A1A"/>
                          </a:solidFill>
                          <a:latin typeface="Calibri"/>
                        </a:rPr>
                        <a:t>S2 stack</a:t>
                      </a:r>
                    </a:p>
                  </a:txBody>
                  <a:tcPr>
                    <a:solidFill>
                      <a:srgbClr val="FFFFFF"/>
                    </a:solidFill>
                  </a:tcPr>
                </a:tc>
                <a:tc>
                  <a:txBody>
                    <a:bodyPr/>
                    <a:lstStyle/>
                    <a:p>
                      <a:r>
                        <a:rPr sz="1100" b="0">
                          <a:solidFill>
                            <a:srgbClr val="1A1A1A"/>
                          </a:solidFill>
                          <a:latin typeface="Calibri"/>
                        </a:rPr>
                        <a:t>S2 percentile</a:t>
                      </a:r>
                    </a:p>
                  </a:txBody>
                  <a:tcPr>
                    <a:solidFill>
                      <a:srgbClr val="FFFFFF"/>
                    </a:solidFill>
                  </a:tcPr>
                </a:tc>
                <a:tc>
                  <a:txBody>
                    <a:bodyPr/>
                    <a:lstStyle/>
                    <a:p>
                      <a:r>
                        <a:rPr sz="1100" b="0">
                          <a:solidFill>
                            <a:srgbClr val="1A1A1A"/>
                          </a:solidFill>
                          <a:latin typeface="Calibri"/>
                        </a:rPr>
                        <a:t>16.55</a:t>
                      </a:r>
                    </a:p>
                  </a:txBody>
                  <a:tcPr>
                    <a:solidFill>
                      <a:srgbClr val="FFFFFF"/>
                    </a:solidFill>
                  </a:tcPr>
                </a:tc>
                <a:tc>
                  <a:txBody>
                    <a:bodyPr/>
                    <a:lstStyle/>
                    <a:p>
                      <a:r>
                        <a:rPr sz="1100" b="0">
                          <a:solidFill>
                            <a:srgbClr val="1A1A1A"/>
                          </a:solidFill>
                          <a:latin typeface="Calibri"/>
                        </a:rPr>
                        <a:t>16.49</a:t>
                      </a:r>
                    </a:p>
                  </a:txBody>
                  <a:tcPr>
                    <a:solidFill>
                      <a:srgbClr val="FFFFFF"/>
                    </a:solidFill>
                  </a:tcPr>
                </a:tc>
                <a:tc>
                  <a:txBody>
                    <a:bodyPr/>
                    <a:lstStyle/>
                    <a:p>
                      <a:r>
                        <a:rPr sz="1100" b="0">
                          <a:solidFill>
                            <a:srgbClr val="1A1A1A"/>
                          </a:solidFill>
                          <a:latin typeface="Calibri"/>
                        </a:rPr>
                        <a:t>0.19</a:t>
                      </a:r>
                    </a:p>
                  </a:txBody>
                  <a:tcPr>
                    <a:solidFill>
                      <a:srgbClr val="FFFFFF"/>
                    </a:solidFill>
                  </a:tcPr>
                </a:tc>
                <a:tc>
                  <a:txBody>
                    <a:bodyPr/>
                    <a:lstStyle/>
                    <a:p>
                      <a:r>
                        <a:rPr sz="1100" b="0">
                          <a:solidFill>
                            <a:srgbClr val="1A1A1A"/>
                          </a:solidFill>
                          <a:latin typeface="Calibri"/>
                        </a:rPr>
                        <a:t>6.55e-01</a:t>
                      </a:r>
                    </a:p>
                  </a:txBody>
                  <a:tcPr>
                    <a:solidFill>
                      <a:srgbClr val="FFFFFF"/>
                    </a:solidFill>
                  </a:tcPr>
                </a:tc>
                <a:tc>
                  <a:txBody>
                    <a:bodyPr/>
                    <a:lstStyle/>
                    <a:p>
                      <a:r>
                        <a:rPr sz="1100" b="0">
                          <a:solidFill>
                            <a:srgbClr val="1A1A1A"/>
                          </a:solidFill>
                          <a:latin typeface="Calibri"/>
                        </a:rPr>
                        <a:t>7.86e-01</a:t>
                      </a:r>
                    </a:p>
                  </a:txBody>
                  <a:tcPr>
                    <a:solidFill>
                      <a:srgbClr val="FFFFFF"/>
                    </a:solidFill>
                  </a:tcPr>
                </a:tc>
                <a:tc>
                  <a:txBody>
                    <a:bodyPr/>
                    <a:lstStyle/>
                    <a:p>
                      <a:r>
                        <a:rPr sz="1100" b="0">
                          <a:solidFill>
                            <a:srgbClr val="1A1A1A"/>
                          </a:solidFill>
                          <a:latin typeface="Calibri"/>
                        </a:rPr>
                        <a:t>no</a:t>
                      </a:r>
                    </a:p>
                  </a:txBody>
                  <a:tcPr>
                    <a:solidFill>
                      <a:srgbClr val="FFFFFF"/>
                    </a:solidFill>
                  </a:tcPr>
                </a:tc>
                <a:extLst>
                  <a:ext uri="{0D108BD9-81ED-4DB2-BD59-A6C34878D82A}">
                    <a16:rowId xmlns:a16="http://schemas.microsoft.com/office/drawing/2014/main" val="10005"/>
                  </a:ext>
                </a:extLst>
              </a:tr>
              <a:tr h="292608">
                <a:tc>
                  <a:txBody>
                    <a:bodyPr/>
                    <a:lstStyle/>
                    <a:p>
                      <a:r>
                        <a:rPr sz="1100" b="0">
                          <a:solidFill>
                            <a:srgbClr val="1A1A1A"/>
                          </a:solidFill>
                          <a:latin typeface="Calibri"/>
                        </a:rPr>
                        <a:t>emb_RF</a:t>
                      </a:r>
                    </a:p>
                  </a:txBody>
                  <a:tcPr>
                    <a:solidFill>
                      <a:srgbClr val="F7F7F7"/>
                    </a:solidFill>
                  </a:tcPr>
                </a:tc>
                <a:tc>
                  <a:txBody>
                    <a:bodyPr/>
                    <a:lstStyle/>
                    <a:p>
                      <a:r>
                        <a:rPr sz="1100" b="0">
                          <a:solidFill>
                            <a:srgbClr val="1A1A1A"/>
                          </a:solidFill>
                          <a:latin typeface="Calibri"/>
                        </a:rPr>
                        <a:t>S2 median</a:t>
                      </a:r>
                    </a:p>
                  </a:txBody>
                  <a:tcPr>
                    <a:solidFill>
                      <a:srgbClr val="F7F7F7"/>
                    </a:solidFill>
                  </a:tcPr>
                </a:tc>
                <a:tc>
                  <a:txBody>
                    <a:bodyPr/>
                    <a:lstStyle/>
                    <a:p>
                      <a:r>
                        <a:rPr sz="1100" b="0">
                          <a:solidFill>
                            <a:srgbClr val="1A1A1A"/>
                          </a:solidFill>
                          <a:latin typeface="Calibri"/>
                        </a:rPr>
                        <a:t>18.30</a:t>
                      </a:r>
                    </a:p>
                  </a:txBody>
                  <a:tcPr>
                    <a:solidFill>
                      <a:srgbClr val="F7F7F7"/>
                    </a:solidFill>
                  </a:tcPr>
                </a:tc>
                <a:tc>
                  <a:txBody>
                    <a:bodyPr/>
                    <a:lstStyle/>
                    <a:p>
                      <a:r>
                        <a:rPr sz="1100" b="0">
                          <a:solidFill>
                            <a:srgbClr val="1A1A1A"/>
                          </a:solidFill>
                          <a:latin typeface="Calibri"/>
                        </a:rPr>
                        <a:t>18.36</a:t>
                      </a:r>
                    </a:p>
                  </a:txBody>
                  <a:tcPr>
                    <a:solidFill>
                      <a:srgbClr val="F7F7F7"/>
                    </a:solidFill>
                  </a:tcPr>
                </a:tc>
                <a:tc>
                  <a:txBody>
                    <a:bodyPr/>
                    <a:lstStyle/>
                    <a:p>
                      <a:r>
                        <a:rPr sz="1100" b="0">
                          <a:solidFill>
                            <a:srgbClr val="1A1A1A"/>
                          </a:solidFill>
                          <a:latin typeface="Calibri"/>
                        </a:rPr>
                        <a:t>−0.64</a:t>
                      </a:r>
                    </a:p>
                  </a:txBody>
                  <a:tcPr>
                    <a:solidFill>
                      <a:srgbClr val="F7F7F7"/>
                    </a:solidFill>
                  </a:tcPr>
                </a:tc>
                <a:tc>
                  <a:txBody>
                    <a:bodyPr/>
                    <a:lstStyle/>
                    <a:p>
                      <a:r>
                        <a:rPr sz="1100" b="0">
                          <a:solidFill>
                            <a:srgbClr val="1A1A1A"/>
                          </a:solidFill>
                          <a:latin typeface="Calibri"/>
                        </a:rPr>
                        <a:t>7.90e-01</a:t>
                      </a:r>
                    </a:p>
                  </a:txBody>
                  <a:tcPr>
                    <a:solidFill>
                      <a:srgbClr val="F7F7F7"/>
                    </a:solidFill>
                  </a:tcPr>
                </a:tc>
                <a:tc>
                  <a:txBody>
                    <a:bodyPr/>
                    <a:lstStyle/>
                    <a:p>
                      <a:r>
                        <a:rPr sz="1100" b="0">
                          <a:solidFill>
                            <a:srgbClr val="1A1A1A"/>
                          </a:solidFill>
                          <a:latin typeface="Calibri"/>
                        </a:rPr>
                        <a:t>7.90e-01</a:t>
                      </a:r>
                    </a:p>
                  </a:txBody>
                  <a:tcPr>
                    <a:solidFill>
                      <a:srgbClr val="F7F7F7"/>
                    </a:solidFill>
                  </a:tcPr>
                </a:tc>
                <a:tc>
                  <a:txBody>
                    <a:bodyPr/>
                    <a:lstStyle/>
                    <a:p>
                      <a:r>
                        <a:rPr sz="1100" b="0">
                          <a:solidFill>
                            <a:srgbClr val="1A1A1A"/>
                          </a:solidFill>
                          <a:latin typeface="Calibri"/>
                        </a:rPr>
                        <a:t>no</a:t>
                      </a:r>
                    </a:p>
                  </a:txBody>
                  <a:tcPr>
                    <a:solidFill>
                      <a:srgbClr val="F7F7F7"/>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Between tiers q runs from 3.57e-08 to 6.84e-03; neither within-tier pair separates, both at q = 0.79.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INDEPENDENT VALIDATION</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Every registered map in all three cities, at plot level</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Photo-interpreted reference against predicted IMD, strict rule. The one place the scatter is shown rather than reduced to a metric.</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01_scatter_grid.png"/>
          <p:cNvPicPr>
            <a:picLocks noChangeAspect="1"/>
          </p:cNvPicPr>
          <p:nvPr/>
        </p:nvPicPr>
        <p:blipFill>
          <a:blip r:embed="rId3"/>
          <a:stretch>
            <a:fillRect/>
          </a:stretch>
        </p:blipFill>
        <p:spPr>
          <a:xfrm>
            <a:off x="2876510" y="2066544"/>
            <a:ext cx="6445076" cy="4114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INDEPENDENT VALIDATION · THE DIAMONDS</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Both training products score no better than the models fitted to them</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The diamonds mark CLMS and GHS-BUILT-S, scored here as maps under test rather than as targets, on the same 450 plots and the same terms as every model.</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02_forest_ci.png"/>
          <p:cNvPicPr>
            <a:picLocks noChangeAspect="1"/>
          </p:cNvPicPr>
          <p:nvPr/>
        </p:nvPicPr>
        <p:blipFill>
          <a:blip r:embed="rId3"/>
          <a:stretch>
            <a:fillRect/>
          </a:stretch>
        </p:blipFill>
        <p:spPr>
          <a:xfrm>
            <a:off x="2127614" y="2066544"/>
            <a:ext cx="7942867" cy="3611880"/>
          </a:xfrm>
          <a:prstGeom prst="rect">
            <a:avLst/>
          </a:prstGeom>
        </p:spPr>
      </p:pic>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What this measures is label quality, not a ceiling on achievable accuracy.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INDEPENDENT VALIDATION · ONE APPARENT COUNTER-EXAMPLE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CLMS holds the best MAE of any Milan map and the worst RMSE, and both are correct</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Distribution of per-plot absolute error, Milan, strict rule, 450 plots.</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58368" y="2103120"/>
          <a:ext cx="10881360" cy="1755648"/>
        </p:xfrm>
        <a:graphic>
          <a:graphicData uri="http://schemas.openxmlformats.org/drawingml/2006/table">
            <a:tbl>
              <a:tblPr firstRow="1" bandRow="1">
                <a:tableStyleId>{5C22544A-7EE6-4342-B048-85BDC9FD1C3A}</a:tableStyleId>
              </a:tblPr>
              <a:tblGrid>
                <a:gridCol w="1360170">
                  <a:extLst>
                    <a:ext uri="{9D8B030D-6E8A-4147-A177-3AD203B41FA5}">
                      <a16:colId xmlns:a16="http://schemas.microsoft.com/office/drawing/2014/main" val="20000"/>
                    </a:ext>
                  </a:extLst>
                </a:gridCol>
                <a:gridCol w="1360170">
                  <a:extLst>
                    <a:ext uri="{9D8B030D-6E8A-4147-A177-3AD203B41FA5}">
                      <a16:colId xmlns:a16="http://schemas.microsoft.com/office/drawing/2014/main" val="20001"/>
                    </a:ext>
                  </a:extLst>
                </a:gridCol>
                <a:gridCol w="1360170">
                  <a:extLst>
                    <a:ext uri="{9D8B030D-6E8A-4147-A177-3AD203B41FA5}">
                      <a16:colId xmlns:a16="http://schemas.microsoft.com/office/drawing/2014/main" val="20002"/>
                    </a:ext>
                  </a:extLst>
                </a:gridCol>
                <a:gridCol w="1360170">
                  <a:extLst>
                    <a:ext uri="{9D8B030D-6E8A-4147-A177-3AD203B41FA5}">
                      <a16:colId xmlns:a16="http://schemas.microsoft.com/office/drawing/2014/main" val="20003"/>
                    </a:ext>
                  </a:extLst>
                </a:gridCol>
                <a:gridCol w="1360170">
                  <a:extLst>
                    <a:ext uri="{9D8B030D-6E8A-4147-A177-3AD203B41FA5}">
                      <a16:colId xmlns:a16="http://schemas.microsoft.com/office/drawing/2014/main" val="20004"/>
                    </a:ext>
                  </a:extLst>
                </a:gridCol>
                <a:gridCol w="1360170">
                  <a:extLst>
                    <a:ext uri="{9D8B030D-6E8A-4147-A177-3AD203B41FA5}">
                      <a16:colId xmlns:a16="http://schemas.microsoft.com/office/drawing/2014/main" val="20005"/>
                    </a:ext>
                  </a:extLst>
                </a:gridCol>
                <a:gridCol w="1360170">
                  <a:extLst>
                    <a:ext uri="{9D8B030D-6E8A-4147-A177-3AD203B41FA5}">
                      <a16:colId xmlns:a16="http://schemas.microsoft.com/office/drawing/2014/main" val="20006"/>
                    </a:ext>
                  </a:extLst>
                </a:gridCol>
                <a:gridCol w="1360170">
                  <a:extLst>
                    <a:ext uri="{9D8B030D-6E8A-4147-A177-3AD203B41FA5}">
                      <a16:colId xmlns:a16="http://schemas.microsoft.com/office/drawing/2014/main" val="20007"/>
                    </a:ext>
                  </a:extLst>
                </a:gridCol>
              </a:tblGrid>
              <a:tr h="292608">
                <a:tc>
                  <a:txBody>
                    <a:bodyPr/>
                    <a:lstStyle/>
                    <a:p>
                      <a:r>
                        <a:rPr sz="1100" b="1">
                          <a:solidFill>
                            <a:srgbClr val="FFFFFF"/>
                          </a:solidFill>
                          <a:latin typeface="Calibri"/>
                        </a:rPr>
                        <a:t>Map</a:t>
                      </a:r>
                    </a:p>
                  </a:txBody>
                  <a:tcPr>
                    <a:solidFill>
                      <a:srgbClr val="1A1A1A"/>
                    </a:solidFill>
                  </a:tcPr>
                </a:tc>
                <a:tc>
                  <a:txBody>
                    <a:bodyPr/>
                    <a:lstStyle/>
                    <a:p>
                      <a:r>
                        <a:rPr sz="1100" b="1">
                          <a:solidFill>
                            <a:srgbClr val="FFFFFF"/>
                          </a:solidFill>
                          <a:latin typeface="Calibri"/>
                        </a:rPr>
                        <a:t>MAE</a:t>
                      </a:r>
                    </a:p>
                  </a:txBody>
                  <a:tcPr>
                    <a:solidFill>
                      <a:srgbClr val="1A1A1A"/>
                    </a:solidFill>
                  </a:tcPr>
                </a:tc>
                <a:tc>
                  <a:txBody>
                    <a:bodyPr/>
                    <a:lstStyle/>
                    <a:p>
                      <a:r>
                        <a:rPr sz="1100" b="1">
                          <a:solidFill>
                            <a:srgbClr val="FFFFFF"/>
                          </a:solidFill>
                          <a:latin typeface="Calibri"/>
                        </a:rPr>
                        <a:t>RMSE</a:t>
                      </a:r>
                    </a:p>
                  </a:txBody>
                  <a:tcPr>
                    <a:solidFill>
                      <a:srgbClr val="1A1A1A"/>
                    </a:solidFill>
                  </a:tcPr>
                </a:tc>
                <a:tc>
                  <a:txBody>
                    <a:bodyPr/>
                    <a:lstStyle/>
                    <a:p>
                      <a:r>
                        <a:rPr sz="1100" b="1">
                          <a:solidFill>
                            <a:srgbClr val="FFFFFF"/>
                          </a:solidFill>
                          <a:latin typeface="Calibri"/>
                        </a:rPr>
                        <a:t>Median error</a:t>
                      </a:r>
                    </a:p>
                  </a:txBody>
                  <a:tcPr>
                    <a:solidFill>
                      <a:srgbClr val="1A1A1A"/>
                    </a:solidFill>
                  </a:tcPr>
                </a:tc>
                <a:tc>
                  <a:txBody>
                    <a:bodyPr/>
                    <a:lstStyle/>
                    <a:p>
                      <a:r>
                        <a:rPr sz="1100" b="1">
                          <a:solidFill>
                            <a:srgbClr val="FFFFFF"/>
                          </a:solidFill>
                          <a:latin typeface="Calibri"/>
                        </a:rPr>
                        <a:t>p90</a:t>
                      </a:r>
                    </a:p>
                  </a:txBody>
                  <a:tcPr>
                    <a:solidFill>
                      <a:srgbClr val="1A1A1A"/>
                    </a:solidFill>
                  </a:tcPr>
                </a:tc>
                <a:tc>
                  <a:txBody>
                    <a:bodyPr/>
                    <a:lstStyle/>
                    <a:p>
                      <a:r>
                        <a:rPr sz="1100" b="1">
                          <a:solidFill>
                            <a:srgbClr val="FFFFFF"/>
                          </a:solidFill>
                          <a:latin typeface="Calibri"/>
                        </a:rPr>
                        <a:t>Max</a:t>
                      </a:r>
                    </a:p>
                  </a:txBody>
                  <a:tcPr>
                    <a:solidFill>
                      <a:srgbClr val="1A1A1A"/>
                    </a:solidFill>
                  </a:tcPr>
                </a:tc>
                <a:tc>
                  <a:txBody>
                    <a:bodyPr/>
                    <a:lstStyle/>
                    <a:p>
                      <a:r>
                        <a:rPr sz="1100" b="1">
                          <a:solidFill>
                            <a:srgbClr val="FFFFFF"/>
                          </a:solidFill>
                          <a:latin typeface="Calibri"/>
                        </a:rPr>
                        <a:t>Within 5 pp (%)</a:t>
                      </a:r>
                    </a:p>
                  </a:txBody>
                  <a:tcPr>
                    <a:solidFill>
                      <a:srgbClr val="1A1A1A"/>
                    </a:solidFill>
                  </a:tcPr>
                </a:tc>
                <a:tc>
                  <a:txBody>
                    <a:bodyPr/>
                    <a:lstStyle/>
                    <a:p>
                      <a:r>
                        <a:rPr sz="1100" b="1">
                          <a:solidFill>
                            <a:srgbClr val="FFFFFF"/>
                          </a:solidFill>
                          <a:latin typeface="Calibri"/>
                        </a:rPr>
                        <a:t>Over 50 pp (%)</a:t>
                      </a:r>
                    </a:p>
                  </a:txBody>
                  <a:tcPr>
                    <a:solidFill>
                      <a:srgbClr val="1A1A1A"/>
                    </a:solidFill>
                  </a:tcPr>
                </a:tc>
                <a:extLst>
                  <a:ext uri="{0D108BD9-81ED-4DB2-BD59-A6C34878D82A}">
                    <a16:rowId xmlns:a16="http://schemas.microsoft.com/office/drawing/2014/main" val="10000"/>
                  </a:ext>
                </a:extLst>
              </a:tr>
              <a:tr h="292608">
                <a:tc>
                  <a:txBody>
                    <a:bodyPr/>
                    <a:lstStyle/>
                    <a:p>
                      <a:r>
                        <a:rPr sz="1100" b="0">
                          <a:solidFill>
                            <a:srgbClr val="1A1A1A"/>
                          </a:solidFill>
                          <a:latin typeface="Calibri"/>
                        </a:rPr>
                        <a:t>S2 stack</a:t>
                      </a:r>
                    </a:p>
                  </a:txBody>
                  <a:tcPr>
                    <a:solidFill>
                      <a:srgbClr val="FFFFFF"/>
                    </a:solidFill>
                  </a:tcPr>
                </a:tc>
                <a:tc>
                  <a:txBody>
                    <a:bodyPr/>
                    <a:lstStyle/>
                    <a:p>
                      <a:r>
                        <a:rPr sz="1100" b="0">
                          <a:solidFill>
                            <a:srgbClr val="1A1A1A"/>
                          </a:solidFill>
                          <a:latin typeface="Calibri"/>
                        </a:rPr>
                        <a:t>16.55</a:t>
                      </a:r>
                    </a:p>
                  </a:txBody>
                  <a:tcPr>
                    <a:solidFill>
                      <a:srgbClr val="FFFFFF"/>
                    </a:solidFill>
                  </a:tcPr>
                </a:tc>
                <a:tc>
                  <a:txBody>
                    <a:bodyPr/>
                    <a:lstStyle/>
                    <a:p>
                      <a:r>
                        <a:rPr sz="1100" b="0">
                          <a:solidFill>
                            <a:srgbClr val="1A1A1A"/>
                          </a:solidFill>
                          <a:latin typeface="Calibri"/>
                        </a:rPr>
                        <a:t>24.64</a:t>
                      </a:r>
                    </a:p>
                  </a:txBody>
                  <a:tcPr>
                    <a:solidFill>
                      <a:srgbClr val="FFFFFF"/>
                    </a:solidFill>
                  </a:tcPr>
                </a:tc>
                <a:tc>
                  <a:txBody>
                    <a:bodyPr/>
                    <a:lstStyle/>
                    <a:p>
                      <a:r>
                        <a:rPr sz="1100" b="0">
                          <a:solidFill>
                            <a:srgbClr val="1A1A1A"/>
                          </a:solidFill>
                          <a:latin typeface="Calibri"/>
                        </a:rPr>
                        <a:t>10.38</a:t>
                      </a:r>
                    </a:p>
                  </a:txBody>
                  <a:tcPr>
                    <a:solidFill>
                      <a:srgbClr val="FFFFFF"/>
                    </a:solidFill>
                  </a:tcPr>
                </a:tc>
                <a:tc>
                  <a:txBody>
                    <a:bodyPr/>
                    <a:lstStyle/>
                    <a:p>
                      <a:r>
                        <a:rPr sz="1100" b="0">
                          <a:solidFill>
                            <a:srgbClr val="1A1A1A"/>
                          </a:solidFill>
                          <a:latin typeface="Calibri"/>
                        </a:rPr>
                        <a:t>39.37</a:t>
                      </a:r>
                    </a:p>
                  </a:txBody>
                  <a:tcPr>
                    <a:solidFill>
                      <a:srgbClr val="FFFFFF"/>
                    </a:solidFill>
                  </a:tcPr>
                </a:tc>
                <a:tc>
                  <a:txBody>
                    <a:bodyPr/>
                    <a:lstStyle/>
                    <a:p>
                      <a:r>
                        <a:rPr sz="1100" b="0">
                          <a:solidFill>
                            <a:srgbClr val="1A1A1A"/>
                          </a:solidFill>
                          <a:latin typeface="Calibri"/>
                        </a:rPr>
                        <a:t>96.26</a:t>
                      </a:r>
                    </a:p>
                  </a:txBody>
                  <a:tcPr>
                    <a:solidFill>
                      <a:srgbClr val="FFFFFF"/>
                    </a:solidFill>
                  </a:tcPr>
                </a:tc>
                <a:tc>
                  <a:txBody>
                    <a:bodyPr/>
                    <a:lstStyle/>
                    <a:p>
                      <a:r>
                        <a:rPr sz="1100" b="0">
                          <a:solidFill>
                            <a:srgbClr val="1A1A1A"/>
                          </a:solidFill>
                          <a:latin typeface="Calibri"/>
                        </a:rPr>
                        <a:t>32.7</a:t>
                      </a:r>
                    </a:p>
                  </a:txBody>
                  <a:tcPr>
                    <a:solidFill>
                      <a:srgbClr val="FFFFFF"/>
                    </a:solidFill>
                  </a:tcPr>
                </a:tc>
                <a:tc>
                  <a:txBody>
                    <a:bodyPr/>
                    <a:lstStyle/>
                    <a:p>
                      <a:r>
                        <a:rPr sz="1100" b="0">
                          <a:solidFill>
                            <a:srgbClr val="1A1A1A"/>
                          </a:solidFill>
                          <a:latin typeface="Calibri"/>
                        </a:rPr>
                        <a:t>6.7</a:t>
                      </a:r>
                    </a:p>
                  </a:txBody>
                  <a:tcPr>
                    <a:solidFill>
                      <a:srgbClr val="FFFFFF"/>
                    </a:solidFill>
                  </a:tcPr>
                </a:tc>
                <a:extLst>
                  <a:ext uri="{0D108BD9-81ED-4DB2-BD59-A6C34878D82A}">
                    <a16:rowId xmlns:a16="http://schemas.microsoft.com/office/drawing/2014/main" val="10001"/>
                  </a:ext>
                </a:extLst>
              </a:tr>
              <a:tr h="292608">
                <a:tc>
                  <a:txBody>
                    <a:bodyPr/>
                    <a:lstStyle/>
                    <a:p>
                      <a:r>
                        <a:rPr sz="1100" b="0">
                          <a:solidFill>
                            <a:srgbClr val="1A1A1A"/>
                          </a:solidFill>
                          <a:latin typeface="Calibri"/>
                        </a:rPr>
                        <a:t>S2 percentile</a:t>
                      </a:r>
                    </a:p>
                  </a:txBody>
                  <a:tcPr>
                    <a:solidFill>
                      <a:srgbClr val="F7F7F7"/>
                    </a:solidFill>
                  </a:tcPr>
                </a:tc>
                <a:tc>
                  <a:txBody>
                    <a:bodyPr/>
                    <a:lstStyle/>
                    <a:p>
                      <a:r>
                        <a:rPr sz="1100" b="0">
                          <a:solidFill>
                            <a:srgbClr val="1A1A1A"/>
                          </a:solidFill>
                          <a:latin typeface="Calibri"/>
                        </a:rPr>
                        <a:t>16.49</a:t>
                      </a:r>
                    </a:p>
                  </a:txBody>
                  <a:tcPr>
                    <a:solidFill>
                      <a:srgbClr val="F7F7F7"/>
                    </a:solidFill>
                  </a:tcPr>
                </a:tc>
                <a:tc>
                  <a:txBody>
                    <a:bodyPr/>
                    <a:lstStyle/>
                    <a:p>
                      <a:r>
                        <a:rPr sz="1100" b="0">
                          <a:solidFill>
                            <a:srgbClr val="1A1A1A"/>
                          </a:solidFill>
                          <a:latin typeface="Calibri"/>
                        </a:rPr>
                        <a:t>24.81</a:t>
                      </a:r>
                    </a:p>
                  </a:txBody>
                  <a:tcPr>
                    <a:solidFill>
                      <a:srgbClr val="F7F7F7"/>
                    </a:solidFill>
                  </a:tcPr>
                </a:tc>
                <a:tc>
                  <a:txBody>
                    <a:bodyPr/>
                    <a:lstStyle/>
                    <a:p>
                      <a:r>
                        <a:rPr sz="1100" b="0">
                          <a:solidFill>
                            <a:srgbClr val="1A1A1A"/>
                          </a:solidFill>
                          <a:latin typeface="Calibri"/>
                        </a:rPr>
                        <a:t>9.09</a:t>
                      </a:r>
                    </a:p>
                  </a:txBody>
                  <a:tcPr>
                    <a:solidFill>
                      <a:srgbClr val="F7F7F7"/>
                    </a:solidFill>
                  </a:tcPr>
                </a:tc>
                <a:tc>
                  <a:txBody>
                    <a:bodyPr/>
                    <a:lstStyle/>
                    <a:p>
                      <a:r>
                        <a:rPr sz="1100" b="0">
                          <a:solidFill>
                            <a:srgbClr val="1A1A1A"/>
                          </a:solidFill>
                          <a:latin typeface="Calibri"/>
                        </a:rPr>
                        <a:t>40.76</a:t>
                      </a:r>
                    </a:p>
                  </a:txBody>
                  <a:tcPr>
                    <a:solidFill>
                      <a:srgbClr val="F7F7F7"/>
                    </a:solidFill>
                  </a:tcPr>
                </a:tc>
                <a:tc>
                  <a:txBody>
                    <a:bodyPr/>
                    <a:lstStyle/>
                    <a:p>
                      <a:r>
                        <a:rPr sz="1100" b="0">
                          <a:solidFill>
                            <a:srgbClr val="1A1A1A"/>
                          </a:solidFill>
                          <a:latin typeface="Calibri"/>
                        </a:rPr>
                        <a:t>94.92</a:t>
                      </a:r>
                    </a:p>
                  </a:txBody>
                  <a:tcPr>
                    <a:solidFill>
                      <a:srgbClr val="F7F7F7"/>
                    </a:solidFill>
                  </a:tcPr>
                </a:tc>
                <a:tc>
                  <a:txBody>
                    <a:bodyPr/>
                    <a:lstStyle/>
                    <a:p>
                      <a:r>
                        <a:rPr sz="1100" b="0">
                          <a:solidFill>
                            <a:srgbClr val="1A1A1A"/>
                          </a:solidFill>
                          <a:latin typeface="Calibri"/>
                        </a:rPr>
                        <a:t>34.2</a:t>
                      </a:r>
                    </a:p>
                  </a:txBody>
                  <a:tcPr>
                    <a:solidFill>
                      <a:srgbClr val="F7F7F7"/>
                    </a:solidFill>
                  </a:tcPr>
                </a:tc>
                <a:tc>
                  <a:txBody>
                    <a:bodyPr/>
                    <a:lstStyle/>
                    <a:p>
                      <a:r>
                        <a:rPr sz="1100" b="0">
                          <a:solidFill>
                            <a:srgbClr val="1A1A1A"/>
                          </a:solidFill>
                          <a:latin typeface="Calibri"/>
                        </a:rPr>
                        <a:t>6.7</a:t>
                      </a:r>
                    </a:p>
                  </a:txBody>
                  <a:tcPr>
                    <a:solidFill>
                      <a:srgbClr val="F7F7F7"/>
                    </a:solidFill>
                  </a:tcPr>
                </a:tc>
                <a:extLst>
                  <a:ext uri="{0D108BD9-81ED-4DB2-BD59-A6C34878D82A}">
                    <a16:rowId xmlns:a16="http://schemas.microsoft.com/office/drawing/2014/main" val="10002"/>
                  </a:ext>
                </a:extLst>
              </a:tr>
              <a:tr h="292608">
                <a:tc>
                  <a:txBody>
                    <a:bodyPr/>
                    <a:lstStyle/>
                    <a:p>
                      <a:r>
                        <a:rPr sz="1100" b="0">
                          <a:solidFill>
                            <a:srgbClr val="1A1A1A"/>
                          </a:solidFill>
                          <a:latin typeface="Calibri"/>
                        </a:rPr>
                        <a:t>emb_RF</a:t>
                      </a:r>
                    </a:p>
                  </a:txBody>
                  <a:tcPr>
                    <a:solidFill>
                      <a:srgbClr val="FFFFFF"/>
                    </a:solidFill>
                  </a:tcPr>
                </a:tc>
                <a:tc>
                  <a:txBody>
                    <a:bodyPr/>
                    <a:lstStyle/>
                    <a:p>
                      <a:r>
                        <a:rPr sz="1100" b="0">
                          <a:solidFill>
                            <a:srgbClr val="1A1A1A"/>
                          </a:solidFill>
                          <a:latin typeface="Calibri"/>
                        </a:rPr>
                        <a:t>18.30</a:t>
                      </a:r>
                    </a:p>
                  </a:txBody>
                  <a:tcPr>
                    <a:solidFill>
                      <a:srgbClr val="FFFFFF"/>
                    </a:solidFill>
                  </a:tcPr>
                </a:tc>
                <a:tc>
                  <a:txBody>
                    <a:bodyPr/>
                    <a:lstStyle/>
                    <a:p>
                      <a:r>
                        <a:rPr sz="1100" b="0">
                          <a:solidFill>
                            <a:srgbClr val="1A1A1A"/>
                          </a:solidFill>
                          <a:latin typeface="Calibri"/>
                        </a:rPr>
                        <a:t>25.63</a:t>
                      </a:r>
                    </a:p>
                  </a:txBody>
                  <a:tcPr>
                    <a:solidFill>
                      <a:srgbClr val="FFFFFF"/>
                    </a:solidFill>
                  </a:tcPr>
                </a:tc>
                <a:tc>
                  <a:txBody>
                    <a:bodyPr/>
                    <a:lstStyle/>
                    <a:p>
                      <a:r>
                        <a:rPr sz="1100" b="0">
                          <a:solidFill>
                            <a:srgbClr val="1A1A1A"/>
                          </a:solidFill>
                          <a:latin typeface="Calibri"/>
                        </a:rPr>
                        <a:t>14.38</a:t>
                      </a:r>
                    </a:p>
                  </a:txBody>
                  <a:tcPr>
                    <a:solidFill>
                      <a:srgbClr val="FFFFFF"/>
                    </a:solidFill>
                  </a:tcPr>
                </a:tc>
                <a:tc>
                  <a:txBody>
                    <a:bodyPr/>
                    <a:lstStyle/>
                    <a:p>
                      <a:r>
                        <a:rPr sz="1100" b="0">
                          <a:solidFill>
                            <a:srgbClr val="1A1A1A"/>
                          </a:solidFill>
                          <a:latin typeface="Calibri"/>
                        </a:rPr>
                        <a:t>43.67</a:t>
                      </a:r>
                    </a:p>
                  </a:txBody>
                  <a:tcPr>
                    <a:solidFill>
                      <a:srgbClr val="FFFFFF"/>
                    </a:solidFill>
                  </a:tcPr>
                </a:tc>
                <a:tc>
                  <a:txBody>
                    <a:bodyPr/>
                    <a:lstStyle/>
                    <a:p>
                      <a:r>
                        <a:rPr sz="1100" b="0">
                          <a:solidFill>
                            <a:srgbClr val="1A1A1A"/>
                          </a:solidFill>
                          <a:latin typeface="Calibri"/>
                        </a:rPr>
                        <a:t>82.84</a:t>
                      </a:r>
                    </a:p>
                  </a:txBody>
                  <a:tcPr>
                    <a:solidFill>
                      <a:srgbClr val="FFFFFF"/>
                    </a:solidFill>
                  </a:tcPr>
                </a:tc>
                <a:tc>
                  <a:txBody>
                    <a:bodyPr/>
                    <a:lstStyle/>
                    <a:p>
                      <a:r>
                        <a:rPr sz="1100" b="0">
                          <a:solidFill>
                            <a:srgbClr val="1A1A1A"/>
                          </a:solidFill>
                          <a:latin typeface="Calibri"/>
                        </a:rPr>
                        <a:t>29.8</a:t>
                      </a:r>
                    </a:p>
                  </a:txBody>
                  <a:tcPr>
                    <a:solidFill>
                      <a:srgbClr val="FFFFFF"/>
                    </a:solidFill>
                  </a:tcPr>
                </a:tc>
                <a:tc>
                  <a:txBody>
                    <a:bodyPr/>
                    <a:lstStyle/>
                    <a:p>
                      <a:r>
                        <a:rPr sz="1100" b="0">
                          <a:solidFill>
                            <a:srgbClr val="1A1A1A"/>
                          </a:solidFill>
                          <a:latin typeface="Calibri"/>
                        </a:rPr>
                        <a:t>7.3</a:t>
                      </a:r>
                    </a:p>
                  </a:txBody>
                  <a:tcPr>
                    <a:solidFill>
                      <a:srgbClr val="FFFFFF"/>
                    </a:solidFill>
                  </a:tcPr>
                </a:tc>
                <a:extLst>
                  <a:ext uri="{0D108BD9-81ED-4DB2-BD59-A6C34878D82A}">
                    <a16:rowId xmlns:a16="http://schemas.microsoft.com/office/drawing/2014/main" val="10003"/>
                  </a:ext>
                </a:extLst>
              </a:tr>
              <a:tr h="292608">
                <a:tc>
                  <a:txBody>
                    <a:bodyPr/>
                    <a:lstStyle/>
                    <a:p>
                      <a:r>
                        <a:rPr sz="1100" b="0">
                          <a:solidFill>
                            <a:srgbClr val="1A1A1A"/>
                          </a:solidFill>
                          <a:latin typeface="Calibri"/>
                        </a:rPr>
                        <a:t>S2 median</a:t>
                      </a:r>
                    </a:p>
                  </a:txBody>
                  <a:tcPr>
                    <a:solidFill>
                      <a:srgbClr val="F7F7F7"/>
                    </a:solidFill>
                  </a:tcPr>
                </a:tc>
                <a:tc>
                  <a:txBody>
                    <a:bodyPr/>
                    <a:lstStyle/>
                    <a:p>
                      <a:r>
                        <a:rPr sz="1100" b="0">
                          <a:solidFill>
                            <a:srgbClr val="1A1A1A"/>
                          </a:solidFill>
                          <a:latin typeface="Calibri"/>
                        </a:rPr>
                        <a:t>18.36</a:t>
                      </a:r>
                    </a:p>
                  </a:txBody>
                  <a:tcPr>
                    <a:solidFill>
                      <a:srgbClr val="F7F7F7"/>
                    </a:solidFill>
                  </a:tcPr>
                </a:tc>
                <a:tc>
                  <a:txBody>
                    <a:bodyPr/>
                    <a:lstStyle/>
                    <a:p>
                      <a:r>
                        <a:rPr sz="1100" b="0">
                          <a:solidFill>
                            <a:srgbClr val="1A1A1A"/>
                          </a:solidFill>
                          <a:latin typeface="Calibri"/>
                        </a:rPr>
                        <a:t>25.98</a:t>
                      </a:r>
                    </a:p>
                  </a:txBody>
                  <a:tcPr>
                    <a:solidFill>
                      <a:srgbClr val="F7F7F7"/>
                    </a:solidFill>
                  </a:tcPr>
                </a:tc>
                <a:tc>
                  <a:txBody>
                    <a:bodyPr/>
                    <a:lstStyle/>
                    <a:p>
                      <a:r>
                        <a:rPr sz="1100" b="0">
                          <a:solidFill>
                            <a:srgbClr val="1A1A1A"/>
                          </a:solidFill>
                          <a:latin typeface="Calibri"/>
                        </a:rPr>
                        <a:t>12.17</a:t>
                      </a:r>
                    </a:p>
                  </a:txBody>
                  <a:tcPr>
                    <a:solidFill>
                      <a:srgbClr val="F7F7F7"/>
                    </a:solidFill>
                  </a:tcPr>
                </a:tc>
                <a:tc>
                  <a:txBody>
                    <a:bodyPr/>
                    <a:lstStyle/>
                    <a:p>
                      <a:r>
                        <a:rPr sz="1100" b="0">
                          <a:solidFill>
                            <a:srgbClr val="1A1A1A"/>
                          </a:solidFill>
                          <a:latin typeface="Calibri"/>
                        </a:rPr>
                        <a:t>41.49</a:t>
                      </a:r>
                    </a:p>
                  </a:txBody>
                  <a:tcPr>
                    <a:solidFill>
                      <a:srgbClr val="F7F7F7"/>
                    </a:solidFill>
                  </a:tcPr>
                </a:tc>
                <a:tc>
                  <a:txBody>
                    <a:bodyPr/>
                    <a:lstStyle/>
                    <a:p>
                      <a:r>
                        <a:rPr sz="1100" b="0">
                          <a:solidFill>
                            <a:srgbClr val="1A1A1A"/>
                          </a:solidFill>
                          <a:latin typeface="Calibri"/>
                        </a:rPr>
                        <a:t>94.41</a:t>
                      </a:r>
                    </a:p>
                  </a:txBody>
                  <a:tcPr>
                    <a:solidFill>
                      <a:srgbClr val="F7F7F7"/>
                    </a:solidFill>
                  </a:tcPr>
                </a:tc>
                <a:tc>
                  <a:txBody>
                    <a:bodyPr/>
                    <a:lstStyle/>
                    <a:p>
                      <a:r>
                        <a:rPr sz="1100" b="0">
                          <a:solidFill>
                            <a:srgbClr val="1A1A1A"/>
                          </a:solidFill>
                          <a:latin typeface="Calibri"/>
                        </a:rPr>
                        <a:t>21.8</a:t>
                      </a:r>
                    </a:p>
                  </a:txBody>
                  <a:tcPr>
                    <a:solidFill>
                      <a:srgbClr val="F7F7F7"/>
                    </a:solidFill>
                  </a:tcPr>
                </a:tc>
                <a:tc>
                  <a:txBody>
                    <a:bodyPr/>
                    <a:lstStyle/>
                    <a:p>
                      <a:r>
                        <a:rPr sz="1100" b="0">
                          <a:solidFill>
                            <a:srgbClr val="1A1A1A"/>
                          </a:solidFill>
                          <a:latin typeface="Calibri"/>
                        </a:rPr>
                        <a:t>6.9</a:t>
                      </a:r>
                    </a:p>
                  </a:txBody>
                  <a:tcPr>
                    <a:solidFill>
                      <a:srgbClr val="F7F7F7"/>
                    </a:solidFill>
                  </a:tcPr>
                </a:tc>
                <a:extLst>
                  <a:ext uri="{0D108BD9-81ED-4DB2-BD59-A6C34878D82A}">
                    <a16:rowId xmlns:a16="http://schemas.microsoft.com/office/drawing/2014/main" val="10004"/>
                  </a:ext>
                </a:extLst>
              </a:tr>
              <a:tr h="292608">
                <a:tc>
                  <a:txBody>
                    <a:bodyPr/>
                    <a:lstStyle/>
                    <a:p>
                      <a:r>
                        <a:rPr sz="1100" b="1">
                          <a:solidFill>
                            <a:srgbClr val="0B6E4F"/>
                          </a:solidFill>
                          <a:latin typeface="Calibri"/>
                        </a:rPr>
                        <a:t>CLMS</a:t>
                      </a:r>
                    </a:p>
                  </a:txBody>
                  <a:tcPr>
                    <a:solidFill>
                      <a:srgbClr val="ECF4F0"/>
                    </a:solidFill>
                  </a:tcPr>
                </a:tc>
                <a:tc>
                  <a:txBody>
                    <a:bodyPr/>
                    <a:lstStyle/>
                    <a:p>
                      <a:r>
                        <a:rPr sz="1100" b="1">
                          <a:solidFill>
                            <a:srgbClr val="0B6E4F"/>
                          </a:solidFill>
                          <a:latin typeface="Calibri"/>
                        </a:rPr>
                        <a:t>14.61</a:t>
                      </a:r>
                    </a:p>
                  </a:txBody>
                  <a:tcPr>
                    <a:solidFill>
                      <a:srgbClr val="ECF4F0"/>
                    </a:solidFill>
                  </a:tcPr>
                </a:tc>
                <a:tc>
                  <a:txBody>
                    <a:bodyPr/>
                    <a:lstStyle/>
                    <a:p>
                      <a:r>
                        <a:rPr sz="1100" b="1">
                          <a:solidFill>
                            <a:srgbClr val="0B6E4F"/>
                          </a:solidFill>
                          <a:latin typeface="Calibri"/>
                        </a:rPr>
                        <a:t>26.25</a:t>
                      </a:r>
                    </a:p>
                  </a:txBody>
                  <a:tcPr>
                    <a:solidFill>
                      <a:srgbClr val="ECF4F0"/>
                    </a:solidFill>
                  </a:tcPr>
                </a:tc>
                <a:tc>
                  <a:txBody>
                    <a:bodyPr/>
                    <a:lstStyle/>
                    <a:p>
                      <a:r>
                        <a:rPr sz="1100" b="1">
                          <a:solidFill>
                            <a:srgbClr val="0B6E4F"/>
                          </a:solidFill>
                          <a:latin typeface="Calibri"/>
                        </a:rPr>
                        <a:t>3.00</a:t>
                      </a:r>
                    </a:p>
                  </a:txBody>
                  <a:tcPr>
                    <a:solidFill>
                      <a:srgbClr val="ECF4F0"/>
                    </a:solidFill>
                  </a:tcPr>
                </a:tc>
                <a:tc>
                  <a:txBody>
                    <a:bodyPr/>
                    <a:lstStyle/>
                    <a:p>
                      <a:r>
                        <a:rPr sz="1100" b="1">
                          <a:solidFill>
                            <a:srgbClr val="0B6E4F"/>
                          </a:solidFill>
                          <a:latin typeface="Calibri"/>
                        </a:rPr>
                        <a:t>45.20</a:t>
                      </a:r>
                    </a:p>
                  </a:txBody>
                  <a:tcPr>
                    <a:solidFill>
                      <a:srgbClr val="ECF4F0"/>
                    </a:solidFill>
                  </a:tcPr>
                </a:tc>
                <a:tc>
                  <a:txBody>
                    <a:bodyPr/>
                    <a:lstStyle/>
                    <a:p>
                      <a:r>
                        <a:rPr sz="1100" b="1">
                          <a:solidFill>
                            <a:srgbClr val="0B6E4F"/>
                          </a:solidFill>
                          <a:latin typeface="Calibri"/>
                        </a:rPr>
                        <a:t>100.00</a:t>
                      </a:r>
                    </a:p>
                  </a:txBody>
                  <a:tcPr>
                    <a:solidFill>
                      <a:srgbClr val="ECF4F0"/>
                    </a:solidFill>
                  </a:tcPr>
                </a:tc>
                <a:tc>
                  <a:txBody>
                    <a:bodyPr/>
                    <a:lstStyle/>
                    <a:p>
                      <a:r>
                        <a:rPr sz="1100" b="1">
                          <a:solidFill>
                            <a:srgbClr val="0B6E4F"/>
                          </a:solidFill>
                          <a:latin typeface="Calibri"/>
                        </a:rPr>
                        <a:t>53.3</a:t>
                      </a:r>
                    </a:p>
                  </a:txBody>
                  <a:tcPr>
                    <a:solidFill>
                      <a:srgbClr val="ECF4F0"/>
                    </a:solidFill>
                  </a:tcPr>
                </a:tc>
                <a:tc>
                  <a:txBody>
                    <a:bodyPr/>
                    <a:lstStyle/>
                    <a:p>
                      <a:r>
                        <a:rPr sz="1100" b="1">
                          <a:solidFill>
                            <a:srgbClr val="0B6E4F"/>
                          </a:solidFill>
                          <a:latin typeface="Calibri"/>
                        </a:rPr>
                        <a:t>8.7</a:t>
                      </a:r>
                    </a:p>
                  </a:txBody>
                  <a:tcPr>
                    <a:solidFill>
                      <a:srgbClr val="ECF4F0"/>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MAE and RMSE measure two halves of one trade rather than contradicting each other.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INDEPENDENT VALIDATION · ROBUSTNESS</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The conclusion does not depend on how the impervious classes are coded</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Milan RMSE under all three rules, with the resulting ranks. Rule B adds permeable pavement, rule C adds unpaved dirt road. Paved roads are impervious under all three.</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58368" y="2103120"/>
          <a:ext cx="10881360" cy="1755648"/>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tblGrid>
              <a:tr h="292608">
                <a:tc>
                  <a:txBody>
                    <a:bodyPr/>
                    <a:lstStyle/>
                    <a:p>
                      <a:r>
                        <a:rPr sz="1150" b="1">
                          <a:solidFill>
                            <a:srgbClr val="FFFFFF"/>
                          </a:solidFill>
                          <a:latin typeface="Calibri"/>
                        </a:rPr>
                        <a:t>Map</a:t>
                      </a:r>
                    </a:p>
                  </a:txBody>
                  <a:tcPr>
                    <a:solidFill>
                      <a:srgbClr val="1A1A1A"/>
                    </a:solidFill>
                  </a:tcPr>
                </a:tc>
                <a:tc>
                  <a:txBody>
                    <a:bodyPr/>
                    <a:lstStyle/>
                    <a:p>
                      <a:r>
                        <a:rPr sz="1150" b="1">
                          <a:solidFill>
                            <a:srgbClr val="FFFFFF"/>
                          </a:solidFill>
                          <a:latin typeface="Calibri"/>
                        </a:rPr>
                        <a:t>Strict</a:t>
                      </a:r>
                    </a:p>
                  </a:txBody>
                  <a:tcPr>
                    <a:solidFill>
                      <a:srgbClr val="1A1A1A"/>
                    </a:solidFill>
                  </a:tcPr>
                </a:tc>
                <a:tc>
                  <a:txBody>
                    <a:bodyPr/>
                    <a:lstStyle/>
                    <a:p>
                      <a:r>
                        <a:rPr sz="1150" b="1">
                          <a:solidFill>
                            <a:srgbClr val="FFFFFF"/>
                          </a:solidFill>
                          <a:latin typeface="Calibri"/>
                        </a:rPr>
                        <a:t>B</a:t>
                      </a:r>
                    </a:p>
                  </a:txBody>
                  <a:tcPr>
                    <a:solidFill>
                      <a:srgbClr val="1A1A1A"/>
                    </a:solidFill>
                  </a:tcPr>
                </a:tc>
                <a:tc>
                  <a:txBody>
                    <a:bodyPr/>
                    <a:lstStyle/>
                    <a:p>
                      <a:r>
                        <a:rPr sz="1150" b="1">
                          <a:solidFill>
                            <a:srgbClr val="FFFFFF"/>
                          </a:solidFill>
                          <a:latin typeface="Calibri"/>
                        </a:rPr>
                        <a:t>C</a:t>
                      </a:r>
                    </a:p>
                  </a:txBody>
                  <a:tcPr>
                    <a:solidFill>
                      <a:srgbClr val="1A1A1A"/>
                    </a:solidFill>
                  </a:tcPr>
                </a:tc>
                <a:tc>
                  <a:txBody>
                    <a:bodyPr/>
                    <a:lstStyle/>
                    <a:p>
                      <a:r>
                        <a:rPr sz="1150" b="1">
                          <a:solidFill>
                            <a:srgbClr val="FFFFFF"/>
                          </a:solidFill>
                          <a:latin typeface="Calibri"/>
                        </a:rPr>
                        <a:t>Rank strict</a:t>
                      </a:r>
                    </a:p>
                  </a:txBody>
                  <a:tcPr>
                    <a:solidFill>
                      <a:srgbClr val="1A1A1A"/>
                    </a:solidFill>
                  </a:tcPr>
                </a:tc>
                <a:tc>
                  <a:txBody>
                    <a:bodyPr/>
                    <a:lstStyle/>
                    <a:p>
                      <a:r>
                        <a:rPr sz="1150" b="1">
                          <a:solidFill>
                            <a:srgbClr val="FFFFFF"/>
                          </a:solidFill>
                          <a:latin typeface="Calibri"/>
                        </a:rPr>
                        <a:t>Rank B</a:t>
                      </a:r>
                    </a:p>
                  </a:txBody>
                  <a:tcPr>
                    <a:solidFill>
                      <a:srgbClr val="1A1A1A"/>
                    </a:solidFill>
                  </a:tcPr>
                </a:tc>
                <a:tc>
                  <a:txBody>
                    <a:bodyPr/>
                    <a:lstStyle/>
                    <a:p>
                      <a:r>
                        <a:rPr sz="1150" b="1">
                          <a:solidFill>
                            <a:srgbClr val="FFFFFF"/>
                          </a:solidFill>
                          <a:latin typeface="Calibri"/>
                        </a:rPr>
                        <a:t>Rank C</a:t>
                      </a:r>
                    </a:p>
                  </a:txBody>
                  <a:tcPr>
                    <a:solidFill>
                      <a:srgbClr val="1A1A1A"/>
                    </a:solidFill>
                  </a:tcPr>
                </a:tc>
                <a:extLst>
                  <a:ext uri="{0D108BD9-81ED-4DB2-BD59-A6C34878D82A}">
                    <a16:rowId xmlns:a16="http://schemas.microsoft.com/office/drawing/2014/main" val="10000"/>
                  </a:ext>
                </a:extLst>
              </a:tr>
              <a:tr h="292608">
                <a:tc>
                  <a:txBody>
                    <a:bodyPr/>
                    <a:lstStyle/>
                    <a:p>
                      <a:r>
                        <a:rPr sz="1150" b="0">
                          <a:solidFill>
                            <a:srgbClr val="1A1A1A"/>
                          </a:solidFill>
                          <a:latin typeface="Calibri"/>
                        </a:rPr>
                        <a:t>S2 stack</a:t>
                      </a:r>
                    </a:p>
                  </a:txBody>
                  <a:tcPr>
                    <a:solidFill>
                      <a:srgbClr val="FFFFFF"/>
                    </a:solidFill>
                  </a:tcPr>
                </a:tc>
                <a:tc>
                  <a:txBody>
                    <a:bodyPr/>
                    <a:lstStyle/>
                    <a:p>
                      <a:r>
                        <a:rPr sz="1150" b="0">
                          <a:solidFill>
                            <a:srgbClr val="1A1A1A"/>
                          </a:solidFill>
                          <a:latin typeface="Calibri"/>
                        </a:rPr>
                        <a:t>24.64</a:t>
                      </a:r>
                    </a:p>
                  </a:txBody>
                  <a:tcPr>
                    <a:solidFill>
                      <a:srgbClr val="FFFFFF"/>
                    </a:solidFill>
                  </a:tcPr>
                </a:tc>
                <a:tc>
                  <a:txBody>
                    <a:bodyPr/>
                    <a:lstStyle/>
                    <a:p>
                      <a:r>
                        <a:rPr sz="1150" b="0">
                          <a:solidFill>
                            <a:srgbClr val="1A1A1A"/>
                          </a:solidFill>
                          <a:latin typeface="Calibri"/>
                        </a:rPr>
                        <a:t>24.54</a:t>
                      </a:r>
                    </a:p>
                  </a:txBody>
                  <a:tcPr>
                    <a:solidFill>
                      <a:srgbClr val="FFFFFF"/>
                    </a:solidFill>
                  </a:tcPr>
                </a:tc>
                <a:tc>
                  <a:txBody>
                    <a:bodyPr/>
                    <a:lstStyle/>
                    <a:p>
                      <a:r>
                        <a:rPr sz="1150" b="0">
                          <a:solidFill>
                            <a:srgbClr val="1A1A1A"/>
                          </a:solidFill>
                          <a:latin typeface="Calibri"/>
                        </a:rPr>
                        <a:t>20.98</a:t>
                      </a:r>
                    </a:p>
                  </a:txBody>
                  <a:tcPr>
                    <a:solidFill>
                      <a:srgbClr val="FFFFFF"/>
                    </a:solidFill>
                  </a:tcPr>
                </a:tc>
                <a:tc>
                  <a:txBody>
                    <a:bodyPr/>
                    <a:lstStyle/>
                    <a:p>
                      <a:r>
                        <a:rPr sz="1150" b="0">
                          <a:solidFill>
                            <a:srgbClr val="1A1A1A"/>
                          </a:solidFill>
                          <a:latin typeface="Calibri"/>
                        </a:rPr>
                        <a:t>1</a:t>
                      </a:r>
                    </a:p>
                  </a:txBody>
                  <a:tcPr>
                    <a:solidFill>
                      <a:srgbClr val="FFFFFF"/>
                    </a:solidFill>
                  </a:tcPr>
                </a:tc>
                <a:tc>
                  <a:txBody>
                    <a:bodyPr/>
                    <a:lstStyle/>
                    <a:p>
                      <a:r>
                        <a:rPr sz="1150" b="0">
                          <a:solidFill>
                            <a:srgbClr val="1A1A1A"/>
                          </a:solidFill>
                          <a:latin typeface="Calibri"/>
                        </a:rPr>
                        <a:t>1</a:t>
                      </a:r>
                    </a:p>
                  </a:txBody>
                  <a:tcPr>
                    <a:solidFill>
                      <a:srgbClr val="FFFFFF"/>
                    </a:solidFill>
                  </a:tcPr>
                </a:tc>
                <a:tc>
                  <a:txBody>
                    <a:bodyPr/>
                    <a:lstStyle/>
                    <a:p>
                      <a:r>
                        <a:rPr sz="1150" b="0">
                          <a:solidFill>
                            <a:srgbClr val="1A1A1A"/>
                          </a:solidFill>
                          <a:latin typeface="Calibri"/>
                        </a:rPr>
                        <a:t>1</a:t>
                      </a:r>
                    </a:p>
                  </a:txBody>
                  <a:tcPr>
                    <a:solidFill>
                      <a:srgbClr val="FFFFFF"/>
                    </a:solidFill>
                  </a:tcPr>
                </a:tc>
                <a:extLst>
                  <a:ext uri="{0D108BD9-81ED-4DB2-BD59-A6C34878D82A}">
                    <a16:rowId xmlns:a16="http://schemas.microsoft.com/office/drawing/2014/main" val="10001"/>
                  </a:ext>
                </a:extLst>
              </a:tr>
              <a:tr h="292608">
                <a:tc>
                  <a:txBody>
                    <a:bodyPr/>
                    <a:lstStyle/>
                    <a:p>
                      <a:r>
                        <a:rPr sz="1150" b="0">
                          <a:solidFill>
                            <a:srgbClr val="1A1A1A"/>
                          </a:solidFill>
                          <a:latin typeface="Calibri"/>
                        </a:rPr>
                        <a:t>S2 percentile</a:t>
                      </a:r>
                    </a:p>
                  </a:txBody>
                  <a:tcPr>
                    <a:solidFill>
                      <a:srgbClr val="F7F7F7"/>
                    </a:solidFill>
                  </a:tcPr>
                </a:tc>
                <a:tc>
                  <a:txBody>
                    <a:bodyPr/>
                    <a:lstStyle/>
                    <a:p>
                      <a:r>
                        <a:rPr sz="1150" b="0">
                          <a:solidFill>
                            <a:srgbClr val="1A1A1A"/>
                          </a:solidFill>
                          <a:latin typeface="Calibri"/>
                        </a:rPr>
                        <a:t>24.81</a:t>
                      </a:r>
                    </a:p>
                  </a:txBody>
                  <a:tcPr>
                    <a:solidFill>
                      <a:srgbClr val="F7F7F7"/>
                    </a:solidFill>
                  </a:tcPr>
                </a:tc>
                <a:tc>
                  <a:txBody>
                    <a:bodyPr/>
                    <a:lstStyle/>
                    <a:p>
                      <a:r>
                        <a:rPr sz="1150" b="0">
                          <a:solidFill>
                            <a:srgbClr val="1A1A1A"/>
                          </a:solidFill>
                          <a:latin typeface="Calibri"/>
                        </a:rPr>
                        <a:t>24.71</a:t>
                      </a:r>
                    </a:p>
                  </a:txBody>
                  <a:tcPr>
                    <a:solidFill>
                      <a:srgbClr val="F7F7F7"/>
                    </a:solidFill>
                  </a:tcPr>
                </a:tc>
                <a:tc>
                  <a:txBody>
                    <a:bodyPr/>
                    <a:lstStyle/>
                    <a:p>
                      <a:r>
                        <a:rPr sz="1150" b="0">
                          <a:solidFill>
                            <a:srgbClr val="1A1A1A"/>
                          </a:solidFill>
                          <a:latin typeface="Calibri"/>
                        </a:rPr>
                        <a:t>21.37</a:t>
                      </a:r>
                    </a:p>
                  </a:txBody>
                  <a:tcPr>
                    <a:solidFill>
                      <a:srgbClr val="F7F7F7"/>
                    </a:solidFill>
                  </a:tcPr>
                </a:tc>
                <a:tc>
                  <a:txBody>
                    <a:bodyPr/>
                    <a:lstStyle/>
                    <a:p>
                      <a:r>
                        <a:rPr sz="1150" b="0">
                          <a:solidFill>
                            <a:srgbClr val="1A1A1A"/>
                          </a:solidFill>
                          <a:latin typeface="Calibri"/>
                        </a:rPr>
                        <a:t>2</a:t>
                      </a:r>
                    </a:p>
                  </a:txBody>
                  <a:tcPr>
                    <a:solidFill>
                      <a:srgbClr val="F7F7F7"/>
                    </a:solidFill>
                  </a:tcPr>
                </a:tc>
                <a:tc>
                  <a:txBody>
                    <a:bodyPr/>
                    <a:lstStyle/>
                    <a:p>
                      <a:r>
                        <a:rPr sz="1150" b="0">
                          <a:solidFill>
                            <a:srgbClr val="1A1A1A"/>
                          </a:solidFill>
                          <a:latin typeface="Calibri"/>
                        </a:rPr>
                        <a:t>2</a:t>
                      </a:r>
                    </a:p>
                  </a:txBody>
                  <a:tcPr>
                    <a:solidFill>
                      <a:srgbClr val="F7F7F7"/>
                    </a:solidFill>
                  </a:tcPr>
                </a:tc>
                <a:tc>
                  <a:txBody>
                    <a:bodyPr/>
                    <a:lstStyle/>
                    <a:p>
                      <a:r>
                        <a:rPr sz="1150" b="0">
                          <a:solidFill>
                            <a:srgbClr val="1A1A1A"/>
                          </a:solidFill>
                          <a:latin typeface="Calibri"/>
                        </a:rPr>
                        <a:t>2</a:t>
                      </a:r>
                    </a:p>
                  </a:txBody>
                  <a:tcPr>
                    <a:solidFill>
                      <a:srgbClr val="F7F7F7"/>
                    </a:solidFill>
                  </a:tcPr>
                </a:tc>
                <a:extLst>
                  <a:ext uri="{0D108BD9-81ED-4DB2-BD59-A6C34878D82A}">
                    <a16:rowId xmlns:a16="http://schemas.microsoft.com/office/drawing/2014/main" val="10002"/>
                  </a:ext>
                </a:extLst>
              </a:tr>
              <a:tr h="292608">
                <a:tc>
                  <a:txBody>
                    <a:bodyPr/>
                    <a:lstStyle/>
                    <a:p>
                      <a:r>
                        <a:rPr sz="1150" b="0">
                          <a:solidFill>
                            <a:srgbClr val="1A1A1A"/>
                          </a:solidFill>
                          <a:latin typeface="Calibri"/>
                        </a:rPr>
                        <a:t>emb_RF</a:t>
                      </a:r>
                    </a:p>
                  </a:txBody>
                  <a:tcPr>
                    <a:solidFill>
                      <a:srgbClr val="FFFFFF"/>
                    </a:solidFill>
                  </a:tcPr>
                </a:tc>
                <a:tc>
                  <a:txBody>
                    <a:bodyPr/>
                    <a:lstStyle/>
                    <a:p>
                      <a:r>
                        <a:rPr sz="1150" b="0">
                          <a:solidFill>
                            <a:srgbClr val="1A1A1A"/>
                          </a:solidFill>
                          <a:latin typeface="Calibri"/>
                        </a:rPr>
                        <a:t>25.63</a:t>
                      </a:r>
                    </a:p>
                  </a:txBody>
                  <a:tcPr>
                    <a:solidFill>
                      <a:srgbClr val="FFFFFF"/>
                    </a:solidFill>
                  </a:tcPr>
                </a:tc>
                <a:tc>
                  <a:txBody>
                    <a:bodyPr/>
                    <a:lstStyle/>
                    <a:p>
                      <a:r>
                        <a:rPr sz="1150" b="0">
                          <a:solidFill>
                            <a:srgbClr val="1A1A1A"/>
                          </a:solidFill>
                          <a:latin typeface="Calibri"/>
                        </a:rPr>
                        <a:t>25.54</a:t>
                      </a:r>
                    </a:p>
                  </a:txBody>
                  <a:tcPr>
                    <a:solidFill>
                      <a:srgbClr val="FFFFFF"/>
                    </a:solidFill>
                  </a:tcPr>
                </a:tc>
                <a:tc>
                  <a:txBody>
                    <a:bodyPr/>
                    <a:lstStyle/>
                    <a:p>
                      <a:r>
                        <a:rPr sz="1150" b="0">
                          <a:solidFill>
                            <a:srgbClr val="1A1A1A"/>
                          </a:solidFill>
                          <a:latin typeface="Calibri"/>
                        </a:rPr>
                        <a:t>23.03</a:t>
                      </a:r>
                    </a:p>
                  </a:txBody>
                  <a:tcPr>
                    <a:solidFill>
                      <a:srgbClr val="FFFFFF"/>
                    </a:solidFill>
                  </a:tcPr>
                </a:tc>
                <a:tc>
                  <a:txBody>
                    <a:bodyPr/>
                    <a:lstStyle/>
                    <a:p>
                      <a:r>
                        <a:rPr sz="1150" b="0">
                          <a:solidFill>
                            <a:srgbClr val="1A1A1A"/>
                          </a:solidFill>
                          <a:latin typeface="Calibri"/>
                        </a:rPr>
                        <a:t>3</a:t>
                      </a:r>
                    </a:p>
                  </a:txBody>
                  <a:tcPr>
                    <a:solidFill>
                      <a:srgbClr val="FFFFFF"/>
                    </a:solidFill>
                  </a:tcPr>
                </a:tc>
                <a:tc>
                  <a:txBody>
                    <a:bodyPr/>
                    <a:lstStyle/>
                    <a:p>
                      <a:r>
                        <a:rPr sz="1150" b="0">
                          <a:solidFill>
                            <a:srgbClr val="1A1A1A"/>
                          </a:solidFill>
                          <a:latin typeface="Calibri"/>
                        </a:rPr>
                        <a:t>3</a:t>
                      </a:r>
                    </a:p>
                  </a:txBody>
                  <a:tcPr>
                    <a:solidFill>
                      <a:srgbClr val="FFFFFF"/>
                    </a:solidFill>
                  </a:tcPr>
                </a:tc>
                <a:tc>
                  <a:txBody>
                    <a:bodyPr/>
                    <a:lstStyle/>
                    <a:p>
                      <a:r>
                        <a:rPr sz="1150" b="0">
                          <a:solidFill>
                            <a:srgbClr val="1A1A1A"/>
                          </a:solidFill>
                          <a:latin typeface="Calibri"/>
                        </a:rPr>
                        <a:t>4</a:t>
                      </a:r>
                    </a:p>
                  </a:txBody>
                  <a:tcPr>
                    <a:solidFill>
                      <a:srgbClr val="FFFFFF"/>
                    </a:solidFill>
                  </a:tcPr>
                </a:tc>
                <a:extLst>
                  <a:ext uri="{0D108BD9-81ED-4DB2-BD59-A6C34878D82A}">
                    <a16:rowId xmlns:a16="http://schemas.microsoft.com/office/drawing/2014/main" val="10003"/>
                  </a:ext>
                </a:extLst>
              </a:tr>
              <a:tr h="292608">
                <a:tc>
                  <a:txBody>
                    <a:bodyPr/>
                    <a:lstStyle/>
                    <a:p>
                      <a:r>
                        <a:rPr sz="1150" b="0">
                          <a:solidFill>
                            <a:srgbClr val="1A1A1A"/>
                          </a:solidFill>
                          <a:latin typeface="Calibri"/>
                        </a:rPr>
                        <a:t>S2 median</a:t>
                      </a:r>
                    </a:p>
                  </a:txBody>
                  <a:tcPr>
                    <a:solidFill>
                      <a:srgbClr val="F7F7F7"/>
                    </a:solidFill>
                  </a:tcPr>
                </a:tc>
                <a:tc>
                  <a:txBody>
                    <a:bodyPr/>
                    <a:lstStyle/>
                    <a:p>
                      <a:r>
                        <a:rPr sz="1150" b="0">
                          <a:solidFill>
                            <a:srgbClr val="1A1A1A"/>
                          </a:solidFill>
                          <a:latin typeface="Calibri"/>
                        </a:rPr>
                        <a:t>25.98</a:t>
                      </a:r>
                    </a:p>
                  </a:txBody>
                  <a:tcPr>
                    <a:solidFill>
                      <a:srgbClr val="F7F7F7"/>
                    </a:solidFill>
                  </a:tcPr>
                </a:tc>
                <a:tc>
                  <a:txBody>
                    <a:bodyPr/>
                    <a:lstStyle/>
                    <a:p>
                      <a:r>
                        <a:rPr sz="1150" b="0">
                          <a:solidFill>
                            <a:srgbClr val="1A1A1A"/>
                          </a:solidFill>
                          <a:latin typeface="Calibri"/>
                        </a:rPr>
                        <a:t>25.94</a:t>
                      </a:r>
                    </a:p>
                  </a:txBody>
                  <a:tcPr>
                    <a:solidFill>
                      <a:srgbClr val="F7F7F7"/>
                    </a:solidFill>
                  </a:tcPr>
                </a:tc>
                <a:tc>
                  <a:txBody>
                    <a:bodyPr/>
                    <a:lstStyle/>
                    <a:p>
                      <a:r>
                        <a:rPr sz="1150" b="0">
                          <a:solidFill>
                            <a:srgbClr val="1A1A1A"/>
                          </a:solidFill>
                          <a:latin typeface="Calibri"/>
                        </a:rPr>
                        <a:t>22.98</a:t>
                      </a:r>
                    </a:p>
                  </a:txBody>
                  <a:tcPr>
                    <a:solidFill>
                      <a:srgbClr val="F7F7F7"/>
                    </a:solidFill>
                  </a:tcPr>
                </a:tc>
                <a:tc>
                  <a:txBody>
                    <a:bodyPr/>
                    <a:lstStyle/>
                    <a:p>
                      <a:r>
                        <a:rPr sz="1150" b="0">
                          <a:solidFill>
                            <a:srgbClr val="1A1A1A"/>
                          </a:solidFill>
                          <a:latin typeface="Calibri"/>
                        </a:rPr>
                        <a:t>4</a:t>
                      </a:r>
                    </a:p>
                  </a:txBody>
                  <a:tcPr>
                    <a:solidFill>
                      <a:srgbClr val="F7F7F7"/>
                    </a:solidFill>
                  </a:tcPr>
                </a:tc>
                <a:tc>
                  <a:txBody>
                    <a:bodyPr/>
                    <a:lstStyle/>
                    <a:p>
                      <a:r>
                        <a:rPr sz="1150" b="0">
                          <a:solidFill>
                            <a:srgbClr val="1A1A1A"/>
                          </a:solidFill>
                          <a:latin typeface="Calibri"/>
                        </a:rPr>
                        <a:t>4</a:t>
                      </a:r>
                    </a:p>
                  </a:txBody>
                  <a:tcPr>
                    <a:solidFill>
                      <a:srgbClr val="F7F7F7"/>
                    </a:solidFill>
                  </a:tcPr>
                </a:tc>
                <a:tc>
                  <a:txBody>
                    <a:bodyPr/>
                    <a:lstStyle/>
                    <a:p>
                      <a:r>
                        <a:rPr sz="1150" b="0">
                          <a:solidFill>
                            <a:srgbClr val="1A1A1A"/>
                          </a:solidFill>
                          <a:latin typeface="Calibri"/>
                        </a:rPr>
                        <a:t>3</a:t>
                      </a:r>
                    </a:p>
                  </a:txBody>
                  <a:tcPr>
                    <a:solidFill>
                      <a:srgbClr val="F7F7F7"/>
                    </a:solidFill>
                  </a:tcPr>
                </a:tc>
                <a:extLst>
                  <a:ext uri="{0D108BD9-81ED-4DB2-BD59-A6C34878D82A}">
                    <a16:rowId xmlns:a16="http://schemas.microsoft.com/office/drawing/2014/main" val="10004"/>
                  </a:ext>
                </a:extLst>
              </a:tr>
              <a:tr h="292608">
                <a:tc>
                  <a:txBody>
                    <a:bodyPr/>
                    <a:lstStyle/>
                    <a:p>
                      <a:r>
                        <a:rPr sz="1150" b="0">
                          <a:solidFill>
                            <a:srgbClr val="1A1A1A"/>
                          </a:solidFill>
                          <a:latin typeface="Calibri"/>
                        </a:rPr>
                        <a:t>CLMS</a:t>
                      </a:r>
                    </a:p>
                  </a:txBody>
                  <a:tcPr>
                    <a:solidFill>
                      <a:srgbClr val="FFFFFF"/>
                    </a:solidFill>
                  </a:tcPr>
                </a:tc>
                <a:tc>
                  <a:txBody>
                    <a:bodyPr/>
                    <a:lstStyle/>
                    <a:p>
                      <a:r>
                        <a:rPr sz="1150" b="0">
                          <a:solidFill>
                            <a:srgbClr val="1A1A1A"/>
                          </a:solidFill>
                          <a:latin typeface="Calibri"/>
                        </a:rPr>
                        <a:t>26.25</a:t>
                      </a:r>
                    </a:p>
                  </a:txBody>
                  <a:tcPr>
                    <a:solidFill>
                      <a:srgbClr val="FFFFFF"/>
                    </a:solidFill>
                  </a:tcPr>
                </a:tc>
                <a:tc>
                  <a:txBody>
                    <a:bodyPr/>
                    <a:lstStyle/>
                    <a:p>
                      <a:r>
                        <a:rPr sz="1150" b="0">
                          <a:solidFill>
                            <a:srgbClr val="1A1A1A"/>
                          </a:solidFill>
                          <a:latin typeface="Calibri"/>
                        </a:rPr>
                        <a:t>25.97</a:t>
                      </a:r>
                    </a:p>
                  </a:txBody>
                  <a:tcPr>
                    <a:solidFill>
                      <a:srgbClr val="FFFFFF"/>
                    </a:solidFill>
                  </a:tcPr>
                </a:tc>
                <a:tc>
                  <a:txBody>
                    <a:bodyPr/>
                    <a:lstStyle/>
                    <a:p>
                      <a:r>
                        <a:rPr sz="1150" b="0">
                          <a:solidFill>
                            <a:srgbClr val="1A1A1A"/>
                          </a:solidFill>
                          <a:latin typeface="Calibri"/>
                        </a:rPr>
                        <a:t>24.08</a:t>
                      </a:r>
                    </a:p>
                  </a:txBody>
                  <a:tcPr>
                    <a:solidFill>
                      <a:srgbClr val="FFFFFF"/>
                    </a:solidFill>
                  </a:tcPr>
                </a:tc>
                <a:tc>
                  <a:txBody>
                    <a:bodyPr/>
                    <a:lstStyle/>
                    <a:p>
                      <a:r>
                        <a:rPr sz="1150" b="0">
                          <a:solidFill>
                            <a:srgbClr val="1A1A1A"/>
                          </a:solidFill>
                          <a:latin typeface="Calibri"/>
                        </a:rPr>
                        <a:t>5</a:t>
                      </a:r>
                    </a:p>
                  </a:txBody>
                  <a:tcPr>
                    <a:solidFill>
                      <a:srgbClr val="FFFFFF"/>
                    </a:solidFill>
                  </a:tcPr>
                </a:tc>
                <a:tc>
                  <a:txBody>
                    <a:bodyPr/>
                    <a:lstStyle/>
                    <a:p>
                      <a:r>
                        <a:rPr sz="1150" b="0">
                          <a:solidFill>
                            <a:srgbClr val="1A1A1A"/>
                          </a:solidFill>
                          <a:latin typeface="Calibri"/>
                        </a:rPr>
                        <a:t>5</a:t>
                      </a:r>
                    </a:p>
                  </a:txBody>
                  <a:tcPr>
                    <a:solidFill>
                      <a:srgbClr val="FFFFFF"/>
                    </a:solidFill>
                  </a:tcPr>
                </a:tc>
                <a:tc>
                  <a:txBody>
                    <a:bodyPr/>
                    <a:lstStyle/>
                    <a:p>
                      <a:r>
                        <a:rPr sz="1150" b="0">
                          <a:solidFill>
                            <a:srgbClr val="1A1A1A"/>
                          </a:solidFill>
                          <a:latin typeface="Calibri"/>
                        </a:rPr>
                        <a:t>5</a:t>
                      </a:r>
                    </a:p>
                  </a:txBody>
                  <a:tcP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Under C the only change is a swap between the pair already found indistinguishable at q = 0.79.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2212848"/>
            <a:ext cx="10881360" cy="320040"/>
          </a:xfrm>
          <a:prstGeom prst="rect">
            <a:avLst/>
          </a:prstGeom>
          <a:noFill/>
        </p:spPr>
        <p:txBody>
          <a:bodyPr wrap="square">
            <a:spAutoFit/>
          </a:bodyPr>
          <a:lstStyle/>
          <a:p>
            <a:pPr algn="l">
              <a:lnSpc>
                <a:spcPct val="125000"/>
              </a:lnSpc>
            </a:pPr>
            <a:r>
              <a:rPr sz="1200" b="1" i="0">
                <a:solidFill>
                  <a:srgbClr val="0B6E4F"/>
                </a:solidFill>
                <a:latin typeface="Calibri"/>
              </a:rPr>
              <a:t>SECTION 6 OF 7</a:t>
            </a:r>
          </a:p>
        </p:txBody>
      </p:sp>
      <p:sp>
        <p:nvSpPr>
          <p:cNvPr id="3" name="TextBox 2"/>
          <p:cNvSpPr txBox="1"/>
          <p:nvPr/>
        </p:nvSpPr>
        <p:spPr>
          <a:xfrm>
            <a:off x="822960" y="2560320"/>
            <a:ext cx="10881360" cy="914400"/>
          </a:xfrm>
          <a:prstGeom prst="rect">
            <a:avLst/>
          </a:prstGeom>
          <a:noFill/>
        </p:spPr>
        <p:txBody>
          <a:bodyPr wrap="square">
            <a:spAutoFit/>
          </a:bodyPr>
          <a:lstStyle/>
          <a:p>
            <a:pPr algn="l">
              <a:lnSpc>
                <a:spcPct val="125000"/>
              </a:lnSpc>
            </a:pPr>
            <a:r>
              <a:rPr sz="3000" b="1" i="0">
                <a:solidFill>
                  <a:srgbClr val="1A1A1A"/>
                </a:solidFill>
                <a:latin typeface="Calibri"/>
              </a:rPr>
              <a:t>Why transfer fails</a:t>
            </a:r>
          </a:p>
        </p:txBody>
      </p:sp>
      <p:sp>
        <p:nvSpPr>
          <p:cNvPr id="4" name="Rectangle 3"/>
          <p:cNvSpPr/>
          <p:nvPr/>
        </p:nvSpPr>
        <p:spPr>
          <a:xfrm>
            <a:off x="822960" y="3584448"/>
            <a:ext cx="3657600" cy="32004"/>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03904"/>
            <a:ext cx="8686800" cy="731520"/>
          </a:xfrm>
          <a:prstGeom prst="rect">
            <a:avLst/>
          </a:prstGeom>
          <a:noFill/>
        </p:spPr>
        <p:txBody>
          <a:bodyPr wrap="square">
            <a:spAutoFit/>
          </a:bodyPr>
          <a:lstStyle/>
          <a:p>
            <a:pPr algn="l">
              <a:lnSpc>
                <a:spcPct val="135000"/>
              </a:lnSpc>
            </a:pPr>
            <a:r>
              <a:rPr sz="1400" b="0" i="0">
                <a:solidFill>
                  <a:srgbClr val="6B6B6B"/>
                </a:solidFill>
                <a:latin typeface="Calibri"/>
              </a:rPr>
              <a:t>Level matching, and the low tail that no level correction could repair</a:t>
            </a:r>
          </a:p>
        </p:txBody>
      </p:sp>
      <p:sp>
        <p:nvSpPr>
          <p:cNvPr id="6" name="TextBox 5"/>
          <p:cNvSpPr txBox="1"/>
          <p:nvPr/>
        </p:nvSpPr>
        <p:spPr>
          <a:xfrm>
            <a:off x="822960" y="5577840"/>
            <a:ext cx="10881360" cy="822960"/>
          </a:xfrm>
          <a:prstGeom prst="rect">
            <a:avLst/>
          </a:prstGeom>
          <a:noFill/>
        </p:spPr>
        <p:txBody>
          <a:bodyPr wrap="square">
            <a:spAutoFit/>
          </a:bodyPr>
          <a:lstStyle/>
          <a:p>
            <a:pPr algn="l">
              <a:lnSpc>
                <a:spcPct val="125000"/>
              </a:lnSpc>
            </a:pPr>
            <a:r>
              <a:rPr sz="1000" b="0" i="0">
                <a:solidFill>
                  <a:srgbClr val="6B6B6B"/>
                </a:solidFill>
                <a:latin typeface="Calibri"/>
              </a:rPr>
              <a:t>1. Design and data · 2. Method · 3. Milan · same-source validation · 4. Vietnam · transfer · 5. Independent validation · 6. Why transfer fails · 7. Conclusions and limitations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MECHANISM · 1 OF 2</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The transferred maps inherit Milan's level, and the retrains inherit GHSL's</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Mean predicted IMD against the interpreted reference mean, all eight Vietnamese maps. The two scenarios straddle the reference from opposite sides.</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58368" y="2103120"/>
          <a:ext cx="10881360" cy="2633472"/>
        </p:xfrm>
        <a:graphic>
          <a:graphicData uri="http://schemas.openxmlformats.org/drawingml/2006/table">
            <a:tbl>
              <a:tblPr firstRow="1" bandRow="1">
                <a:tableStyleId>{5C22544A-7EE6-4342-B048-85BDC9FD1C3A}</a:tableStyleId>
              </a:tblPr>
              <a:tblGrid>
                <a:gridCol w="1813560">
                  <a:extLst>
                    <a:ext uri="{9D8B030D-6E8A-4147-A177-3AD203B41FA5}">
                      <a16:colId xmlns:a16="http://schemas.microsoft.com/office/drawing/2014/main" val="20000"/>
                    </a:ext>
                  </a:extLst>
                </a:gridCol>
                <a:gridCol w="1813560">
                  <a:extLst>
                    <a:ext uri="{9D8B030D-6E8A-4147-A177-3AD203B41FA5}">
                      <a16:colId xmlns:a16="http://schemas.microsoft.com/office/drawing/2014/main" val="20001"/>
                    </a:ext>
                  </a:extLst>
                </a:gridCol>
                <a:gridCol w="1813560">
                  <a:extLst>
                    <a:ext uri="{9D8B030D-6E8A-4147-A177-3AD203B41FA5}">
                      <a16:colId xmlns:a16="http://schemas.microsoft.com/office/drawing/2014/main" val="20002"/>
                    </a:ext>
                  </a:extLst>
                </a:gridCol>
                <a:gridCol w="1813560">
                  <a:extLst>
                    <a:ext uri="{9D8B030D-6E8A-4147-A177-3AD203B41FA5}">
                      <a16:colId xmlns:a16="http://schemas.microsoft.com/office/drawing/2014/main" val="20003"/>
                    </a:ext>
                  </a:extLst>
                </a:gridCol>
                <a:gridCol w="1813560">
                  <a:extLst>
                    <a:ext uri="{9D8B030D-6E8A-4147-A177-3AD203B41FA5}">
                      <a16:colId xmlns:a16="http://schemas.microsoft.com/office/drawing/2014/main" val="20004"/>
                    </a:ext>
                  </a:extLst>
                </a:gridCol>
                <a:gridCol w="1813560">
                  <a:extLst>
                    <a:ext uri="{9D8B030D-6E8A-4147-A177-3AD203B41FA5}">
                      <a16:colId xmlns:a16="http://schemas.microsoft.com/office/drawing/2014/main" val="20005"/>
                    </a:ext>
                  </a:extLst>
                </a:gridCol>
              </a:tblGrid>
              <a:tr h="292608">
                <a:tc>
                  <a:txBody>
                    <a:bodyPr/>
                    <a:lstStyle/>
                    <a:p>
                      <a:r>
                        <a:rPr sz="1100" b="1">
                          <a:solidFill>
                            <a:srgbClr val="FFFFFF"/>
                          </a:solidFill>
                          <a:latin typeface="Calibri"/>
                        </a:rPr>
                        <a:t>City</a:t>
                      </a:r>
                    </a:p>
                  </a:txBody>
                  <a:tcPr>
                    <a:solidFill>
                      <a:srgbClr val="1A1A1A"/>
                    </a:solidFill>
                  </a:tcPr>
                </a:tc>
                <a:tc>
                  <a:txBody>
                    <a:bodyPr/>
                    <a:lstStyle/>
                    <a:p>
                      <a:r>
                        <a:rPr sz="1100" b="1">
                          <a:solidFill>
                            <a:srgbClr val="FFFFFF"/>
                          </a:solidFill>
                          <a:latin typeface="Calibri"/>
                        </a:rPr>
                        <a:t>Map</a:t>
                      </a:r>
                    </a:p>
                  </a:txBody>
                  <a:tcPr>
                    <a:solidFill>
                      <a:srgbClr val="1A1A1A"/>
                    </a:solidFill>
                  </a:tcPr>
                </a:tc>
                <a:tc>
                  <a:txBody>
                    <a:bodyPr/>
                    <a:lstStyle/>
                    <a:p>
                      <a:r>
                        <a:rPr sz="1100" b="1">
                          <a:solidFill>
                            <a:srgbClr val="FFFFFF"/>
                          </a:solidFill>
                          <a:latin typeface="Calibri"/>
                        </a:rPr>
                        <a:t>Scenario</a:t>
                      </a:r>
                    </a:p>
                  </a:txBody>
                  <a:tcPr>
                    <a:solidFill>
                      <a:srgbClr val="1A1A1A"/>
                    </a:solidFill>
                  </a:tcPr>
                </a:tc>
                <a:tc>
                  <a:txBody>
                    <a:bodyPr/>
                    <a:lstStyle/>
                    <a:p>
                      <a:r>
                        <a:rPr sz="1100" b="1">
                          <a:solidFill>
                            <a:srgbClr val="FFFFFF"/>
                          </a:solidFill>
                          <a:latin typeface="Calibri"/>
                        </a:rPr>
                        <a:t>Mean predicted</a:t>
                      </a:r>
                    </a:p>
                  </a:txBody>
                  <a:tcPr>
                    <a:solidFill>
                      <a:srgbClr val="1A1A1A"/>
                    </a:solidFill>
                  </a:tcPr>
                </a:tc>
                <a:tc>
                  <a:txBody>
                    <a:bodyPr/>
                    <a:lstStyle/>
                    <a:p>
                      <a:r>
                        <a:rPr sz="1100" b="1">
                          <a:solidFill>
                            <a:srgbClr val="FFFFFF"/>
                          </a:solidFill>
                          <a:latin typeface="Calibri"/>
                        </a:rPr>
                        <a:t>Reference mean</a:t>
                      </a:r>
                    </a:p>
                  </a:txBody>
                  <a:tcPr>
                    <a:solidFill>
                      <a:srgbClr val="1A1A1A"/>
                    </a:solidFill>
                  </a:tcPr>
                </a:tc>
                <a:tc>
                  <a:txBody>
                    <a:bodyPr/>
                    <a:lstStyle/>
                    <a:p>
                      <a:r>
                        <a:rPr sz="1100" b="1">
                          <a:solidFill>
                            <a:srgbClr val="FFFFFF"/>
                          </a:solidFill>
                          <a:latin typeface="Calibri"/>
                        </a:rPr>
                        <a:t>Bias</a:t>
                      </a:r>
                    </a:p>
                  </a:txBody>
                  <a:tcPr>
                    <a:solidFill>
                      <a:srgbClr val="1A1A1A"/>
                    </a:solidFill>
                  </a:tcPr>
                </a:tc>
                <a:extLst>
                  <a:ext uri="{0D108BD9-81ED-4DB2-BD59-A6C34878D82A}">
                    <a16:rowId xmlns:a16="http://schemas.microsoft.com/office/drawing/2014/main" val="10000"/>
                  </a:ext>
                </a:extLst>
              </a:tr>
              <a:tr h="292608">
                <a:tc>
                  <a:txBody>
                    <a:bodyPr/>
                    <a:lstStyle/>
                    <a:p>
                      <a:r>
                        <a:rPr sz="1100" b="0">
                          <a:solidFill>
                            <a:srgbClr val="1A1A1A"/>
                          </a:solidFill>
                          <a:latin typeface="Calibri"/>
                        </a:rPr>
                        <a:t>Hanoi</a:t>
                      </a:r>
                    </a:p>
                  </a:txBody>
                  <a:tcPr>
                    <a:solidFill>
                      <a:srgbClr val="FFFFFF"/>
                    </a:solidFill>
                  </a:tcPr>
                </a:tc>
                <a:tc>
                  <a:txBody>
                    <a:bodyPr/>
                    <a:lstStyle/>
                    <a:p>
                      <a:r>
                        <a:rPr sz="1100" b="0">
                          <a:solidFill>
                            <a:srgbClr val="1A1A1A"/>
                          </a:solidFill>
                          <a:latin typeface="Calibri"/>
                        </a:rPr>
                        <a:t>emb_zeroshot</a:t>
                      </a:r>
                    </a:p>
                  </a:txBody>
                  <a:tcPr>
                    <a:solidFill>
                      <a:srgbClr val="FFFFFF"/>
                    </a:solidFill>
                  </a:tcPr>
                </a:tc>
                <a:tc>
                  <a:txBody>
                    <a:bodyPr/>
                    <a:lstStyle/>
                    <a:p>
                      <a:r>
                        <a:rPr sz="1100" b="0">
                          <a:solidFill>
                            <a:srgbClr val="1A1A1A"/>
                          </a:solidFill>
                          <a:latin typeface="Calibri"/>
                        </a:rPr>
                        <a:t>zero-shot</a:t>
                      </a:r>
                    </a:p>
                  </a:txBody>
                  <a:tcPr>
                    <a:solidFill>
                      <a:srgbClr val="FFFFFF"/>
                    </a:solidFill>
                  </a:tcPr>
                </a:tc>
                <a:tc>
                  <a:txBody>
                    <a:bodyPr/>
                    <a:lstStyle/>
                    <a:p>
                      <a:r>
                        <a:rPr sz="1100" b="0">
                          <a:solidFill>
                            <a:srgbClr val="1A1A1A"/>
                          </a:solidFill>
                          <a:latin typeface="Calibri"/>
                        </a:rPr>
                        <a:t>61.77</a:t>
                      </a:r>
                    </a:p>
                  </a:txBody>
                  <a:tcPr>
                    <a:solidFill>
                      <a:srgbClr val="FFFFFF"/>
                    </a:solidFill>
                  </a:tcPr>
                </a:tc>
                <a:tc>
                  <a:txBody>
                    <a:bodyPr/>
                    <a:lstStyle/>
                    <a:p>
                      <a:r>
                        <a:rPr sz="1100" b="0">
                          <a:solidFill>
                            <a:srgbClr val="1A1A1A"/>
                          </a:solidFill>
                          <a:latin typeface="Calibri"/>
                        </a:rPr>
                        <a:t>46.05</a:t>
                      </a:r>
                    </a:p>
                  </a:txBody>
                  <a:tcPr>
                    <a:solidFill>
                      <a:srgbClr val="FFFFFF"/>
                    </a:solidFill>
                  </a:tcPr>
                </a:tc>
                <a:tc>
                  <a:txBody>
                    <a:bodyPr/>
                    <a:lstStyle/>
                    <a:p>
                      <a:r>
                        <a:rPr sz="1100" b="0">
                          <a:solidFill>
                            <a:srgbClr val="1A1A1A"/>
                          </a:solidFill>
                          <a:latin typeface="Calibri"/>
                        </a:rPr>
                        <a:t>−15.716</a:t>
                      </a:r>
                    </a:p>
                  </a:txBody>
                  <a:tcPr>
                    <a:solidFill>
                      <a:srgbClr val="FFFFFF"/>
                    </a:solidFill>
                  </a:tcPr>
                </a:tc>
                <a:extLst>
                  <a:ext uri="{0D108BD9-81ED-4DB2-BD59-A6C34878D82A}">
                    <a16:rowId xmlns:a16="http://schemas.microsoft.com/office/drawing/2014/main" val="10001"/>
                  </a:ext>
                </a:extLst>
              </a:tr>
              <a:tr h="292608">
                <a:tc>
                  <a:txBody>
                    <a:bodyPr/>
                    <a:lstStyle/>
                    <a:p>
                      <a:r>
                        <a:rPr sz="1100" b="0">
                          <a:solidFill>
                            <a:srgbClr val="1A1A1A"/>
                          </a:solidFill>
                          <a:latin typeface="Calibri"/>
                        </a:rPr>
                        <a:t>Hanoi</a:t>
                      </a:r>
                    </a:p>
                  </a:txBody>
                  <a:tcPr>
                    <a:solidFill>
                      <a:srgbClr val="F7F7F7"/>
                    </a:solidFill>
                  </a:tcPr>
                </a:tc>
                <a:tc>
                  <a:txBody>
                    <a:bodyPr/>
                    <a:lstStyle/>
                    <a:p>
                      <a:r>
                        <a:rPr sz="1100" b="0">
                          <a:solidFill>
                            <a:srgbClr val="1A1A1A"/>
                          </a:solidFill>
                          <a:latin typeface="Calibri"/>
                        </a:rPr>
                        <a:t>S2_median_zeroshot</a:t>
                      </a:r>
                    </a:p>
                  </a:txBody>
                  <a:tcPr>
                    <a:solidFill>
                      <a:srgbClr val="F7F7F7"/>
                    </a:solidFill>
                  </a:tcPr>
                </a:tc>
                <a:tc>
                  <a:txBody>
                    <a:bodyPr/>
                    <a:lstStyle/>
                    <a:p>
                      <a:r>
                        <a:rPr sz="1100" b="0">
                          <a:solidFill>
                            <a:srgbClr val="1A1A1A"/>
                          </a:solidFill>
                          <a:latin typeface="Calibri"/>
                        </a:rPr>
                        <a:t>zero-shot</a:t>
                      </a:r>
                    </a:p>
                  </a:txBody>
                  <a:tcPr>
                    <a:solidFill>
                      <a:srgbClr val="F7F7F7"/>
                    </a:solidFill>
                  </a:tcPr>
                </a:tc>
                <a:tc>
                  <a:txBody>
                    <a:bodyPr/>
                    <a:lstStyle/>
                    <a:p>
                      <a:r>
                        <a:rPr sz="1100" b="0">
                          <a:solidFill>
                            <a:srgbClr val="1A1A1A"/>
                          </a:solidFill>
                          <a:latin typeface="Calibri"/>
                        </a:rPr>
                        <a:t>61.93</a:t>
                      </a:r>
                    </a:p>
                  </a:txBody>
                  <a:tcPr>
                    <a:solidFill>
                      <a:srgbClr val="F7F7F7"/>
                    </a:solidFill>
                  </a:tcPr>
                </a:tc>
                <a:tc>
                  <a:txBody>
                    <a:bodyPr/>
                    <a:lstStyle/>
                    <a:p>
                      <a:r>
                        <a:rPr sz="1100" b="0">
                          <a:solidFill>
                            <a:srgbClr val="1A1A1A"/>
                          </a:solidFill>
                          <a:latin typeface="Calibri"/>
                        </a:rPr>
                        <a:t>46.05</a:t>
                      </a:r>
                    </a:p>
                  </a:txBody>
                  <a:tcPr>
                    <a:solidFill>
                      <a:srgbClr val="F7F7F7"/>
                    </a:solidFill>
                  </a:tcPr>
                </a:tc>
                <a:tc>
                  <a:txBody>
                    <a:bodyPr/>
                    <a:lstStyle/>
                    <a:p>
                      <a:r>
                        <a:rPr sz="1100" b="0">
                          <a:solidFill>
                            <a:srgbClr val="1A1A1A"/>
                          </a:solidFill>
                          <a:latin typeface="Calibri"/>
                        </a:rPr>
                        <a:t>−15.876</a:t>
                      </a:r>
                    </a:p>
                  </a:txBody>
                  <a:tcPr>
                    <a:solidFill>
                      <a:srgbClr val="F7F7F7"/>
                    </a:solidFill>
                  </a:tcPr>
                </a:tc>
                <a:extLst>
                  <a:ext uri="{0D108BD9-81ED-4DB2-BD59-A6C34878D82A}">
                    <a16:rowId xmlns:a16="http://schemas.microsoft.com/office/drawing/2014/main" val="10002"/>
                  </a:ext>
                </a:extLst>
              </a:tr>
              <a:tr h="292608">
                <a:tc>
                  <a:txBody>
                    <a:bodyPr/>
                    <a:lstStyle/>
                    <a:p>
                      <a:r>
                        <a:rPr sz="1100" b="0">
                          <a:solidFill>
                            <a:srgbClr val="1A1A1A"/>
                          </a:solidFill>
                          <a:latin typeface="Calibri"/>
                        </a:rPr>
                        <a:t>Hanoi</a:t>
                      </a:r>
                    </a:p>
                  </a:txBody>
                  <a:tcPr>
                    <a:solidFill>
                      <a:srgbClr val="FFFFFF"/>
                    </a:solidFill>
                  </a:tcPr>
                </a:tc>
                <a:tc>
                  <a:txBody>
                    <a:bodyPr/>
                    <a:lstStyle/>
                    <a:p>
                      <a:r>
                        <a:rPr sz="1100" b="0">
                          <a:solidFill>
                            <a:srgbClr val="1A1A1A"/>
                          </a:solidFill>
                          <a:latin typeface="Calibri"/>
                        </a:rPr>
                        <a:t>emb_localrf</a:t>
                      </a:r>
                    </a:p>
                  </a:txBody>
                  <a:tcPr>
                    <a:solidFill>
                      <a:srgbClr val="FFFFFF"/>
                    </a:solidFill>
                  </a:tcPr>
                </a:tc>
                <a:tc>
                  <a:txBody>
                    <a:bodyPr/>
                    <a:lstStyle/>
                    <a:p>
                      <a:r>
                        <a:rPr sz="1100" b="0">
                          <a:solidFill>
                            <a:srgbClr val="1A1A1A"/>
                          </a:solidFill>
                          <a:latin typeface="Calibri"/>
                        </a:rPr>
                        <a:t>local retrain</a:t>
                      </a:r>
                    </a:p>
                  </a:txBody>
                  <a:tcPr>
                    <a:solidFill>
                      <a:srgbClr val="FFFFFF"/>
                    </a:solidFill>
                  </a:tcPr>
                </a:tc>
                <a:tc>
                  <a:txBody>
                    <a:bodyPr/>
                    <a:lstStyle/>
                    <a:p>
                      <a:r>
                        <a:rPr sz="1100" b="0">
                          <a:solidFill>
                            <a:srgbClr val="1A1A1A"/>
                          </a:solidFill>
                          <a:latin typeface="Calibri"/>
                        </a:rPr>
                        <a:t>37.87 … 39.97</a:t>
                      </a:r>
                    </a:p>
                  </a:txBody>
                  <a:tcPr>
                    <a:solidFill>
                      <a:srgbClr val="FFFFFF"/>
                    </a:solidFill>
                  </a:tcPr>
                </a:tc>
                <a:tc>
                  <a:txBody>
                    <a:bodyPr/>
                    <a:lstStyle/>
                    <a:p>
                      <a:r>
                        <a:rPr sz="1100" b="0">
                          <a:solidFill>
                            <a:srgbClr val="1A1A1A"/>
                          </a:solidFill>
                          <a:latin typeface="Calibri"/>
                        </a:rPr>
                        <a:t>46.05</a:t>
                      </a:r>
                    </a:p>
                  </a:txBody>
                  <a:tcPr>
                    <a:solidFill>
                      <a:srgbClr val="FFFFFF"/>
                    </a:solidFill>
                  </a:tcPr>
                </a:tc>
                <a:tc>
                  <a:txBody>
                    <a:bodyPr/>
                    <a:lstStyle/>
                    <a:p>
                      <a:r>
                        <a:rPr sz="1100" b="0">
                          <a:solidFill>
                            <a:srgbClr val="1A1A1A"/>
                          </a:solidFill>
                          <a:latin typeface="Calibri"/>
                        </a:rPr>
                        <a:t>6.592</a:t>
                      </a:r>
                    </a:p>
                  </a:txBody>
                  <a:tcPr>
                    <a:solidFill>
                      <a:srgbClr val="FFFFFF"/>
                    </a:solidFill>
                  </a:tcPr>
                </a:tc>
                <a:extLst>
                  <a:ext uri="{0D108BD9-81ED-4DB2-BD59-A6C34878D82A}">
                    <a16:rowId xmlns:a16="http://schemas.microsoft.com/office/drawing/2014/main" val="10003"/>
                  </a:ext>
                </a:extLst>
              </a:tr>
              <a:tr h="292608">
                <a:tc>
                  <a:txBody>
                    <a:bodyPr/>
                    <a:lstStyle/>
                    <a:p>
                      <a:r>
                        <a:rPr sz="1100" b="0">
                          <a:solidFill>
                            <a:srgbClr val="1A1A1A"/>
                          </a:solidFill>
                          <a:latin typeface="Calibri"/>
                        </a:rPr>
                        <a:t>Hanoi</a:t>
                      </a:r>
                    </a:p>
                  </a:txBody>
                  <a:tcPr>
                    <a:solidFill>
                      <a:srgbClr val="F7F7F7"/>
                    </a:solidFill>
                  </a:tcPr>
                </a:tc>
                <a:tc>
                  <a:txBody>
                    <a:bodyPr/>
                    <a:lstStyle/>
                    <a:p>
                      <a:r>
                        <a:rPr sz="1100" b="0">
                          <a:solidFill>
                            <a:srgbClr val="1A1A1A"/>
                          </a:solidFill>
                          <a:latin typeface="Calibri"/>
                        </a:rPr>
                        <a:t>S2_median_localrf</a:t>
                      </a:r>
                    </a:p>
                  </a:txBody>
                  <a:tcPr>
                    <a:solidFill>
                      <a:srgbClr val="F7F7F7"/>
                    </a:solidFill>
                  </a:tcPr>
                </a:tc>
                <a:tc>
                  <a:txBody>
                    <a:bodyPr/>
                    <a:lstStyle/>
                    <a:p>
                      <a:r>
                        <a:rPr sz="1100" b="0">
                          <a:solidFill>
                            <a:srgbClr val="1A1A1A"/>
                          </a:solidFill>
                          <a:latin typeface="Calibri"/>
                        </a:rPr>
                        <a:t>local retrain</a:t>
                      </a:r>
                    </a:p>
                  </a:txBody>
                  <a:tcPr>
                    <a:solidFill>
                      <a:srgbClr val="F7F7F7"/>
                    </a:solidFill>
                  </a:tcPr>
                </a:tc>
                <a:tc>
                  <a:txBody>
                    <a:bodyPr/>
                    <a:lstStyle/>
                    <a:p>
                      <a:r>
                        <a:rPr sz="1100" b="0">
                          <a:solidFill>
                            <a:srgbClr val="1A1A1A"/>
                          </a:solidFill>
                          <a:latin typeface="Calibri"/>
                        </a:rPr>
                        <a:t>37.87 … 39.97</a:t>
                      </a:r>
                    </a:p>
                  </a:txBody>
                  <a:tcPr>
                    <a:solidFill>
                      <a:srgbClr val="F7F7F7"/>
                    </a:solidFill>
                  </a:tcPr>
                </a:tc>
                <a:tc>
                  <a:txBody>
                    <a:bodyPr/>
                    <a:lstStyle/>
                    <a:p>
                      <a:r>
                        <a:rPr sz="1100" b="0">
                          <a:solidFill>
                            <a:srgbClr val="1A1A1A"/>
                          </a:solidFill>
                          <a:latin typeface="Calibri"/>
                        </a:rPr>
                        <a:t>46.05</a:t>
                      </a:r>
                    </a:p>
                  </a:txBody>
                  <a:tcPr>
                    <a:solidFill>
                      <a:srgbClr val="F7F7F7"/>
                    </a:solidFill>
                  </a:tcPr>
                </a:tc>
                <a:tc>
                  <a:txBody>
                    <a:bodyPr/>
                    <a:lstStyle/>
                    <a:p>
                      <a:r>
                        <a:rPr sz="1100" b="0">
                          <a:solidFill>
                            <a:srgbClr val="1A1A1A"/>
                          </a:solidFill>
                          <a:latin typeface="Calibri"/>
                        </a:rPr>
                        <a:t>8.181</a:t>
                      </a:r>
                    </a:p>
                  </a:txBody>
                  <a:tcPr>
                    <a:solidFill>
                      <a:srgbClr val="F7F7F7"/>
                    </a:solidFill>
                  </a:tcPr>
                </a:tc>
                <a:extLst>
                  <a:ext uri="{0D108BD9-81ED-4DB2-BD59-A6C34878D82A}">
                    <a16:rowId xmlns:a16="http://schemas.microsoft.com/office/drawing/2014/main" val="10004"/>
                  </a:ext>
                </a:extLst>
              </a:tr>
              <a:tr h="292608">
                <a:tc>
                  <a:txBody>
                    <a:bodyPr/>
                    <a:lstStyle/>
                    <a:p>
                      <a:r>
                        <a:rPr sz="1100" b="0">
                          <a:solidFill>
                            <a:srgbClr val="1A1A1A"/>
                          </a:solidFill>
                          <a:latin typeface="Calibri"/>
                        </a:rPr>
                        <a:t>HCMC</a:t>
                      </a:r>
                    </a:p>
                  </a:txBody>
                  <a:tcPr>
                    <a:solidFill>
                      <a:srgbClr val="FFFFFF"/>
                    </a:solidFill>
                  </a:tcPr>
                </a:tc>
                <a:tc>
                  <a:txBody>
                    <a:bodyPr/>
                    <a:lstStyle/>
                    <a:p>
                      <a:r>
                        <a:rPr sz="1100" b="0">
                          <a:solidFill>
                            <a:srgbClr val="1A1A1A"/>
                          </a:solidFill>
                          <a:latin typeface="Calibri"/>
                        </a:rPr>
                        <a:t>emb_zeroshot</a:t>
                      </a:r>
                    </a:p>
                  </a:txBody>
                  <a:tcPr>
                    <a:solidFill>
                      <a:srgbClr val="FFFFFF"/>
                    </a:solidFill>
                  </a:tcPr>
                </a:tc>
                <a:tc>
                  <a:txBody>
                    <a:bodyPr/>
                    <a:lstStyle/>
                    <a:p>
                      <a:r>
                        <a:rPr sz="1100" b="0">
                          <a:solidFill>
                            <a:srgbClr val="1A1A1A"/>
                          </a:solidFill>
                          <a:latin typeface="Calibri"/>
                        </a:rPr>
                        <a:t>zero-shot</a:t>
                      </a:r>
                    </a:p>
                  </a:txBody>
                  <a:tcPr>
                    <a:solidFill>
                      <a:srgbClr val="FFFFFF"/>
                    </a:solidFill>
                  </a:tcPr>
                </a:tc>
                <a:tc>
                  <a:txBody>
                    <a:bodyPr/>
                    <a:lstStyle/>
                    <a:p>
                      <a:r>
                        <a:rPr sz="1100" b="0">
                          <a:solidFill>
                            <a:srgbClr val="1A1A1A"/>
                          </a:solidFill>
                          <a:latin typeface="Calibri"/>
                        </a:rPr>
                        <a:t>70.70</a:t>
                      </a:r>
                    </a:p>
                  </a:txBody>
                  <a:tcPr>
                    <a:solidFill>
                      <a:srgbClr val="FFFFFF"/>
                    </a:solidFill>
                  </a:tcPr>
                </a:tc>
                <a:tc>
                  <a:txBody>
                    <a:bodyPr/>
                    <a:lstStyle/>
                    <a:p>
                      <a:r>
                        <a:rPr sz="1100" b="0">
                          <a:solidFill>
                            <a:srgbClr val="1A1A1A"/>
                          </a:solidFill>
                          <a:latin typeface="Calibri"/>
                        </a:rPr>
                        <a:t>51.06</a:t>
                      </a:r>
                    </a:p>
                  </a:txBody>
                  <a:tcPr>
                    <a:solidFill>
                      <a:srgbClr val="FFFFFF"/>
                    </a:solidFill>
                  </a:tcPr>
                </a:tc>
                <a:tc>
                  <a:txBody>
                    <a:bodyPr/>
                    <a:lstStyle/>
                    <a:p>
                      <a:r>
                        <a:rPr sz="1100" b="0">
                          <a:solidFill>
                            <a:srgbClr val="1A1A1A"/>
                          </a:solidFill>
                          <a:latin typeface="Calibri"/>
                        </a:rPr>
                        <a:t>−19.641</a:t>
                      </a:r>
                    </a:p>
                  </a:txBody>
                  <a:tcPr>
                    <a:solidFill>
                      <a:srgbClr val="FFFFFF"/>
                    </a:solidFill>
                  </a:tcPr>
                </a:tc>
                <a:extLst>
                  <a:ext uri="{0D108BD9-81ED-4DB2-BD59-A6C34878D82A}">
                    <a16:rowId xmlns:a16="http://schemas.microsoft.com/office/drawing/2014/main" val="10005"/>
                  </a:ext>
                </a:extLst>
              </a:tr>
              <a:tr h="292608">
                <a:tc>
                  <a:txBody>
                    <a:bodyPr/>
                    <a:lstStyle/>
                    <a:p>
                      <a:r>
                        <a:rPr sz="1100" b="0">
                          <a:solidFill>
                            <a:srgbClr val="1A1A1A"/>
                          </a:solidFill>
                          <a:latin typeface="Calibri"/>
                        </a:rPr>
                        <a:t>HCMC</a:t>
                      </a:r>
                    </a:p>
                  </a:txBody>
                  <a:tcPr>
                    <a:solidFill>
                      <a:srgbClr val="F7F7F7"/>
                    </a:solidFill>
                  </a:tcPr>
                </a:tc>
                <a:tc>
                  <a:txBody>
                    <a:bodyPr/>
                    <a:lstStyle/>
                    <a:p>
                      <a:r>
                        <a:rPr sz="1100" b="0">
                          <a:solidFill>
                            <a:srgbClr val="1A1A1A"/>
                          </a:solidFill>
                          <a:latin typeface="Calibri"/>
                        </a:rPr>
                        <a:t>S2_median_zeroshot</a:t>
                      </a:r>
                    </a:p>
                  </a:txBody>
                  <a:tcPr>
                    <a:solidFill>
                      <a:srgbClr val="F7F7F7"/>
                    </a:solidFill>
                  </a:tcPr>
                </a:tc>
                <a:tc>
                  <a:txBody>
                    <a:bodyPr/>
                    <a:lstStyle/>
                    <a:p>
                      <a:r>
                        <a:rPr sz="1100" b="0">
                          <a:solidFill>
                            <a:srgbClr val="1A1A1A"/>
                          </a:solidFill>
                          <a:latin typeface="Calibri"/>
                        </a:rPr>
                        <a:t>zero-shot</a:t>
                      </a:r>
                    </a:p>
                  </a:txBody>
                  <a:tcPr>
                    <a:solidFill>
                      <a:srgbClr val="F7F7F7"/>
                    </a:solidFill>
                  </a:tcPr>
                </a:tc>
                <a:tc>
                  <a:txBody>
                    <a:bodyPr/>
                    <a:lstStyle/>
                    <a:p>
                      <a:r>
                        <a:rPr sz="1100" b="0">
                          <a:solidFill>
                            <a:srgbClr val="1A1A1A"/>
                          </a:solidFill>
                          <a:latin typeface="Calibri"/>
                        </a:rPr>
                        <a:t>57.89</a:t>
                      </a:r>
                    </a:p>
                  </a:txBody>
                  <a:tcPr>
                    <a:solidFill>
                      <a:srgbClr val="F7F7F7"/>
                    </a:solidFill>
                  </a:tcPr>
                </a:tc>
                <a:tc>
                  <a:txBody>
                    <a:bodyPr/>
                    <a:lstStyle/>
                    <a:p>
                      <a:r>
                        <a:rPr sz="1100" b="0">
                          <a:solidFill>
                            <a:srgbClr val="1A1A1A"/>
                          </a:solidFill>
                          <a:latin typeface="Calibri"/>
                        </a:rPr>
                        <a:t>51.06</a:t>
                      </a:r>
                    </a:p>
                  </a:txBody>
                  <a:tcPr>
                    <a:solidFill>
                      <a:srgbClr val="F7F7F7"/>
                    </a:solidFill>
                  </a:tcPr>
                </a:tc>
                <a:tc>
                  <a:txBody>
                    <a:bodyPr/>
                    <a:lstStyle/>
                    <a:p>
                      <a:r>
                        <a:rPr sz="1100" b="0">
                          <a:solidFill>
                            <a:srgbClr val="1A1A1A"/>
                          </a:solidFill>
                          <a:latin typeface="Calibri"/>
                        </a:rPr>
                        <a:t>−6.827</a:t>
                      </a:r>
                    </a:p>
                  </a:txBody>
                  <a:tcPr>
                    <a:solidFill>
                      <a:srgbClr val="F7F7F7"/>
                    </a:solidFill>
                  </a:tcPr>
                </a:tc>
                <a:extLst>
                  <a:ext uri="{0D108BD9-81ED-4DB2-BD59-A6C34878D82A}">
                    <a16:rowId xmlns:a16="http://schemas.microsoft.com/office/drawing/2014/main" val="10006"/>
                  </a:ext>
                </a:extLst>
              </a:tr>
              <a:tr h="292608">
                <a:tc>
                  <a:txBody>
                    <a:bodyPr/>
                    <a:lstStyle/>
                    <a:p>
                      <a:r>
                        <a:rPr sz="1100" b="0">
                          <a:solidFill>
                            <a:srgbClr val="1A1A1A"/>
                          </a:solidFill>
                          <a:latin typeface="Calibri"/>
                        </a:rPr>
                        <a:t>HCMC</a:t>
                      </a:r>
                    </a:p>
                  </a:txBody>
                  <a:tcPr>
                    <a:solidFill>
                      <a:srgbClr val="FFFFFF"/>
                    </a:solidFill>
                  </a:tcPr>
                </a:tc>
                <a:tc>
                  <a:txBody>
                    <a:bodyPr/>
                    <a:lstStyle/>
                    <a:p>
                      <a:r>
                        <a:rPr sz="1100" b="0">
                          <a:solidFill>
                            <a:srgbClr val="1A1A1A"/>
                          </a:solidFill>
                          <a:latin typeface="Calibri"/>
                        </a:rPr>
                        <a:t>emb_localrf</a:t>
                      </a:r>
                    </a:p>
                  </a:txBody>
                  <a:tcPr>
                    <a:solidFill>
                      <a:srgbClr val="FFFFFF"/>
                    </a:solidFill>
                  </a:tcPr>
                </a:tc>
                <a:tc>
                  <a:txBody>
                    <a:bodyPr/>
                    <a:lstStyle/>
                    <a:p>
                      <a:r>
                        <a:rPr sz="1100" b="0">
                          <a:solidFill>
                            <a:srgbClr val="1A1A1A"/>
                          </a:solidFill>
                          <a:latin typeface="Calibri"/>
                        </a:rPr>
                        <a:t>local retrain</a:t>
                      </a:r>
                    </a:p>
                  </a:txBody>
                  <a:tcPr>
                    <a:solidFill>
                      <a:srgbClr val="FFFFFF"/>
                    </a:solidFill>
                  </a:tcPr>
                </a:tc>
                <a:tc>
                  <a:txBody>
                    <a:bodyPr/>
                    <a:lstStyle/>
                    <a:p>
                      <a:r>
                        <a:rPr sz="1100" b="0">
                          <a:solidFill>
                            <a:srgbClr val="1A1A1A"/>
                          </a:solidFill>
                          <a:latin typeface="Calibri"/>
                        </a:rPr>
                        <a:t>37.87 … 39.97</a:t>
                      </a:r>
                    </a:p>
                  </a:txBody>
                  <a:tcPr>
                    <a:solidFill>
                      <a:srgbClr val="FFFFFF"/>
                    </a:solidFill>
                  </a:tcPr>
                </a:tc>
                <a:tc>
                  <a:txBody>
                    <a:bodyPr/>
                    <a:lstStyle/>
                    <a:p>
                      <a:r>
                        <a:rPr sz="1100" b="0">
                          <a:solidFill>
                            <a:srgbClr val="1A1A1A"/>
                          </a:solidFill>
                          <a:latin typeface="Calibri"/>
                        </a:rPr>
                        <a:t>51.06</a:t>
                      </a:r>
                    </a:p>
                  </a:txBody>
                  <a:tcPr>
                    <a:solidFill>
                      <a:srgbClr val="FFFFFF"/>
                    </a:solidFill>
                  </a:tcPr>
                </a:tc>
                <a:tc>
                  <a:txBody>
                    <a:bodyPr/>
                    <a:lstStyle/>
                    <a:p>
                      <a:r>
                        <a:rPr sz="1100" b="0">
                          <a:solidFill>
                            <a:srgbClr val="1A1A1A"/>
                          </a:solidFill>
                          <a:latin typeface="Calibri"/>
                        </a:rPr>
                        <a:t>11.088</a:t>
                      </a:r>
                    </a:p>
                  </a:txBody>
                  <a:tcPr>
                    <a:solidFill>
                      <a:srgbClr val="FFFFFF"/>
                    </a:solidFill>
                  </a:tcPr>
                </a:tc>
                <a:extLst>
                  <a:ext uri="{0D108BD9-81ED-4DB2-BD59-A6C34878D82A}">
                    <a16:rowId xmlns:a16="http://schemas.microsoft.com/office/drawing/2014/main" val="10007"/>
                  </a:ext>
                </a:extLst>
              </a:tr>
              <a:tr h="292608">
                <a:tc>
                  <a:txBody>
                    <a:bodyPr/>
                    <a:lstStyle/>
                    <a:p>
                      <a:r>
                        <a:rPr sz="1100" b="0">
                          <a:solidFill>
                            <a:srgbClr val="1A1A1A"/>
                          </a:solidFill>
                          <a:latin typeface="Calibri"/>
                        </a:rPr>
                        <a:t>HCMC</a:t>
                      </a:r>
                    </a:p>
                  </a:txBody>
                  <a:tcPr>
                    <a:solidFill>
                      <a:srgbClr val="F7F7F7"/>
                    </a:solidFill>
                  </a:tcPr>
                </a:tc>
                <a:tc>
                  <a:txBody>
                    <a:bodyPr/>
                    <a:lstStyle/>
                    <a:p>
                      <a:r>
                        <a:rPr sz="1100" b="0">
                          <a:solidFill>
                            <a:srgbClr val="1A1A1A"/>
                          </a:solidFill>
                          <a:latin typeface="Calibri"/>
                        </a:rPr>
                        <a:t>S2_median_localrf</a:t>
                      </a:r>
                    </a:p>
                  </a:txBody>
                  <a:tcPr>
                    <a:solidFill>
                      <a:srgbClr val="F7F7F7"/>
                    </a:solidFill>
                  </a:tcPr>
                </a:tc>
                <a:tc>
                  <a:txBody>
                    <a:bodyPr/>
                    <a:lstStyle/>
                    <a:p>
                      <a:r>
                        <a:rPr sz="1100" b="0">
                          <a:solidFill>
                            <a:srgbClr val="1A1A1A"/>
                          </a:solidFill>
                          <a:latin typeface="Calibri"/>
                        </a:rPr>
                        <a:t>local retrain</a:t>
                      </a:r>
                    </a:p>
                  </a:txBody>
                  <a:tcPr>
                    <a:solidFill>
                      <a:srgbClr val="F7F7F7"/>
                    </a:solidFill>
                  </a:tcPr>
                </a:tc>
                <a:tc>
                  <a:txBody>
                    <a:bodyPr/>
                    <a:lstStyle/>
                    <a:p>
                      <a:r>
                        <a:rPr sz="1100" b="0">
                          <a:solidFill>
                            <a:srgbClr val="1A1A1A"/>
                          </a:solidFill>
                          <a:latin typeface="Calibri"/>
                        </a:rPr>
                        <a:t>37.87 … 39.97</a:t>
                      </a:r>
                    </a:p>
                  </a:txBody>
                  <a:tcPr>
                    <a:solidFill>
                      <a:srgbClr val="F7F7F7"/>
                    </a:solidFill>
                  </a:tcPr>
                </a:tc>
                <a:tc>
                  <a:txBody>
                    <a:bodyPr/>
                    <a:lstStyle/>
                    <a:p>
                      <a:r>
                        <a:rPr sz="1100" b="0">
                          <a:solidFill>
                            <a:srgbClr val="1A1A1A"/>
                          </a:solidFill>
                          <a:latin typeface="Calibri"/>
                        </a:rPr>
                        <a:t>51.06</a:t>
                      </a:r>
                    </a:p>
                  </a:txBody>
                  <a:tcPr>
                    <a:solidFill>
                      <a:srgbClr val="F7F7F7"/>
                    </a:solidFill>
                  </a:tcPr>
                </a:tc>
                <a:tc>
                  <a:txBody>
                    <a:bodyPr/>
                    <a:lstStyle/>
                    <a:p>
                      <a:r>
                        <a:rPr sz="1100" b="0">
                          <a:solidFill>
                            <a:srgbClr val="1A1A1A"/>
                          </a:solidFill>
                          <a:latin typeface="Calibri"/>
                        </a:rPr>
                        <a:t>12.233</a:t>
                      </a:r>
                    </a:p>
                  </a:txBody>
                  <a:tcPr>
                    <a:solidFill>
                      <a:srgbClr val="F7F7F7"/>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So which scenario scores better in a city depends partly on where that city's reference level falls between them.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MECHANISM · THE CONSEQUENCE</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Which is why HCMC's best map is a zero-shot map — and why that is not evidence transfer worked</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The four HCMC maps against photo-interpretation, strict rule.</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1755648" y="2103120"/>
          <a:ext cx="8686800" cy="1755648"/>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292608">
                <a:tc>
                  <a:txBody>
                    <a:bodyPr/>
                    <a:lstStyle/>
                    <a:p>
                      <a:r>
                        <a:rPr sz="1150" b="1">
                          <a:solidFill>
                            <a:srgbClr val="FFFFFF"/>
                          </a:solidFill>
                          <a:latin typeface="Calibri"/>
                        </a:rPr>
                        <a:t>Map</a:t>
                      </a:r>
                    </a:p>
                  </a:txBody>
                  <a:tcPr>
                    <a:solidFill>
                      <a:srgbClr val="1A1A1A"/>
                    </a:solidFill>
                  </a:tcPr>
                </a:tc>
                <a:tc>
                  <a:txBody>
                    <a:bodyPr/>
                    <a:lstStyle/>
                    <a:p>
                      <a:r>
                        <a:rPr sz="1150" b="1">
                          <a:solidFill>
                            <a:srgbClr val="FFFFFF"/>
                          </a:solidFill>
                          <a:latin typeface="Calibri"/>
                        </a:rPr>
                        <a:t>RMSE</a:t>
                      </a:r>
                    </a:p>
                  </a:txBody>
                  <a:tcPr>
                    <a:solidFill>
                      <a:srgbClr val="1A1A1A"/>
                    </a:solidFill>
                  </a:tcPr>
                </a:tc>
                <a:tc>
                  <a:txBody>
                    <a:bodyPr/>
                    <a:lstStyle/>
                    <a:p>
                      <a:r>
                        <a:rPr sz="1150" b="1">
                          <a:solidFill>
                            <a:srgbClr val="FFFFFF"/>
                          </a:solidFill>
                          <a:latin typeface="Calibri"/>
                        </a:rPr>
                        <a:t>MAE</a:t>
                      </a:r>
                    </a:p>
                  </a:txBody>
                  <a:tcPr>
                    <a:solidFill>
                      <a:srgbClr val="1A1A1A"/>
                    </a:solidFill>
                  </a:tcPr>
                </a:tc>
                <a:tc>
                  <a:txBody>
                    <a:bodyPr/>
                    <a:lstStyle/>
                    <a:p>
                      <a:r>
                        <a:rPr sz="1150" b="1">
                          <a:solidFill>
                            <a:srgbClr val="FFFFFF"/>
                          </a:solidFill>
                          <a:latin typeface="Calibri"/>
                        </a:rPr>
                        <a:t>R²</a:t>
                      </a:r>
                    </a:p>
                  </a:txBody>
                  <a:tcPr>
                    <a:solidFill>
                      <a:srgbClr val="1A1A1A"/>
                    </a:solidFill>
                  </a:tcPr>
                </a:tc>
                <a:tc>
                  <a:txBody>
                    <a:bodyPr/>
                    <a:lstStyle/>
                    <a:p>
                      <a:r>
                        <a:rPr sz="1150" b="1">
                          <a:solidFill>
                            <a:srgbClr val="FFFFFF"/>
                          </a:solidFill>
                          <a:latin typeface="Calibri"/>
                        </a:rPr>
                        <a:t>Bias</a:t>
                      </a:r>
                    </a:p>
                  </a:txBody>
                  <a:tcPr>
                    <a:solidFill>
                      <a:srgbClr val="1A1A1A"/>
                    </a:solidFill>
                  </a:tcPr>
                </a:tc>
                <a:extLst>
                  <a:ext uri="{0D108BD9-81ED-4DB2-BD59-A6C34878D82A}">
                    <a16:rowId xmlns:a16="http://schemas.microsoft.com/office/drawing/2014/main" val="10000"/>
                  </a:ext>
                </a:extLst>
              </a:tr>
              <a:tr h="292608">
                <a:tc>
                  <a:txBody>
                    <a:bodyPr/>
                    <a:lstStyle/>
                    <a:p>
                      <a:r>
                        <a:rPr sz="1150" b="1">
                          <a:solidFill>
                            <a:srgbClr val="0B6E4F"/>
                          </a:solidFill>
                          <a:latin typeface="Calibri"/>
                        </a:rPr>
                        <a:t>S2_median_zeroshot</a:t>
                      </a:r>
                    </a:p>
                  </a:txBody>
                  <a:tcPr>
                    <a:solidFill>
                      <a:srgbClr val="ECF4F0"/>
                    </a:solidFill>
                  </a:tcPr>
                </a:tc>
                <a:tc>
                  <a:txBody>
                    <a:bodyPr/>
                    <a:lstStyle/>
                    <a:p>
                      <a:r>
                        <a:rPr sz="1150" b="1">
                          <a:solidFill>
                            <a:srgbClr val="0B6E4F"/>
                          </a:solidFill>
                          <a:latin typeface="Calibri"/>
                        </a:rPr>
                        <a:t>25.950</a:t>
                      </a:r>
                    </a:p>
                  </a:txBody>
                  <a:tcPr>
                    <a:solidFill>
                      <a:srgbClr val="ECF4F0"/>
                    </a:solidFill>
                  </a:tcPr>
                </a:tc>
                <a:tc>
                  <a:txBody>
                    <a:bodyPr/>
                    <a:lstStyle/>
                    <a:p>
                      <a:r>
                        <a:rPr sz="1150" b="1">
                          <a:solidFill>
                            <a:srgbClr val="0B6E4F"/>
                          </a:solidFill>
                          <a:latin typeface="Calibri"/>
                        </a:rPr>
                        <a:t>16.779</a:t>
                      </a:r>
                    </a:p>
                  </a:txBody>
                  <a:tcPr>
                    <a:solidFill>
                      <a:srgbClr val="ECF4F0"/>
                    </a:solidFill>
                  </a:tcPr>
                </a:tc>
                <a:tc>
                  <a:txBody>
                    <a:bodyPr/>
                    <a:lstStyle/>
                    <a:p>
                      <a:r>
                        <a:rPr sz="1150" b="1">
                          <a:solidFill>
                            <a:srgbClr val="0B6E4F"/>
                          </a:solidFill>
                          <a:latin typeface="Calibri"/>
                        </a:rPr>
                        <a:t>0.665</a:t>
                      </a:r>
                    </a:p>
                  </a:txBody>
                  <a:tcPr>
                    <a:solidFill>
                      <a:srgbClr val="ECF4F0"/>
                    </a:solidFill>
                  </a:tcPr>
                </a:tc>
                <a:tc>
                  <a:txBody>
                    <a:bodyPr/>
                    <a:lstStyle/>
                    <a:p>
                      <a:r>
                        <a:rPr sz="1150" b="1">
                          <a:solidFill>
                            <a:srgbClr val="0B6E4F"/>
                          </a:solidFill>
                          <a:latin typeface="Calibri"/>
                        </a:rPr>
                        <a:t>−6.827</a:t>
                      </a:r>
                    </a:p>
                  </a:txBody>
                  <a:tcPr>
                    <a:solidFill>
                      <a:srgbClr val="ECF4F0"/>
                    </a:solidFill>
                  </a:tcPr>
                </a:tc>
                <a:extLst>
                  <a:ext uri="{0D108BD9-81ED-4DB2-BD59-A6C34878D82A}">
                    <a16:rowId xmlns:a16="http://schemas.microsoft.com/office/drawing/2014/main" val="10001"/>
                  </a:ext>
                </a:extLst>
              </a:tr>
              <a:tr h="292608">
                <a:tc>
                  <a:txBody>
                    <a:bodyPr/>
                    <a:lstStyle/>
                    <a:p>
                      <a:r>
                        <a:rPr sz="1150" b="0">
                          <a:solidFill>
                            <a:srgbClr val="1A1A1A"/>
                          </a:solidFill>
                          <a:latin typeface="Calibri"/>
                        </a:rPr>
                        <a:t>emb_localrf</a:t>
                      </a:r>
                    </a:p>
                  </a:txBody>
                  <a:tcPr>
                    <a:solidFill>
                      <a:srgbClr val="F7F7F7"/>
                    </a:solidFill>
                  </a:tcPr>
                </a:tc>
                <a:tc>
                  <a:txBody>
                    <a:bodyPr/>
                    <a:lstStyle/>
                    <a:p>
                      <a:r>
                        <a:rPr sz="1150" b="0">
                          <a:solidFill>
                            <a:srgbClr val="1A1A1A"/>
                          </a:solidFill>
                          <a:latin typeface="Calibri"/>
                        </a:rPr>
                        <a:t>27.242</a:t>
                      </a:r>
                    </a:p>
                  </a:txBody>
                  <a:tcPr>
                    <a:solidFill>
                      <a:srgbClr val="F7F7F7"/>
                    </a:solidFill>
                  </a:tcPr>
                </a:tc>
                <a:tc>
                  <a:txBody>
                    <a:bodyPr/>
                    <a:lstStyle/>
                    <a:p>
                      <a:r>
                        <a:rPr sz="1150" b="0">
                          <a:solidFill>
                            <a:srgbClr val="1A1A1A"/>
                          </a:solidFill>
                          <a:latin typeface="Calibri"/>
                        </a:rPr>
                        <a:t>20.294</a:t>
                      </a:r>
                    </a:p>
                  </a:txBody>
                  <a:tcPr>
                    <a:solidFill>
                      <a:srgbClr val="F7F7F7"/>
                    </a:solidFill>
                  </a:tcPr>
                </a:tc>
                <a:tc>
                  <a:txBody>
                    <a:bodyPr/>
                    <a:lstStyle/>
                    <a:p>
                      <a:r>
                        <a:rPr sz="1150" b="0">
                          <a:solidFill>
                            <a:srgbClr val="1A1A1A"/>
                          </a:solidFill>
                          <a:latin typeface="Calibri"/>
                        </a:rPr>
                        <a:t>0.630</a:t>
                      </a:r>
                    </a:p>
                  </a:txBody>
                  <a:tcPr>
                    <a:solidFill>
                      <a:srgbClr val="F7F7F7"/>
                    </a:solidFill>
                  </a:tcPr>
                </a:tc>
                <a:tc>
                  <a:txBody>
                    <a:bodyPr/>
                    <a:lstStyle/>
                    <a:p>
                      <a:r>
                        <a:rPr sz="1150" b="0">
                          <a:solidFill>
                            <a:srgbClr val="1A1A1A"/>
                          </a:solidFill>
                          <a:latin typeface="Calibri"/>
                        </a:rPr>
                        <a:t>11.088</a:t>
                      </a:r>
                    </a:p>
                  </a:txBody>
                  <a:tcPr>
                    <a:solidFill>
                      <a:srgbClr val="F7F7F7"/>
                    </a:solidFill>
                  </a:tcPr>
                </a:tc>
                <a:extLst>
                  <a:ext uri="{0D108BD9-81ED-4DB2-BD59-A6C34878D82A}">
                    <a16:rowId xmlns:a16="http://schemas.microsoft.com/office/drawing/2014/main" val="10002"/>
                  </a:ext>
                </a:extLst>
              </a:tr>
              <a:tr h="292608">
                <a:tc>
                  <a:txBody>
                    <a:bodyPr/>
                    <a:lstStyle/>
                    <a:p>
                      <a:r>
                        <a:rPr sz="1150" b="0">
                          <a:solidFill>
                            <a:srgbClr val="1A1A1A"/>
                          </a:solidFill>
                          <a:latin typeface="Calibri"/>
                        </a:rPr>
                        <a:t>S2_median_localrf</a:t>
                      </a:r>
                    </a:p>
                  </a:txBody>
                  <a:tcPr>
                    <a:solidFill>
                      <a:srgbClr val="FFFFFF"/>
                    </a:solidFill>
                  </a:tcPr>
                </a:tc>
                <a:tc>
                  <a:txBody>
                    <a:bodyPr/>
                    <a:lstStyle/>
                    <a:p>
                      <a:r>
                        <a:rPr sz="1150" b="0">
                          <a:solidFill>
                            <a:srgbClr val="1A1A1A"/>
                          </a:solidFill>
                          <a:latin typeface="Calibri"/>
                        </a:rPr>
                        <a:t>29.615</a:t>
                      </a:r>
                    </a:p>
                  </a:txBody>
                  <a:tcPr>
                    <a:solidFill>
                      <a:srgbClr val="FFFFFF"/>
                    </a:solidFill>
                  </a:tcPr>
                </a:tc>
                <a:tc>
                  <a:txBody>
                    <a:bodyPr/>
                    <a:lstStyle/>
                    <a:p>
                      <a:r>
                        <a:rPr sz="1150" b="0">
                          <a:solidFill>
                            <a:srgbClr val="1A1A1A"/>
                          </a:solidFill>
                          <a:latin typeface="Calibri"/>
                        </a:rPr>
                        <a:t>23.030</a:t>
                      </a:r>
                    </a:p>
                  </a:txBody>
                  <a:tcPr>
                    <a:solidFill>
                      <a:srgbClr val="FFFFFF"/>
                    </a:solidFill>
                  </a:tcPr>
                </a:tc>
                <a:tc>
                  <a:txBody>
                    <a:bodyPr/>
                    <a:lstStyle/>
                    <a:p>
                      <a:r>
                        <a:rPr sz="1150" b="0">
                          <a:solidFill>
                            <a:srgbClr val="1A1A1A"/>
                          </a:solidFill>
                          <a:latin typeface="Calibri"/>
                        </a:rPr>
                        <a:t>0.563</a:t>
                      </a:r>
                    </a:p>
                  </a:txBody>
                  <a:tcPr>
                    <a:solidFill>
                      <a:srgbClr val="FFFFFF"/>
                    </a:solidFill>
                  </a:tcPr>
                </a:tc>
                <a:tc>
                  <a:txBody>
                    <a:bodyPr/>
                    <a:lstStyle/>
                    <a:p>
                      <a:r>
                        <a:rPr sz="1150" b="0">
                          <a:solidFill>
                            <a:srgbClr val="1A1A1A"/>
                          </a:solidFill>
                          <a:latin typeface="Calibri"/>
                        </a:rPr>
                        <a:t>12.233</a:t>
                      </a:r>
                    </a:p>
                  </a:txBody>
                  <a:tcPr>
                    <a:solidFill>
                      <a:srgbClr val="FFFFFF"/>
                    </a:solidFill>
                  </a:tcPr>
                </a:tc>
                <a:extLst>
                  <a:ext uri="{0D108BD9-81ED-4DB2-BD59-A6C34878D82A}">
                    <a16:rowId xmlns:a16="http://schemas.microsoft.com/office/drawing/2014/main" val="10003"/>
                  </a:ext>
                </a:extLst>
              </a:tr>
              <a:tr h="292608">
                <a:tc>
                  <a:txBody>
                    <a:bodyPr/>
                    <a:lstStyle/>
                    <a:p>
                      <a:r>
                        <a:rPr sz="1150" b="0">
                          <a:solidFill>
                            <a:srgbClr val="1A1A1A"/>
                          </a:solidFill>
                          <a:latin typeface="Calibri"/>
                        </a:rPr>
                        <a:t>GHSL</a:t>
                      </a:r>
                    </a:p>
                  </a:txBody>
                  <a:tcPr>
                    <a:solidFill>
                      <a:srgbClr val="F7F7F7"/>
                    </a:solidFill>
                  </a:tcPr>
                </a:tc>
                <a:tc>
                  <a:txBody>
                    <a:bodyPr/>
                    <a:lstStyle/>
                    <a:p>
                      <a:r>
                        <a:rPr sz="1150" b="0">
                          <a:solidFill>
                            <a:srgbClr val="1A1A1A"/>
                          </a:solidFill>
                          <a:latin typeface="Calibri"/>
                        </a:rPr>
                        <a:t>37.355</a:t>
                      </a:r>
                    </a:p>
                  </a:txBody>
                  <a:tcPr>
                    <a:solidFill>
                      <a:srgbClr val="F7F7F7"/>
                    </a:solidFill>
                  </a:tcPr>
                </a:tc>
                <a:tc>
                  <a:txBody>
                    <a:bodyPr/>
                    <a:lstStyle/>
                    <a:p>
                      <a:r>
                        <a:rPr sz="1150" b="0">
                          <a:solidFill>
                            <a:srgbClr val="1A1A1A"/>
                          </a:solidFill>
                          <a:latin typeface="Calibri"/>
                        </a:rPr>
                        <a:t>25.730</a:t>
                      </a:r>
                    </a:p>
                  </a:txBody>
                  <a:tcPr>
                    <a:solidFill>
                      <a:srgbClr val="F7F7F7"/>
                    </a:solidFill>
                  </a:tcPr>
                </a:tc>
                <a:tc>
                  <a:txBody>
                    <a:bodyPr/>
                    <a:lstStyle/>
                    <a:p>
                      <a:r>
                        <a:rPr sz="1150" b="0">
                          <a:solidFill>
                            <a:srgbClr val="1A1A1A"/>
                          </a:solidFill>
                          <a:latin typeface="Calibri"/>
                        </a:rPr>
                        <a:t>0.305</a:t>
                      </a:r>
                    </a:p>
                  </a:txBody>
                  <a:tcPr>
                    <a:solidFill>
                      <a:srgbClr val="F7F7F7"/>
                    </a:solidFill>
                  </a:tcPr>
                </a:tc>
                <a:tc>
                  <a:txBody>
                    <a:bodyPr/>
                    <a:lstStyle/>
                    <a:p>
                      <a:r>
                        <a:rPr sz="1150" b="0">
                          <a:solidFill>
                            <a:srgbClr val="1A1A1A"/>
                          </a:solidFill>
                          <a:latin typeface="Calibri"/>
                        </a:rPr>
                        <a:t>19.800</a:t>
                      </a:r>
                    </a:p>
                  </a:txBody>
                  <a:tcPr>
                    <a:solidFill>
                      <a:srgbClr val="F7F7F7"/>
                    </a:solidFill>
                  </a:tcPr>
                </a:tc>
                <a:extLst>
                  <a:ext uri="{0D108BD9-81ED-4DB2-BD59-A6C34878D82A}">
                    <a16:rowId xmlns:a16="http://schemas.microsoft.com/office/drawing/2014/main" val="10004"/>
                  </a:ext>
                </a:extLst>
              </a:tr>
              <a:tr h="292608">
                <a:tc>
                  <a:txBody>
                    <a:bodyPr/>
                    <a:lstStyle/>
                    <a:p>
                      <a:r>
                        <a:rPr sz="1150" b="0">
                          <a:solidFill>
                            <a:srgbClr val="1A1A1A"/>
                          </a:solidFill>
                          <a:latin typeface="Calibri"/>
                        </a:rPr>
                        <a:t>emb_zeroshot</a:t>
                      </a:r>
                    </a:p>
                  </a:txBody>
                  <a:tcPr>
                    <a:solidFill>
                      <a:srgbClr val="FFFFFF"/>
                    </a:solidFill>
                  </a:tcPr>
                </a:tc>
                <a:tc>
                  <a:txBody>
                    <a:bodyPr/>
                    <a:lstStyle/>
                    <a:p>
                      <a:r>
                        <a:rPr sz="1150" b="0">
                          <a:solidFill>
                            <a:srgbClr val="1A1A1A"/>
                          </a:solidFill>
                          <a:latin typeface="Calibri"/>
                        </a:rPr>
                        <a:t>38.494</a:t>
                      </a:r>
                    </a:p>
                  </a:txBody>
                  <a:tcPr>
                    <a:solidFill>
                      <a:srgbClr val="FFFFFF"/>
                    </a:solidFill>
                  </a:tcPr>
                </a:tc>
                <a:tc>
                  <a:txBody>
                    <a:bodyPr/>
                    <a:lstStyle/>
                    <a:p>
                      <a:r>
                        <a:rPr sz="1150" b="0">
                          <a:solidFill>
                            <a:srgbClr val="1A1A1A"/>
                          </a:solidFill>
                          <a:latin typeface="Calibri"/>
                        </a:rPr>
                        <a:t>32.404</a:t>
                      </a:r>
                    </a:p>
                  </a:txBody>
                  <a:tcPr>
                    <a:solidFill>
                      <a:srgbClr val="FFFFFF"/>
                    </a:solidFill>
                  </a:tcPr>
                </a:tc>
                <a:tc>
                  <a:txBody>
                    <a:bodyPr/>
                    <a:lstStyle/>
                    <a:p>
                      <a:r>
                        <a:rPr sz="1150" b="0">
                          <a:solidFill>
                            <a:srgbClr val="1A1A1A"/>
                          </a:solidFill>
                          <a:latin typeface="Calibri"/>
                        </a:rPr>
                        <a:t>0.262</a:t>
                      </a:r>
                    </a:p>
                  </a:txBody>
                  <a:tcPr>
                    <a:solidFill>
                      <a:srgbClr val="FFFFFF"/>
                    </a:solidFill>
                  </a:tcPr>
                </a:tc>
                <a:tc>
                  <a:txBody>
                    <a:bodyPr/>
                    <a:lstStyle/>
                    <a:p>
                      <a:r>
                        <a:rPr sz="1150" b="0">
                          <a:solidFill>
                            <a:srgbClr val="1A1A1A"/>
                          </a:solidFill>
                          <a:latin typeface="Calibri"/>
                        </a:rPr>
                        <a:t>−19.641</a:t>
                      </a:r>
                    </a:p>
                  </a:txBody>
                  <a:tcP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A ranking that flips with the target city's level is a ranking set by level matching.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MECHANISM · 2 OF 2</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The low tail is gone, and no level correction could repair it</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Predicted IMD over the 450 HCMC plots for the four maps and the photo-interpreted reference, with each map's mean level marked.</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hcmc_prediction_histogram.png"/>
          <p:cNvPicPr>
            <a:picLocks noChangeAspect="1"/>
          </p:cNvPicPr>
          <p:nvPr/>
        </p:nvPicPr>
        <p:blipFill>
          <a:blip r:embed="rId3"/>
          <a:stretch>
            <a:fillRect/>
          </a:stretch>
        </p:blipFill>
        <p:spPr>
          <a:xfrm>
            <a:off x="1398680" y="2066544"/>
            <a:ext cx="9400735" cy="3703320"/>
          </a:xfrm>
          <a:prstGeom prst="rect">
            <a:avLst/>
          </a:prstGeom>
        </p:spPr>
      </p:pic>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The reference is bimodal; the embeddings zero-shot distribution is a narrow band with no low tail.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MECHANISM · 2 OF 2, BOTH CITIES</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The tail is lost in Hanoi too, and every local retrain restores it</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Low-tail and spread retention for all eight Vietnamese maps, computed over the full predicted rasters: 8.4 million valid pixels in Hanoi, 8.2 million in HCMC.</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58368" y="2103120"/>
          <a:ext cx="10881360" cy="2633472"/>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0000"/>
                    </a:ext>
                  </a:extLst>
                </a:gridCol>
                <a:gridCol w="2176272">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gridCol w="2176272">
                  <a:extLst>
                    <a:ext uri="{9D8B030D-6E8A-4147-A177-3AD203B41FA5}">
                      <a16:colId xmlns:a16="http://schemas.microsoft.com/office/drawing/2014/main" val="20003"/>
                    </a:ext>
                  </a:extLst>
                </a:gridCol>
                <a:gridCol w="2176272">
                  <a:extLst>
                    <a:ext uri="{9D8B030D-6E8A-4147-A177-3AD203B41FA5}">
                      <a16:colId xmlns:a16="http://schemas.microsoft.com/office/drawing/2014/main" val="20004"/>
                    </a:ext>
                  </a:extLst>
                </a:gridCol>
              </a:tblGrid>
              <a:tr h="292608">
                <a:tc>
                  <a:txBody>
                    <a:bodyPr/>
                    <a:lstStyle/>
                    <a:p>
                      <a:r>
                        <a:rPr sz="1150" b="1">
                          <a:solidFill>
                            <a:srgbClr val="FFFFFF"/>
                          </a:solidFill>
                          <a:latin typeface="Calibri"/>
                        </a:rPr>
                        <a:t>City</a:t>
                      </a:r>
                    </a:p>
                  </a:txBody>
                  <a:tcPr>
                    <a:solidFill>
                      <a:srgbClr val="1A1A1A"/>
                    </a:solidFill>
                  </a:tcPr>
                </a:tc>
                <a:tc>
                  <a:txBody>
                    <a:bodyPr/>
                    <a:lstStyle/>
                    <a:p>
                      <a:r>
                        <a:rPr sz="1150" b="1">
                          <a:solidFill>
                            <a:srgbClr val="FFFFFF"/>
                          </a:solidFill>
                          <a:latin typeface="Calibri"/>
                        </a:rPr>
                        <a:t>Map</a:t>
                      </a:r>
                    </a:p>
                  </a:txBody>
                  <a:tcPr>
                    <a:solidFill>
                      <a:srgbClr val="1A1A1A"/>
                    </a:solidFill>
                  </a:tcPr>
                </a:tc>
                <a:tc>
                  <a:txBody>
                    <a:bodyPr/>
                    <a:lstStyle/>
                    <a:p>
                      <a:r>
                        <a:rPr sz="1150" b="1">
                          <a:solidFill>
                            <a:srgbClr val="FFFFFF"/>
                          </a:solidFill>
                          <a:latin typeface="Calibri"/>
                        </a:rPr>
                        <a:t>Scenario</a:t>
                      </a:r>
                    </a:p>
                  </a:txBody>
                  <a:tcPr>
                    <a:solidFill>
                      <a:srgbClr val="1A1A1A"/>
                    </a:solidFill>
                  </a:tcPr>
                </a:tc>
                <a:tc>
                  <a:txBody>
                    <a:bodyPr/>
                    <a:lstStyle/>
                    <a:p>
                      <a:r>
                        <a:rPr sz="1150" b="1">
                          <a:solidFill>
                            <a:srgbClr val="FFFFFF"/>
                          </a:solidFill>
                          <a:latin typeface="Calibri"/>
                        </a:rPr>
                        <a:t>Tail retained (%)</a:t>
                      </a:r>
                    </a:p>
                  </a:txBody>
                  <a:tcPr>
                    <a:solidFill>
                      <a:srgbClr val="1A1A1A"/>
                    </a:solidFill>
                  </a:tcPr>
                </a:tc>
                <a:tc>
                  <a:txBody>
                    <a:bodyPr/>
                    <a:lstStyle/>
                    <a:p>
                      <a:r>
                        <a:rPr sz="1150" b="1">
                          <a:solidFill>
                            <a:srgbClr val="FFFFFF"/>
                          </a:solidFill>
                          <a:latin typeface="Calibri"/>
                        </a:rPr>
                        <a:t>Spread retained (%)</a:t>
                      </a:r>
                    </a:p>
                  </a:txBody>
                  <a:tcPr>
                    <a:solidFill>
                      <a:srgbClr val="1A1A1A"/>
                    </a:solidFill>
                  </a:tcPr>
                </a:tc>
                <a:extLst>
                  <a:ext uri="{0D108BD9-81ED-4DB2-BD59-A6C34878D82A}">
                    <a16:rowId xmlns:a16="http://schemas.microsoft.com/office/drawing/2014/main" val="10000"/>
                  </a:ext>
                </a:extLst>
              </a:tr>
              <a:tr h="292608">
                <a:tc>
                  <a:txBody>
                    <a:bodyPr/>
                    <a:lstStyle/>
                    <a:p>
                      <a:r>
                        <a:rPr sz="1150" b="0">
                          <a:solidFill>
                            <a:srgbClr val="1A1A1A"/>
                          </a:solidFill>
                          <a:latin typeface="Calibri"/>
                        </a:rPr>
                        <a:t>Hanoi</a:t>
                      </a:r>
                    </a:p>
                  </a:txBody>
                  <a:tcPr>
                    <a:solidFill>
                      <a:srgbClr val="FFFFFF"/>
                    </a:solidFill>
                  </a:tcPr>
                </a:tc>
                <a:tc>
                  <a:txBody>
                    <a:bodyPr/>
                    <a:lstStyle/>
                    <a:p>
                      <a:r>
                        <a:rPr sz="1150" b="0">
                          <a:solidFill>
                            <a:srgbClr val="1A1A1A"/>
                          </a:solidFill>
                          <a:latin typeface="Calibri"/>
                        </a:rPr>
                        <a:t>emb_zeroshot</a:t>
                      </a:r>
                    </a:p>
                  </a:txBody>
                  <a:tcPr>
                    <a:solidFill>
                      <a:srgbClr val="FFFFFF"/>
                    </a:solidFill>
                  </a:tcPr>
                </a:tc>
                <a:tc>
                  <a:txBody>
                    <a:bodyPr/>
                    <a:lstStyle/>
                    <a:p>
                      <a:r>
                        <a:rPr sz="1150" b="0">
                          <a:solidFill>
                            <a:srgbClr val="1A1A1A"/>
                          </a:solidFill>
                          <a:latin typeface="Calibri"/>
                        </a:rPr>
                        <a:t>zero-shot</a:t>
                      </a:r>
                    </a:p>
                  </a:txBody>
                  <a:tcPr>
                    <a:solidFill>
                      <a:srgbClr val="FFFFFF"/>
                    </a:solidFill>
                  </a:tcPr>
                </a:tc>
                <a:tc>
                  <a:txBody>
                    <a:bodyPr/>
                    <a:lstStyle/>
                    <a:p>
                      <a:r>
                        <a:rPr sz="1150" b="0">
                          <a:solidFill>
                            <a:srgbClr val="1A1A1A"/>
                          </a:solidFill>
                          <a:latin typeface="Calibri"/>
                        </a:rPr>
                        <a:t>3.1</a:t>
                      </a:r>
                    </a:p>
                  </a:txBody>
                  <a:tcPr>
                    <a:solidFill>
                      <a:srgbClr val="FFFFFF"/>
                    </a:solidFill>
                  </a:tcPr>
                </a:tc>
                <a:tc>
                  <a:txBody>
                    <a:bodyPr/>
                    <a:lstStyle/>
                    <a:p>
                      <a:r>
                        <a:rPr sz="1150" b="0">
                          <a:solidFill>
                            <a:srgbClr val="1A1A1A"/>
                          </a:solidFill>
                          <a:latin typeface="Calibri"/>
                        </a:rPr>
                        <a:t>37</a:t>
                      </a:r>
                    </a:p>
                  </a:txBody>
                  <a:tcPr>
                    <a:solidFill>
                      <a:srgbClr val="FFFFFF"/>
                    </a:solidFill>
                  </a:tcPr>
                </a:tc>
                <a:extLst>
                  <a:ext uri="{0D108BD9-81ED-4DB2-BD59-A6C34878D82A}">
                    <a16:rowId xmlns:a16="http://schemas.microsoft.com/office/drawing/2014/main" val="10001"/>
                  </a:ext>
                </a:extLst>
              </a:tr>
              <a:tr h="292608">
                <a:tc>
                  <a:txBody>
                    <a:bodyPr/>
                    <a:lstStyle/>
                    <a:p>
                      <a:r>
                        <a:rPr sz="1150" b="0">
                          <a:solidFill>
                            <a:srgbClr val="1A1A1A"/>
                          </a:solidFill>
                          <a:latin typeface="Calibri"/>
                        </a:rPr>
                        <a:t>Hanoi</a:t>
                      </a:r>
                    </a:p>
                  </a:txBody>
                  <a:tcPr>
                    <a:solidFill>
                      <a:srgbClr val="F7F7F7"/>
                    </a:solidFill>
                  </a:tcPr>
                </a:tc>
                <a:tc>
                  <a:txBody>
                    <a:bodyPr/>
                    <a:lstStyle/>
                    <a:p>
                      <a:r>
                        <a:rPr sz="1150" b="0">
                          <a:solidFill>
                            <a:srgbClr val="1A1A1A"/>
                          </a:solidFill>
                          <a:latin typeface="Calibri"/>
                        </a:rPr>
                        <a:t>S2_median_zeroshot</a:t>
                      </a:r>
                    </a:p>
                  </a:txBody>
                  <a:tcPr>
                    <a:solidFill>
                      <a:srgbClr val="F7F7F7"/>
                    </a:solidFill>
                  </a:tcPr>
                </a:tc>
                <a:tc>
                  <a:txBody>
                    <a:bodyPr/>
                    <a:lstStyle/>
                    <a:p>
                      <a:r>
                        <a:rPr sz="1150" b="0">
                          <a:solidFill>
                            <a:srgbClr val="1A1A1A"/>
                          </a:solidFill>
                          <a:latin typeface="Calibri"/>
                        </a:rPr>
                        <a:t>zero-shot</a:t>
                      </a:r>
                    </a:p>
                  </a:txBody>
                  <a:tcPr>
                    <a:solidFill>
                      <a:srgbClr val="F7F7F7"/>
                    </a:solidFill>
                  </a:tcPr>
                </a:tc>
                <a:tc>
                  <a:txBody>
                    <a:bodyPr/>
                    <a:lstStyle/>
                    <a:p>
                      <a:r>
                        <a:rPr sz="1150" b="0">
                          <a:solidFill>
                            <a:srgbClr val="1A1A1A"/>
                          </a:solidFill>
                          <a:latin typeface="Calibri"/>
                        </a:rPr>
                        <a:t>30.6</a:t>
                      </a:r>
                    </a:p>
                  </a:txBody>
                  <a:tcPr>
                    <a:solidFill>
                      <a:srgbClr val="F7F7F7"/>
                    </a:solidFill>
                  </a:tcPr>
                </a:tc>
                <a:tc>
                  <a:txBody>
                    <a:bodyPr/>
                    <a:lstStyle/>
                    <a:p>
                      <a:r>
                        <a:rPr sz="1150" b="0">
                          <a:solidFill>
                            <a:srgbClr val="1A1A1A"/>
                          </a:solidFill>
                          <a:latin typeface="Calibri"/>
                        </a:rPr>
                        <a:t>53</a:t>
                      </a:r>
                    </a:p>
                  </a:txBody>
                  <a:tcPr>
                    <a:solidFill>
                      <a:srgbClr val="F7F7F7"/>
                    </a:solidFill>
                  </a:tcPr>
                </a:tc>
                <a:extLst>
                  <a:ext uri="{0D108BD9-81ED-4DB2-BD59-A6C34878D82A}">
                    <a16:rowId xmlns:a16="http://schemas.microsoft.com/office/drawing/2014/main" val="10002"/>
                  </a:ext>
                </a:extLst>
              </a:tr>
              <a:tr h="292608">
                <a:tc>
                  <a:txBody>
                    <a:bodyPr/>
                    <a:lstStyle/>
                    <a:p>
                      <a:r>
                        <a:rPr sz="1150" b="0">
                          <a:solidFill>
                            <a:srgbClr val="1A1A1A"/>
                          </a:solidFill>
                          <a:latin typeface="Calibri"/>
                        </a:rPr>
                        <a:t>Hanoi</a:t>
                      </a:r>
                    </a:p>
                  </a:txBody>
                  <a:tcPr>
                    <a:solidFill>
                      <a:srgbClr val="FFFFFF"/>
                    </a:solidFill>
                  </a:tcPr>
                </a:tc>
                <a:tc>
                  <a:txBody>
                    <a:bodyPr/>
                    <a:lstStyle/>
                    <a:p>
                      <a:r>
                        <a:rPr sz="1150" b="0">
                          <a:solidFill>
                            <a:srgbClr val="1A1A1A"/>
                          </a:solidFill>
                          <a:latin typeface="Calibri"/>
                        </a:rPr>
                        <a:t>emb_localrf</a:t>
                      </a:r>
                    </a:p>
                  </a:txBody>
                  <a:tcPr>
                    <a:solidFill>
                      <a:srgbClr val="FFFFFF"/>
                    </a:solidFill>
                  </a:tcPr>
                </a:tc>
                <a:tc>
                  <a:txBody>
                    <a:bodyPr/>
                    <a:lstStyle/>
                    <a:p>
                      <a:r>
                        <a:rPr sz="1150" b="0">
                          <a:solidFill>
                            <a:srgbClr val="1A1A1A"/>
                          </a:solidFill>
                          <a:latin typeface="Calibri"/>
                        </a:rPr>
                        <a:t>local retrain</a:t>
                      </a:r>
                    </a:p>
                  </a:txBody>
                  <a:tcPr>
                    <a:solidFill>
                      <a:srgbClr val="FFFFFF"/>
                    </a:solidFill>
                  </a:tcPr>
                </a:tc>
                <a:tc>
                  <a:txBody>
                    <a:bodyPr/>
                    <a:lstStyle/>
                    <a:p>
                      <a:r>
                        <a:rPr sz="1150" b="0">
                          <a:solidFill>
                            <a:srgbClr val="1A1A1A"/>
                          </a:solidFill>
                          <a:latin typeface="Calibri"/>
                        </a:rPr>
                        <a:t>136.0</a:t>
                      </a:r>
                    </a:p>
                  </a:txBody>
                  <a:tcPr>
                    <a:solidFill>
                      <a:srgbClr val="FFFFFF"/>
                    </a:solidFill>
                  </a:tcPr>
                </a:tc>
                <a:tc>
                  <a:txBody>
                    <a:bodyPr/>
                    <a:lstStyle/>
                    <a:p>
                      <a:r>
                        <a:rPr sz="1150" b="0">
                          <a:solidFill>
                            <a:srgbClr val="1A1A1A"/>
                          </a:solidFill>
                          <a:latin typeface="Calibri"/>
                        </a:rPr>
                        <a:t>61</a:t>
                      </a:r>
                    </a:p>
                  </a:txBody>
                  <a:tcPr>
                    <a:solidFill>
                      <a:srgbClr val="FFFFFF"/>
                    </a:solidFill>
                  </a:tcPr>
                </a:tc>
                <a:extLst>
                  <a:ext uri="{0D108BD9-81ED-4DB2-BD59-A6C34878D82A}">
                    <a16:rowId xmlns:a16="http://schemas.microsoft.com/office/drawing/2014/main" val="10003"/>
                  </a:ext>
                </a:extLst>
              </a:tr>
              <a:tr h="292608">
                <a:tc>
                  <a:txBody>
                    <a:bodyPr/>
                    <a:lstStyle/>
                    <a:p>
                      <a:r>
                        <a:rPr sz="1150" b="0">
                          <a:solidFill>
                            <a:srgbClr val="1A1A1A"/>
                          </a:solidFill>
                          <a:latin typeface="Calibri"/>
                        </a:rPr>
                        <a:t>Hanoi</a:t>
                      </a:r>
                    </a:p>
                  </a:txBody>
                  <a:tcPr>
                    <a:solidFill>
                      <a:srgbClr val="F7F7F7"/>
                    </a:solidFill>
                  </a:tcPr>
                </a:tc>
                <a:tc>
                  <a:txBody>
                    <a:bodyPr/>
                    <a:lstStyle/>
                    <a:p>
                      <a:r>
                        <a:rPr sz="1150" b="0">
                          <a:solidFill>
                            <a:srgbClr val="1A1A1A"/>
                          </a:solidFill>
                          <a:latin typeface="Calibri"/>
                        </a:rPr>
                        <a:t>S2_median_localrf</a:t>
                      </a:r>
                    </a:p>
                  </a:txBody>
                  <a:tcPr>
                    <a:solidFill>
                      <a:srgbClr val="F7F7F7"/>
                    </a:solidFill>
                  </a:tcPr>
                </a:tc>
                <a:tc>
                  <a:txBody>
                    <a:bodyPr/>
                    <a:lstStyle/>
                    <a:p>
                      <a:r>
                        <a:rPr sz="1150" b="0">
                          <a:solidFill>
                            <a:srgbClr val="1A1A1A"/>
                          </a:solidFill>
                          <a:latin typeface="Calibri"/>
                        </a:rPr>
                        <a:t>local retrain</a:t>
                      </a:r>
                    </a:p>
                  </a:txBody>
                  <a:tcPr>
                    <a:solidFill>
                      <a:srgbClr val="F7F7F7"/>
                    </a:solidFill>
                  </a:tcPr>
                </a:tc>
                <a:tc>
                  <a:txBody>
                    <a:bodyPr/>
                    <a:lstStyle/>
                    <a:p>
                      <a:r>
                        <a:rPr sz="1150" b="0">
                          <a:solidFill>
                            <a:srgbClr val="1A1A1A"/>
                          </a:solidFill>
                          <a:latin typeface="Calibri"/>
                        </a:rPr>
                        <a:t>124.4</a:t>
                      </a:r>
                    </a:p>
                  </a:txBody>
                  <a:tcPr>
                    <a:solidFill>
                      <a:srgbClr val="F7F7F7"/>
                    </a:solidFill>
                  </a:tcPr>
                </a:tc>
                <a:tc>
                  <a:txBody>
                    <a:bodyPr/>
                    <a:lstStyle/>
                    <a:p>
                      <a:r>
                        <a:rPr sz="1150" b="0">
                          <a:solidFill>
                            <a:srgbClr val="1A1A1A"/>
                          </a:solidFill>
                          <a:latin typeface="Calibri"/>
                        </a:rPr>
                        <a:t>51</a:t>
                      </a:r>
                    </a:p>
                  </a:txBody>
                  <a:tcPr>
                    <a:solidFill>
                      <a:srgbClr val="F7F7F7"/>
                    </a:solidFill>
                  </a:tcPr>
                </a:tc>
                <a:extLst>
                  <a:ext uri="{0D108BD9-81ED-4DB2-BD59-A6C34878D82A}">
                    <a16:rowId xmlns:a16="http://schemas.microsoft.com/office/drawing/2014/main" val="10004"/>
                  </a:ext>
                </a:extLst>
              </a:tr>
              <a:tr h="292608">
                <a:tc>
                  <a:txBody>
                    <a:bodyPr/>
                    <a:lstStyle/>
                    <a:p>
                      <a:r>
                        <a:rPr sz="1150" b="0">
                          <a:solidFill>
                            <a:srgbClr val="1A1A1A"/>
                          </a:solidFill>
                          <a:latin typeface="Calibri"/>
                        </a:rPr>
                        <a:t>HCMC</a:t>
                      </a:r>
                    </a:p>
                  </a:txBody>
                  <a:tcPr>
                    <a:solidFill>
                      <a:srgbClr val="FFFFFF"/>
                    </a:solidFill>
                  </a:tcPr>
                </a:tc>
                <a:tc>
                  <a:txBody>
                    <a:bodyPr/>
                    <a:lstStyle/>
                    <a:p>
                      <a:r>
                        <a:rPr sz="1150" b="0">
                          <a:solidFill>
                            <a:srgbClr val="1A1A1A"/>
                          </a:solidFill>
                          <a:latin typeface="Calibri"/>
                        </a:rPr>
                        <a:t>emb_zeroshot</a:t>
                      </a:r>
                    </a:p>
                  </a:txBody>
                  <a:tcPr>
                    <a:solidFill>
                      <a:srgbClr val="FFFFFF"/>
                    </a:solidFill>
                  </a:tcPr>
                </a:tc>
                <a:tc>
                  <a:txBody>
                    <a:bodyPr/>
                    <a:lstStyle/>
                    <a:p>
                      <a:r>
                        <a:rPr sz="1150" b="0">
                          <a:solidFill>
                            <a:srgbClr val="1A1A1A"/>
                          </a:solidFill>
                          <a:latin typeface="Calibri"/>
                        </a:rPr>
                        <a:t>zero-shot</a:t>
                      </a:r>
                    </a:p>
                  </a:txBody>
                  <a:tcPr>
                    <a:solidFill>
                      <a:srgbClr val="FFFFFF"/>
                    </a:solidFill>
                  </a:tcPr>
                </a:tc>
                <a:tc>
                  <a:txBody>
                    <a:bodyPr/>
                    <a:lstStyle/>
                    <a:p>
                      <a:r>
                        <a:rPr sz="1150" b="0">
                          <a:solidFill>
                            <a:srgbClr val="1A1A1A"/>
                          </a:solidFill>
                          <a:latin typeface="Calibri"/>
                        </a:rPr>
                        <a:t>0.0</a:t>
                      </a:r>
                    </a:p>
                  </a:txBody>
                  <a:tcPr>
                    <a:solidFill>
                      <a:srgbClr val="FFFFFF"/>
                    </a:solidFill>
                  </a:tcPr>
                </a:tc>
                <a:tc>
                  <a:txBody>
                    <a:bodyPr/>
                    <a:lstStyle/>
                    <a:p>
                      <a:r>
                        <a:rPr sz="1150" b="0">
                          <a:solidFill>
                            <a:srgbClr val="1A1A1A"/>
                          </a:solidFill>
                          <a:latin typeface="Calibri"/>
                        </a:rPr>
                        <a:t>26</a:t>
                      </a:r>
                    </a:p>
                  </a:txBody>
                  <a:tcPr>
                    <a:solidFill>
                      <a:srgbClr val="FFFFFF"/>
                    </a:solidFill>
                  </a:tcPr>
                </a:tc>
                <a:extLst>
                  <a:ext uri="{0D108BD9-81ED-4DB2-BD59-A6C34878D82A}">
                    <a16:rowId xmlns:a16="http://schemas.microsoft.com/office/drawing/2014/main" val="10005"/>
                  </a:ext>
                </a:extLst>
              </a:tr>
              <a:tr h="292608">
                <a:tc>
                  <a:txBody>
                    <a:bodyPr/>
                    <a:lstStyle/>
                    <a:p>
                      <a:r>
                        <a:rPr sz="1150" b="0">
                          <a:solidFill>
                            <a:srgbClr val="1A1A1A"/>
                          </a:solidFill>
                          <a:latin typeface="Calibri"/>
                        </a:rPr>
                        <a:t>HCMC</a:t>
                      </a:r>
                    </a:p>
                  </a:txBody>
                  <a:tcPr>
                    <a:solidFill>
                      <a:srgbClr val="F7F7F7"/>
                    </a:solidFill>
                  </a:tcPr>
                </a:tc>
                <a:tc>
                  <a:txBody>
                    <a:bodyPr/>
                    <a:lstStyle/>
                    <a:p>
                      <a:r>
                        <a:rPr sz="1150" b="0">
                          <a:solidFill>
                            <a:srgbClr val="1A1A1A"/>
                          </a:solidFill>
                          <a:latin typeface="Calibri"/>
                        </a:rPr>
                        <a:t>S2_median_zeroshot</a:t>
                      </a:r>
                    </a:p>
                  </a:txBody>
                  <a:tcPr>
                    <a:solidFill>
                      <a:srgbClr val="F7F7F7"/>
                    </a:solidFill>
                  </a:tcPr>
                </a:tc>
                <a:tc>
                  <a:txBody>
                    <a:bodyPr/>
                    <a:lstStyle/>
                    <a:p>
                      <a:r>
                        <a:rPr sz="1150" b="0">
                          <a:solidFill>
                            <a:srgbClr val="1A1A1A"/>
                          </a:solidFill>
                          <a:latin typeface="Calibri"/>
                        </a:rPr>
                        <a:t>zero-shot</a:t>
                      </a:r>
                    </a:p>
                  </a:txBody>
                  <a:tcPr>
                    <a:solidFill>
                      <a:srgbClr val="F7F7F7"/>
                    </a:solidFill>
                  </a:tcPr>
                </a:tc>
                <a:tc>
                  <a:txBody>
                    <a:bodyPr/>
                    <a:lstStyle/>
                    <a:p>
                      <a:r>
                        <a:rPr sz="1150" b="0">
                          <a:solidFill>
                            <a:srgbClr val="1A1A1A"/>
                          </a:solidFill>
                          <a:latin typeface="Calibri"/>
                        </a:rPr>
                        <a:t>68.7</a:t>
                      </a:r>
                    </a:p>
                  </a:txBody>
                  <a:tcPr>
                    <a:solidFill>
                      <a:srgbClr val="F7F7F7"/>
                    </a:solidFill>
                  </a:tcPr>
                </a:tc>
                <a:tc>
                  <a:txBody>
                    <a:bodyPr/>
                    <a:lstStyle/>
                    <a:p>
                      <a:r>
                        <a:rPr sz="1150" b="0">
                          <a:solidFill>
                            <a:srgbClr val="1A1A1A"/>
                          </a:solidFill>
                          <a:latin typeface="Calibri"/>
                        </a:rPr>
                        <a:t>75</a:t>
                      </a:r>
                    </a:p>
                  </a:txBody>
                  <a:tcPr>
                    <a:solidFill>
                      <a:srgbClr val="F7F7F7"/>
                    </a:solidFill>
                  </a:tcPr>
                </a:tc>
                <a:extLst>
                  <a:ext uri="{0D108BD9-81ED-4DB2-BD59-A6C34878D82A}">
                    <a16:rowId xmlns:a16="http://schemas.microsoft.com/office/drawing/2014/main" val="10006"/>
                  </a:ext>
                </a:extLst>
              </a:tr>
              <a:tr h="292608">
                <a:tc>
                  <a:txBody>
                    <a:bodyPr/>
                    <a:lstStyle/>
                    <a:p>
                      <a:r>
                        <a:rPr sz="1150" b="0">
                          <a:solidFill>
                            <a:srgbClr val="1A1A1A"/>
                          </a:solidFill>
                          <a:latin typeface="Calibri"/>
                        </a:rPr>
                        <a:t>HCMC</a:t>
                      </a:r>
                    </a:p>
                  </a:txBody>
                  <a:tcPr>
                    <a:solidFill>
                      <a:srgbClr val="FFFFFF"/>
                    </a:solidFill>
                  </a:tcPr>
                </a:tc>
                <a:tc>
                  <a:txBody>
                    <a:bodyPr/>
                    <a:lstStyle/>
                    <a:p>
                      <a:r>
                        <a:rPr sz="1150" b="0">
                          <a:solidFill>
                            <a:srgbClr val="1A1A1A"/>
                          </a:solidFill>
                          <a:latin typeface="Calibri"/>
                        </a:rPr>
                        <a:t>emb_localrf</a:t>
                      </a:r>
                    </a:p>
                  </a:txBody>
                  <a:tcPr>
                    <a:solidFill>
                      <a:srgbClr val="FFFFFF"/>
                    </a:solidFill>
                  </a:tcPr>
                </a:tc>
                <a:tc>
                  <a:txBody>
                    <a:bodyPr/>
                    <a:lstStyle/>
                    <a:p>
                      <a:r>
                        <a:rPr sz="1150" b="0">
                          <a:solidFill>
                            <a:srgbClr val="1A1A1A"/>
                          </a:solidFill>
                          <a:latin typeface="Calibri"/>
                        </a:rPr>
                        <a:t>local retrain</a:t>
                      </a:r>
                    </a:p>
                  </a:txBody>
                  <a:tcPr>
                    <a:solidFill>
                      <a:srgbClr val="FFFFFF"/>
                    </a:solidFill>
                  </a:tcPr>
                </a:tc>
                <a:tc>
                  <a:txBody>
                    <a:bodyPr/>
                    <a:lstStyle/>
                    <a:p>
                      <a:r>
                        <a:rPr sz="1150" b="0">
                          <a:solidFill>
                            <a:srgbClr val="1A1A1A"/>
                          </a:solidFill>
                          <a:latin typeface="Calibri"/>
                        </a:rPr>
                        <a:t>108.3</a:t>
                      </a:r>
                    </a:p>
                  </a:txBody>
                  <a:tcPr>
                    <a:solidFill>
                      <a:srgbClr val="FFFFFF"/>
                    </a:solidFill>
                  </a:tcPr>
                </a:tc>
                <a:tc>
                  <a:txBody>
                    <a:bodyPr/>
                    <a:lstStyle/>
                    <a:p>
                      <a:r>
                        <a:rPr sz="1150" b="0">
                          <a:solidFill>
                            <a:srgbClr val="1A1A1A"/>
                          </a:solidFill>
                          <a:latin typeface="Calibri"/>
                        </a:rPr>
                        <a:t>57</a:t>
                      </a:r>
                    </a:p>
                  </a:txBody>
                  <a:tcPr>
                    <a:solidFill>
                      <a:srgbClr val="FFFFFF"/>
                    </a:solidFill>
                  </a:tcPr>
                </a:tc>
                <a:extLst>
                  <a:ext uri="{0D108BD9-81ED-4DB2-BD59-A6C34878D82A}">
                    <a16:rowId xmlns:a16="http://schemas.microsoft.com/office/drawing/2014/main" val="10007"/>
                  </a:ext>
                </a:extLst>
              </a:tr>
              <a:tr h="292608">
                <a:tc>
                  <a:txBody>
                    <a:bodyPr/>
                    <a:lstStyle/>
                    <a:p>
                      <a:r>
                        <a:rPr sz="1150" b="0">
                          <a:solidFill>
                            <a:srgbClr val="1A1A1A"/>
                          </a:solidFill>
                          <a:latin typeface="Calibri"/>
                        </a:rPr>
                        <a:t>HCMC</a:t>
                      </a:r>
                    </a:p>
                  </a:txBody>
                  <a:tcPr>
                    <a:solidFill>
                      <a:srgbClr val="F7F7F7"/>
                    </a:solidFill>
                  </a:tcPr>
                </a:tc>
                <a:tc>
                  <a:txBody>
                    <a:bodyPr/>
                    <a:lstStyle/>
                    <a:p>
                      <a:r>
                        <a:rPr sz="1150" b="0">
                          <a:solidFill>
                            <a:srgbClr val="1A1A1A"/>
                          </a:solidFill>
                          <a:latin typeface="Calibri"/>
                        </a:rPr>
                        <a:t>S2_median_localrf</a:t>
                      </a:r>
                    </a:p>
                  </a:txBody>
                  <a:tcPr>
                    <a:solidFill>
                      <a:srgbClr val="F7F7F7"/>
                    </a:solidFill>
                  </a:tcPr>
                </a:tc>
                <a:tc>
                  <a:txBody>
                    <a:bodyPr/>
                    <a:lstStyle/>
                    <a:p>
                      <a:r>
                        <a:rPr sz="1150" b="0">
                          <a:solidFill>
                            <a:srgbClr val="1A1A1A"/>
                          </a:solidFill>
                          <a:latin typeface="Calibri"/>
                        </a:rPr>
                        <a:t>local retrain</a:t>
                      </a:r>
                    </a:p>
                  </a:txBody>
                  <a:tcPr>
                    <a:solidFill>
                      <a:srgbClr val="F7F7F7"/>
                    </a:solidFill>
                  </a:tcPr>
                </a:tc>
                <a:tc>
                  <a:txBody>
                    <a:bodyPr/>
                    <a:lstStyle/>
                    <a:p>
                      <a:r>
                        <a:rPr sz="1150" b="0">
                          <a:solidFill>
                            <a:srgbClr val="1A1A1A"/>
                          </a:solidFill>
                          <a:latin typeface="Calibri"/>
                        </a:rPr>
                        <a:t>104.0</a:t>
                      </a:r>
                    </a:p>
                  </a:txBody>
                  <a:tcPr>
                    <a:solidFill>
                      <a:srgbClr val="F7F7F7"/>
                    </a:solidFill>
                  </a:tcPr>
                </a:tc>
                <a:tc>
                  <a:txBody>
                    <a:bodyPr/>
                    <a:lstStyle/>
                    <a:p>
                      <a:r>
                        <a:rPr sz="1150" b="0">
                          <a:solidFill>
                            <a:srgbClr val="1A1A1A"/>
                          </a:solidFill>
                          <a:latin typeface="Calibri"/>
                        </a:rPr>
                        <a:t>51</a:t>
                      </a:r>
                    </a:p>
                  </a:txBody>
                  <a:tcPr>
                    <a:solidFill>
                      <a:srgbClr val="F7F7F7"/>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Zero-shot embeddings retain 3.1 % of the reference's sub-20 % mass in Hanoi and 0.0 % in HCMC; the retrains retain 104–136 %.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MECHANISM · WHAT RETRAINING RECOVERS</a:t>
            </a:r>
          </a:p>
        </p:txBody>
      </p:sp>
      <p:sp>
        <p:nvSpPr>
          <p:cNvPr id="3" name="TextBox 2"/>
          <p:cNvSpPr txBox="1"/>
          <p:nvPr/>
        </p:nvSpPr>
        <p:spPr>
          <a:xfrm>
            <a:off x="658368" y="548640"/>
            <a:ext cx="10881360" cy="537648"/>
          </a:xfrm>
          <a:prstGeom prst="rect">
            <a:avLst/>
          </a:prstGeom>
          <a:noFill/>
        </p:spPr>
        <p:txBody>
          <a:bodyPr wrap="square">
            <a:spAutoFit/>
          </a:bodyPr>
          <a:lstStyle/>
          <a:p>
            <a:pPr algn="l">
              <a:lnSpc>
                <a:spcPct val="125000"/>
              </a:lnSpc>
            </a:pPr>
            <a:r>
              <a:rPr sz="2500" b="1" i="0" dirty="0">
                <a:solidFill>
                  <a:srgbClr val="1A1A1A"/>
                </a:solidFill>
                <a:latin typeface="Calibri"/>
              </a:rPr>
              <a:t>A model can score better than its own training target</a:t>
            </a:r>
          </a:p>
        </p:txBody>
      </p:sp>
      <p:sp>
        <p:nvSpPr>
          <p:cNvPr id="4" name="TextBox 3"/>
          <p:cNvSpPr txBox="1"/>
          <p:nvPr/>
        </p:nvSpPr>
        <p:spPr>
          <a:xfrm>
            <a:off x="658368" y="1298448"/>
            <a:ext cx="10881360" cy="548640"/>
          </a:xfrm>
          <a:prstGeom prst="rect">
            <a:avLst/>
          </a:prstGeom>
          <a:noFill/>
        </p:spPr>
        <p:txBody>
          <a:bodyPr wrap="square">
            <a:spAutoFit/>
          </a:bodyPr>
          <a:lstStyle/>
          <a:p>
            <a:pPr algn="l">
              <a:lnSpc>
                <a:spcPct val="130000"/>
              </a:lnSpc>
            </a:pPr>
            <a:r>
              <a:rPr sz="1300" b="0" i="0">
                <a:solidFill>
                  <a:srgbClr val="6B6B6B"/>
                </a:solidFill>
                <a:latin typeface="Calibri"/>
              </a:rPr>
              <a:t>GHS-BUILT-S under-marks by 19.68 pp in Hanoi and 19.80 in HCMC. The models fitted to it are biased by only 6.59 to 12.23, recovering 38 % to 67 % of the deficit.</a:t>
            </a:r>
          </a:p>
        </p:txBody>
      </p:sp>
      <p:sp>
        <p:nvSpPr>
          <p:cNvPr id="5" name="Rectangle 4"/>
          <p:cNvSpPr/>
          <p:nvPr/>
        </p:nvSpPr>
        <p:spPr>
          <a:xfrm>
            <a:off x="658368" y="184708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bias_recovery.png"/>
          <p:cNvPicPr>
            <a:picLocks noChangeAspect="1"/>
          </p:cNvPicPr>
          <p:nvPr/>
        </p:nvPicPr>
        <p:blipFill>
          <a:blip r:embed="rId3"/>
          <a:stretch>
            <a:fillRect/>
          </a:stretch>
        </p:blipFill>
        <p:spPr>
          <a:xfrm>
            <a:off x="3325191" y="2048256"/>
            <a:ext cx="5547714" cy="251460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3619044450"/>
              </p:ext>
            </p:extLst>
          </p:nvPr>
        </p:nvGraphicFramePr>
        <p:xfrm>
          <a:off x="1806943" y="4828032"/>
          <a:ext cx="8898227" cy="1257300"/>
        </p:xfrm>
        <a:graphic>
          <a:graphicData uri="http://schemas.openxmlformats.org/drawingml/2006/table">
            <a:tbl>
              <a:tblPr firstRow="1" bandRow="1">
                <a:tableStyleId>{5C22544A-7EE6-4342-B048-85BDC9FD1C3A}</a:tableStyleId>
              </a:tblPr>
              <a:tblGrid>
                <a:gridCol w="1271175">
                  <a:extLst>
                    <a:ext uri="{9D8B030D-6E8A-4147-A177-3AD203B41FA5}">
                      <a16:colId xmlns:a16="http://schemas.microsoft.com/office/drawing/2014/main" val="20000"/>
                    </a:ext>
                  </a:extLst>
                </a:gridCol>
                <a:gridCol w="1271175">
                  <a:extLst>
                    <a:ext uri="{9D8B030D-6E8A-4147-A177-3AD203B41FA5}">
                      <a16:colId xmlns:a16="http://schemas.microsoft.com/office/drawing/2014/main" val="20001"/>
                    </a:ext>
                  </a:extLst>
                </a:gridCol>
                <a:gridCol w="1271175">
                  <a:extLst>
                    <a:ext uri="{9D8B030D-6E8A-4147-A177-3AD203B41FA5}">
                      <a16:colId xmlns:a16="http://schemas.microsoft.com/office/drawing/2014/main" val="20002"/>
                    </a:ext>
                  </a:extLst>
                </a:gridCol>
                <a:gridCol w="1271175">
                  <a:extLst>
                    <a:ext uri="{9D8B030D-6E8A-4147-A177-3AD203B41FA5}">
                      <a16:colId xmlns:a16="http://schemas.microsoft.com/office/drawing/2014/main" val="20003"/>
                    </a:ext>
                  </a:extLst>
                </a:gridCol>
                <a:gridCol w="1271175">
                  <a:extLst>
                    <a:ext uri="{9D8B030D-6E8A-4147-A177-3AD203B41FA5}">
                      <a16:colId xmlns:a16="http://schemas.microsoft.com/office/drawing/2014/main" val="20004"/>
                    </a:ext>
                  </a:extLst>
                </a:gridCol>
                <a:gridCol w="1271175">
                  <a:extLst>
                    <a:ext uri="{9D8B030D-6E8A-4147-A177-3AD203B41FA5}">
                      <a16:colId xmlns:a16="http://schemas.microsoft.com/office/drawing/2014/main" val="20005"/>
                    </a:ext>
                  </a:extLst>
                </a:gridCol>
                <a:gridCol w="1271177">
                  <a:extLst>
                    <a:ext uri="{9D8B030D-6E8A-4147-A177-3AD203B41FA5}">
                      <a16:colId xmlns:a16="http://schemas.microsoft.com/office/drawing/2014/main" val="20006"/>
                    </a:ext>
                  </a:extLst>
                </a:gridCol>
              </a:tblGrid>
              <a:tr h="237744">
                <a:tc>
                  <a:txBody>
                    <a:bodyPr/>
                    <a:lstStyle/>
                    <a:p>
                      <a:r>
                        <a:rPr sz="1050" b="1">
                          <a:solidFill>
                            <a:srgbClr val="FFFFFF"/>
                          </a:solidFill>
                          <a:latin typeface="Calibri"/>
                        </a:rPr>
                        <a:t>City</a:t>
                      </a:r>
                    </a:p>
                  </a:txBody>
                  <a:tcPr>
                    <a:solidFill>
                      <a:srgbClr val="1A1A1A"/>
                    </a:solidFill>
                  </a:tcPr>
                </a:tc>
                <a:tc>
                  <a:txBody>
                    <a:bodyPr/>
                    <a:lstStyle/>
                    <a:p>
                      <a:r>
                        <a:rPr sz="1050" b="1">
                          <a:solidFill>
                            <a:srgbClr val="FFFFFF"/>
                          </a:solidFill>
                          <a:latin typeface="Calibri"/>
                        </a:rPr>
                        <a:t>Target</a:t>
                      </a:r>
                    </a:p>
                  </a:txBody>
                  <a:tcPr>
                    <a:solidFill>
                      <a:srgbClr val="1A1A1A"/>
                    </a:solidFill>
                  </a:tcPr>
                </a:tc>
                <a:tc>
                  <a:txBody>
                    <a:bodyPr/>
                    <a:lstStyle/>
                    <a:p>
                      <a:r>
                        <a:rPr sz="1050" b="1">
                          <a:solidFill>
                            <a:srgbClr val="FFFFFF"/>
                          </a:solidFill>
                          <a:latin typeface="Calibri"/>
                        </a:rPr>
                        <a:t>Target bias</a:t>
                      </a:r>
                    </a:p>
                  </a:txBody>
                  <a:tcPr>
                    <a:solidFill>
                      <a:srgbClr val="1A1A1A"/>
                    </a:solidFill>
                  </a:tcPr>
                </a:tc>
                <a:tc>
                  <a:txBody>
                    <a:bodyPr/>
                    <a:lstStyle/>
                    <a:p>
                      <a:r>
                        <a:rPr sz="1050" b="1">
                          <a:solidFill>
                            <a:srgbClr val="FFFFFF"/>
                          </a:solidFill>
                          <a:latin typeface="Calibri"/>
                        </a:rPr>
                        <a:t>Map</a:t>
                      </a:r>
                    </a:p>
                  </a:txBody>
                  <a:tcPr>
                    <a:solidFill>
                      <a:srgbClr val="1A1A1A"/>
                    </a:solidFill>
                  </a:tcPr>
                </a:tc>
                <a:tc>
                  <a:txBody>
                    <a:bodyPr/>
                    <a:lstStyle/>
                    <a:p>
                      <a:r>
                        <a:rPr sz="1050" b="1">
                          <a:solidFill>
                            <a:srgbClr val="FFFFFF"/>
                          </a:solidFill>
                          <a:latin typeface="Calibri"/>
                        </a:rPr>
                        <a:t>Map bias</a:t>
                      </a:r>
                    </a:p>
                  </a:txBody>
                  <a:tcPr>
                    <a:solidFill>
                      <a:srgbClr val="1A1A1A"/>
                    </a:solidFill>
                  </a:tcPr>
                </a:tc>
                <a:tc>
                  <a:txBody>
                    <a:bodyPr/>
                    <a:lstStyle/>
                    <a:p>
                      <a:r>
                        <a:rPr sz="1050" b="1">
                          <a:solidFill>
                            <a:srgbClr val="FFFFFF"/>
                          </a:solidFill>
                          <a:latin typeface="Calibri"/>
                        </a:rPr>
                        <a:t>Recovered (pp)</a:t>
                      </a:r>
                    </a:p>
                  </a:txBody>
                  <a:tcPr>
                    <a:solidFill>
                      <a:srgbClr val="1A1A1A"/>
                    </a:solidFill>
                  </a:tcPr>
                </a:tc>
                <a:tc>
                  <a:txBody>
                    <a:bodyPr/>
                    <a:lstStyle/>
                    <a:p>
                      <a:r>
                        <a:rPr sz="1050" b="1">
                          <a:solidFill>
                            <a:srgbClr val="FFFFFF"/>
                          </a:solidFill>
                          <a:latin typeface="Calibri"/>
                        </a:rPr>
                        <a:t>Recovered (%)</a:t>
                      </a:r>
                    </a:p>
                  </a:txBody>
                  <a:tcPr>
                    <a:solidFill>
                      <a:srgbClr val="1A1A1A"/>
                    </a:solidFill>
                  </a:tcPr>
                </a:tc>
                <a:extLst>
                  <a:ext uri="{0D108BD9-81ED-4DB2-BD59-A6C34878D82A}">
                    <a16:rowId xmlns:a16="http://schemas.microsoft.com/office/drawing/2014/main" val="10000"/>
                  </a:ext>
                </a:extLst>
              </a:tr>
              <a:tr h="237744">
                <a:tc>
                  <a:txBody>
                    <a:bodyPr/>
                    <a:lstStyle/>
                    <a:p>
                      <a:r>
                        <a:rPr sz="1050" b="0">
                          <a:solidFill>
                            <a:srgbClr val="1A1A1A"/>
                          </a:solidFill>
                          <a:latin typeface="Calibri"/>
                        </a:rPr>
                        <a:t>Hanoi</a:t>
                      </a:r>
                    </a:p>
                  </a:txBody>
                  <a:tcPr>
                    <a:solidFill>
                      <a:srgbClr val="FFFFFF"/>
                    </a:solidFill>
                  </a:tcPr>
                </a:tc>
                <a:tc>
                  <a:txBody>
                    <a:bodyPr/>
                    <a:lstStyle/>
                    <a:p>
                      <a:r>
                        <a:rPr sz="1050" b="0">
                          <a:solidFill>
                            <a:srgbClr val="1A1A1A"/>
                          </a:solidFill>
                          <a:latin typeface="Calibri"/>
                        </a:rPr>
                        <a:t>GHSL</a:t>
                      </a:r>
                    </a:p>
                  </a:txBody>
                  <a:tcPr>
                    <a:solidFill>
                      <a:srgbClr val="FFFFFF"/>
                    </a:solidFill>
                  </a:tcPr>
                </a:tc>
                <a:tc>
                  <a:txBody>
                    <a:bodyPr/>
                    <a:lstStyle/>
                    <a:p>
                      <a:r>
                        <a:rPr sz="1050" b="0">
                          <a:solidFill>
                            <a:srgbClr val="1A1A1A"/>
                          </a:solidFill>
                          <a:latin typeface="Calibri"/>
                        </a:rPr>
                        <a:t>19.68</a:t>
                      </a:r>
                    </a:p>
                  </a:txBody>
                  <a:tcPr>
                    <a:solidFill>
                      <a:srgbClr val="FFFFFF"/>
                    </a:solidFill>
                  </a:tcPr>
                </a:tc>
                <a:tc>
                  <a:txBody>
                    <a:bodyPr/>
                    <a:lstStyle/>
                    <a:p>
                      <a:r>
                        <a:rPr sz="1050" b="0">
                          <a:solidFill>
                            <a:srgbClr val="1A1A1A"/>
                          </a:solidFill>
                          <a:latin typeface="Calibri"/>
                        </a:rPr>
                        <a:t>emb_localrf</a:t>
                      </a:r>
                    </a:p>
                  </a:txBody>
                  <a:tcPr>
                    <a:solidFill>
                      <a:srgbClr val="FFFFFF"/>
                    </a:solidFill>
                  </a:tcPr>
                </a:tc>
                <a:tc>
                  <a:txBody>
                    <a:bodyPr/>
                    <a:lstStyle/>
                    <a:p>
                      <a:r>
                        <a:rPr sz="1050" b="0">
                          <a:solidFill>
                            <a:srgbClr val="1A1A1A"/>
                          </a:solidFill>
                          <a:latin typeface="Calibri"/>
                        </a:rPr>
                        <a:t>6.59</a:t>
                      </a:r>
                    </a:p>
                  </a:txBody>
                  <a:tcPr>
                    <a:solidFill>
                      <a:srgbClr val="FFFFFF"/>
                    </a:solidFill>
                  </a:tcPr>
                </a:tc>
                <a:tc>
                  <a:txBody>
                    <a:bodyPr/>
                    <a:lstStyle/>
                    <a:p>
                      <a:r>
                        <a:rPr sz="1050" b="0">
                          <a:solidFill>
                            <a:srgbClr val="1A1A1A"/>
                          </a:solidFill>
                          <a:latin typeface="Calibri"/>
                        </a:rPr>
                        <a:t>13.09</a:t>
                      </a:r>
                    </a:p>
                  </a:txBody>
                  <a:tcPr>
                    <a:solidFill>
                      <a:srgbClr val="FFFFFF"/>
                    </a:solidFill>
                  </a:tcPr>
                </a:tc>
                <a:tc>
                  <a:txBody>
                    <a:bodyPr/>
                    <a:lstStyle/>
                    <a:p>
                      <a:r>
                        <a:rPr sz="1050" b="0">
                          <a:solidFill>
                            <a:srgbClr val="1A1A1A"/>
                          </a:solidFill>
                          <a:latin typeface="Calibri"/>
                        </a:rPr>
                        <a:t>66.5</a:t>
                      </a:r>
                    </a:p>
                  </a:txBody>
                  <a:tcPr>
                    <a:solidFill>
                      <a:srgbClr val="FFFFFF"/>
                    </a:solidFill>
                  </a:tcPr>
                </a:tc>
                <a:extLst>
                  <a:ext uri="{0D108BD9-81ED-4DB2-BD59-A6C34878D82A}">
                    <a16:rowId xmlns:a16="http://schemas.microsoft.com/office/drawing/2014/main" val="10001"/>
                  </a:ext>
                </a:extLst>
              </a:tr>
              <a:tr h="237744">
                <a:tc>
                  <a:txBody>
                    <a:bodyPr/>
                    <a:lstStyle/>
                    <a:p>
                      <a:r>
                        <a:rPr sz="1050" b="0">
                          <a:solidFill>
                            <a:srgbClr val="1A1A1A"/>
                          </a:solidFill>
                          <a:latin typeface="Calibri"/>
                        </a:rPr>
                        <a:t>Hanoi</a:t>
                      </a:r>
                    </a:p>
                  </a:txBody>
                  <a:tcPr>
                    <a:solidFill>
                      <a:srgbClr val="F7F7F7"/>
                    </a:solidFill>
                  </a:tcPr>
                </a:tc>
                <a:tc>
                  <a:txBody>
                    <a:bodyPr/>
                    <a:lstStyle/>
                    <a:p>
                      <a:r>
                        <a:rPr sz="1050" b="0">
                          <a:solidFill>
                            <a:srgbClr val="1A1A1A"/>
                          </a:solidFill>
                          <a:latin typeface="Calibri"/>
                        </a:rPr>
                        <a:t>GHSL</a:t>
                      </a:r>
                    </a:p>
                  </a:txBody>
                  <a:tcPr>
                    <a:solidFill>
                      <a:srgbClr val="F7F7F7"/>
                    </a:solidFill>
                  </a:tcPr>
                </a:tc>
                <a:tc>
                  <a:txBody>
                    <a:bodyPr/>
                    <a:lstStyle/>
                    <a:p>
                      <a:r>
                        <a:rPr sz="1050" b="0">
                          <a:solidFill>
                            <a:srgbClr val="1A1A1A"/>
                          </a:solidFill>
                          <a:latin typeface="Calibri"/>
                        </a:rPr>
                        <a:t>19.68</a:t>
                      </a:r>
                    </a:p>
                  </a:txBody>
                  <a:tcPr>
                    <a:solidFill>
                      <a:srgbClr val="F7F7F7"/>
                    </a:solidFill>
                  </a:tcPr>
                </a:tc>
                <a:tc>
                  <a:txBody>
                    <a:bodyPr/>
                    <a:lstStyle/>
                    <a:p>
                      <a:r>
                        <a:rPr sz="1050" b="0">
                          <a:solidFill>
                            <a:srgbClr val="1A1A1A"/>
                          </a:solidFill>
                          <a:latin typeface="Calibri"/>
                        </a:rPr>
                        <a:t>S2_median_localrf</a:t>
                      </a:r>
                    </a:p>
                  </a:txBody>
                  <a:tcPr>
                    <a:solidFill>
                      <a:srgbClr val="F7F7F7"/>
                    </a:solidFill>
                  </a:tcPr>
                </a:tc>
                <a:tc>
                  <a:txBody>
                    <a:bodyPr/>
                    <a:lstStyle/>
                    <a:p>
                      <a:r>
                        <a:rPr sz="1050" b="0">
                          <a:solidFill>
                            <a:srgbClr val="1A1A1A"/>
                          </a:solidFill>
                          <a:latin typeface="Calibri"/>
                        </a:rPr>
                        <a:t>8.18</a:t>
                      </a:r>
                    </a:p>
                  </a:txBody>
                  <a:tcPr>
                    <a:solidFill>
                      <a:srgbClr val="F7F7F7"/>
                    </a:solidFill>
                  </a:tcPr>
                </a:tc>
                <a:tc>
                  <a:txBody>
                    <a:bodyPr/>
                    <a:lstStyle/>
                    <a:p>
                      <a:r>
                        <a:rPr sz="1050" b="0">
                          <a:solidFill>
                            <a:srgbClr val="1A1A1A"/>
                          </a:solidFill>
                          <a:latin typeface="Calibri"/>
                        </a:rPr>
                        <a:t>11.50</a:t>
                      </a:r>
                    </a:p>
                  </a:txBody>
                  <a:tcPr>
                    <a:solidFill>
                      <a:srgbClr val="F7F7F7"/>
                    </a:solidFill>
                  </a:tcPr>
                </a:tc>
                <a:tc>
                  <a:txBody>
                    <a:bodyPr/>
                    <a:lstStyle/>
                    <a:p>
                      <a:r>
                        <a:rPr sz="1050" b="0">
                          <a:solidFill>
                            <a:srgbClr val="1A1A1A"/>
                          </a:solidFill>
                          <a:latin typeface="Calibri"/>
                        </a:rPr>
                        <a:t>58.4</a:t>
                      </a:r>
                    </a:p>
                  </a:txBody>
                  <a:tcPr>
                    <a:solidFill>
                      <a:srgbClr val="F7F7F7"/>
                    </a:solidFill>
                  </a:tcPr>
                </a:tc>
                <a:extLst>
                  <a:ext uri="{0D108BD9-81ED-4DB2-BD59-A6C34878D82A}">
                    <a16:rowId xmlns:a16="http://schemas.microsoft.com/office/drawing/2014/main" val="10002"/>
                  </a:ext>
                </a:extLst>
              </a:tr>
              <a:tr h="237744">
                <a:tc>
                  <a:txBody>
                    <a:bodyPr/>
                    <a:lstStyle/>
                    <a:p>
                      <a:r>
                        <a:rPr sz="1050" b="0">
                          <a:solidFill>
                            <a:srgbClr val="1A1A1A"/>
                          </a:solidFill>
                          <a:latin typeface="Calibri"/>
                        </a:rPr>
                        <a:t>HCMC</a:t>
                      </a:r>
                    </a:p>
                  </a:txBody>
                  <a:tcPr>
                    <a:solidFill>
                      <a:srgbClr val="FFFFFF"/>
                    </a:solidFill>
                  </a:tcPr>
                </a:tc>
                <a:tc>
                  <a:txBody>
                    <a:bodyPr/>
                    <a:lstStyle/>
                    <a:p>
                      <a:r>
                        <a:rPr sz="1050" b="0">
                          <a:solidFill>
                            <a:srgbClr val="1A1A1A"/>
                          </a:solidFill>
                          <a:latin typeface="Calibri"/>
                        </a:rPr>
                        <a:t>GHSL</a:t>
                      </a:r>
                    </a:p>
                  </a:txBody>
                  <a:tcPr>
                    <a:solidFill>
                      <a:srgbClr val="FFFFFF"/>
                    </a:solidFill>
                  </a:tcPr>
                </a:tc>
                <a:tc>
                  <a:txBody>
                    <a:bodyPr/>
                    <a:lstStyle/>
                    <a:p>
                      <a:r>
                        <a:rPr sz="1050" b="0">
                          <a:solidFill>
                            <a:srgbClr val="1A1A1A"/>
                          </a:solidFill>
                          <a:latin typeface="Calibri"/>
                        </a:rPr>
                        <a:t>19.80</a:t>
                      </a:r>
                    </a:p>
                  </a:txBody>
                  <a:tcPr>
                    <a:solidFill>
                      <a:srgbClr val="FFFFFF"/>
                    </a:solidFill>
                  </a:tcPr>
                </a:tc>
                <a:tc>
                  <a:txBody>
                    <a:bodyPr/>
                    <a:lstStyle/>
                    <a:p>
                      <a:r>
                        <a:rPr sz="1050" b="0">
                          <a:solidFill>
                            <a:srgbClr val="1A1A1A"/>
                          </a:solidFill>
                          <a:latin typeface="Calibri"/>
                        </a:rPr>
                        <a:t>emb_localrf</a:t>
                      </a:r>
                    </a:p>
                  </a:txBody>
                  <a:tcPr>
                    <a:solidFill>
                      <a:srgbClr val="FFFFFF"/>
                    </a:solidFill>
                  </a:tcPr>
                </a:tc>
                <a:tc>
                  <a:txBody>
                    <a:bodyPr/>
                    <a:lstStyle/>
                    <a:p>
                      <a:r>
                        <a:rPr sz="1050" b="0">
                          <a:solidFill>
                            <a:srgbClr val="1A1A1A"/>
                          </a:solidFill>
                          <a:latin typeface="Calibri"/>
                        </a:rPr>
                        <a:t>11.09</a:t>
                      </a:r>
                    </a:p>
                  </a:txBody>
                  <a:tcPr>
                    <a:solidFill>
                      <a:srgbClr val="FFFFFF"/>
                    </a:solidFill>
                  </a:tcPr>
                </a:tc>
                <a:tc>
                  <a:txBody>
                    <a:bodyPr/>
                    <a:lstStyle/>
                    <a:p>
                      <a:r>
                        <a:rPr sz="1050" b="0">
                          <a:solidFill>
                            <a:srgbClr val="1A1A1A"/>
                          </a:solidFill>
                          <a:latin typeface="Calibri"/>
                        </a:rPr>
                        <a:t>8.71</a:t>
                      </a:r>
                    </a:p>
                  </a:txBody>
                  <a:tcPr>
                    <a:solidFill>
                      <a:srgbClr val="FFFFFF"/>
                    </a:solidFill>
                  </a:tcPr>
                </a:tc>
                <a:tc>
                  <a:txBody>
                    <a:bodyPr/>
                    <a:lstStyle/>
                    <a:p>
                      <a:r>
                        <a:rPr sz="1050" b="0">
                          <a:solidFill>
                            <a:srgbClr val="1A1A1A"/>
                          </a:solidFill>
                          <a:latin typeface="Calibri"/>
                        </a:rPr>
                        <a:t>44.0</a:t>
                      </a:r>
                    </a:p>
                  </a:txBody>
                  <a:tcPr>
                    <a:solidFill>
                      <a:srgbClr val="FFFFFF"/>
                    </a:solidFill>
                  </a:tcPr>
                </a:tc>
                <a:extLst>
                  <a:ext uri="{0D108BD9-81ED-4DB2-BD59-A6C34878D82A}">
                    <a16:rowId xmlns:a16="http://schemas.microsoft.com/office/drawing/2014/main" val="10003"/>
                  </a:ext>
                </a:extLst>
              </a:tr>
              <a:tr h="237744">
                <a:tc>
                  <a:txBody>
                    <a:bodyPr/>
                    <a:lstStyle/>
                    <a:p>
                      <a:r>
                        <a:rPr sz="1050" b="0">
                          <a:solidFill>
                            <a:srgbClr val="1A1A1A"/>
                          </a:solidFill>
                          <a:latin typeface="Calibri"/>
                        </a:rPr>
                        <a:t>HCMC</a:t>
                      </a:r>
                    </a:p>
                  </a:txBody>
                  <a:tcPr>
                    <a:solidFill>
                      <a:srgbClr val="F7F7F7"/>
                    </a:solidFill>
                  </a:tcPr>
                </a:tc>
                <a:tc>
                  <a:txBody>
                    <a:bodyPr/>
                    <a:lstStyle/>
                    <a:p>
                      <a:r>
                        <a:rPr sz="1050" b="0">
                          <a:solidFill>
                            <a:srgbClr val="1A1A1A"/>
                          </a:solidFill>
                          <a:latin typeface="Calibri"/>
                        </a:rPr>
                        <a:t>GHSL</a:t>
                      </a:r>
                    </a:p>
                  </a:txBody>
                  <a:tcPr>
                    <a:solidFill>
                      <a:srgbClr val="F7F7F7"/>
                    </a:solidFill>
                  </a:tcPr>
                </a:tc>
                <a:tc>
                  <a:txBody>
                    <a:bodyPr/>
                    <a:lstStyle/>
                    <a:p>
                      <a:r>
                        <a:rPr sz="1050" b="0">
                          <a:solidFill>
                            <a:srgbClr val="1A1A1A"/>
                          </a:solidFill>
                          <a:latin typeface="Calibri"/>
                        </a:rPr>
                        <a:t>19.80</a:t>
                      </a:r>
                    </a:p>
                  </a:txBody>
                  <a:tcPr>
                    <a:solidFill>
                      <a:srgbClr val="F7F7F7"/>
                    </a:solidFill>
                  </a:tcPr>
                </a:tc>
                <a:tc>
                  <a:txBody>
                    <a:bodyPr/>
                    <a:lstStyle/>
                    <a:p>
                      <a:r>
                        <a:rPr sz="1050" b="0">
                          <a:solidFill>
                            <a:srgbClr val="1A1A1A"/>
                          </a:solidFill>
                          <a:latin typeface="Calibri"/>
                        </a:rPr>
                        <a:t>S2_median_localrf</a:t>
                      </a:r>
                    </a:p>
                  </a:txBody>
                  <a:tcPr>
                    <a:solidFill>
                      <a:srgbClr val="F7F7F7"/>
                    </a:solidFill>
                  </a:tcPr>
                </a:tc>
                <a:tc>
                  <a:txBody>
                    <a:bodyPr/>
                    <a:lstStyle/>
                    <a:p>
                      <a:r>
                        <a:rPr sz="1050" b="0">
                          <a:solidFill>
                            <a:srgbClr val="1A1A1A"/>
                          </a:solidFill>
                          <a:latin typeface="Calibri"/>
                        </a:rPr>
                        <a:t>12.23</a:t>
                      </a:r>
                    </a:p>
                  </a:txBody>
                  <a:tcPr>
                    <a:solidFill>
                      <a:srgbClr val="F7F7F7"/>
                    </a:solidFill>
                  </a:tcPr>
                </a:tc>
                <a:tc>
                  <a:txBody>
                    <a:bodyPr/>
                    <a:lstStyle/>
                    <a:p>
                      <a:r>
                        <a:rPr sz="1050" b="0">
                          <a:solidFill>
                            <a:srgbClr val="1A1A1A"/>
                          </a:solidFill>
                          <a:latin typeface="Calibri"/>
                        </a:rPr>
                        <a:t>7.57</a:t>
                      </a:r>
                    </a:p>
                  </a:txBody>
                  <a:tcPr>
                    <a:solidFill>
                      <a:srgbClr val="F7F7F7"/>
                    </a:solidFill>
                  </a:tcPr>
                </a:tc>
                <a:tc>
                  <a:txBody>
                    <a:bodyPr/>
                    <a:lstStyle/>
                    <a:p>
                      <a:r>
                        <a:rPr sz="1050" b="0" dirty="0">
                          <a:solidFill>
                            <a:srgbClr val="1A1A1A"/>
                          </a:solidFill>
                          <a:latin typeface="Calibri"/>
                        </a:rPr>
                        <a:t>38.2</a:t>
                      </a:r>
                    </a:p>
                  </a:txBody>
                  <a:tcPr>
                    <a:solidFill>
                      <a:srgbClr val="F7F7F7"/>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658368" y="6428232"/>
            <a:ext cx="10881360" cy="192024"/>
          </a:xfrm>
          <a:prstGeom prst="rect">
            <a:avLst/>
          </a:prstGeom>
          <a:noFill/>
        </p:spPr>
        <p:txBody>
          <a:bodyPr wrap="square">
            <a:spAutoFit/>
          </a:bodyPr>
          <a:lstStyle/>
          <a:p>
            <a:pPr algn="l">
              <a:lnSpc>
                <a:spcPct val="120000"/>
              </a:lnSpc>
            </a:pPr>
            <a:r>
              <a:rPr sz="1050" b="0" i="0">
                <a:solidFill>
                  <a:srgbClr val="6B6B6B"/>
                </a:solidFill>
                <a:latin typeface="Calibri"/>
              </a:rPr>
              <a:t>Bounded, not complete: a target that under-marks by 20 points still yields maps that under-mark by 7 to 12.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2212848"/>
            <a:ext cx="10881360" cy="320040"/>
          </a:xfrm>
          <a:prstGeom prst="rect">
            <a:avLst/>
          </a:prstGeom>
          <a:noFill/>
        </p:spPr>
        <p:txBody>
          <a:bodyPr wrap="square">
            <a:spAutoFit/>
          </a:bodyPr>
          <a:lstStyle/>
          <a:p>
            <a:pPr algn="l">
              <a:lnSpc>
                <a:spcPct val="125000"/>
              </a:lnSpc>
            </a:pPr>
            <a:r>
              <a:rPr sz="1200" b="1" i="0">
                <a:solidFill>
                  <a:srgbClr val="0B6E4F"/>
                </a:solidFill>
                <a:latin typeface="Calibri"/>
              </a:rPr>
              <a:t>SECTION 7 OF 7</a:t>
            </a:r>
          </a:p>
        </p:txBody>
      </p:sp>
      <p:sp>
        <p:nvSpPr>
          <p:cNvPr id="3" name="TextBox 2"/>
          <p:cNvSpPr txBox="1"/>
          <p:nvPr/>
        </p:nvSpPr>
        <p:spPr>
          <a:xfrm>
            <a:off x="822960" y="2560320"/>
            <a:ext cx="10881360" cy="914400"/>
          </a:xfrm>
          <a:prstGeom prst="rect">
            <a:avLst/>
          </a:prstGeom>
          <a:noFill/>
        </p:spPr>
        <p:txBody>
          <a:bodyPr wrap="square">
            <a:spAutoFit/>
          </a:bodyPr>
          <a:lstStyle/>
          <a:p>
            <a:pPr algn="l">
              <a:lnSpc>
                <a:spcPct val="125000"/>
              </a:lnSpc>
            </a:pPr>
            <a:r>
              <a:rPr sz="3000" b="1" i="0">
                <a:solidFill>
                  <a:srgbClr val="1A1A1A"/>
                </a:solidFill>
                <a:latin typeface="Calibri"/>
              </a:rPr>
              <a:t>Conclusions and limitations</a:t>
            </a:r>
          </a:p>
        </p:txBody>
      </p:sp>
      <p:sp>
        <p:nvSpPr>
          <p:cNvPr id="4" name="Rectangle 3"/>
          <p:cNvSpPr/>
          <p:nvPr/>
        </p:nvSpPr>
        <p:spPr>
          <a:xfrm>
            <a:off x="822960" y="3584448"/>
            <a:ext cx="3657600" cy="32004"/>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03904"/>
            <a:ext cx="8686800" cy="731520"/>
          </a:xfrm>
          <a:prstGeom prst="rect">
            <a:avLst/>
          </a:prstGeom>
          <a:noFill/>
        </p:spPr>
        <p:txBody>
          <a:bodyPr wrap="square">
            <a:spAutoFit/>
          </a:bodyPr>
          <a:lstStyle/>
          <a:p>
            <a:pPr algn="l">
              <a:lnSpc>
                <a:spcPct val="135000"/>
              </a:lnSpc>
            </a:pPr>
            <a:r>
              <a:rPr sz="1400" b="0" i="0">
                <a:solidFill>
                  <a:srgbClr val="6B6B6B"/>
                </a:solidFill>
                <a:latin typeface="Calibri"/>
              </a:rPr>
              <a:t>What the study supports, and the five constraints that bound it</a:t>
            </a:r>
          </a:p>
        </p:txBody>
      </p:sp>
      <p:sp>
        <p:nvSpPr>
          <p:cNvPr id="6" name="TextBox 5"/>
          <p:cNvSpPr txBox="1"/>
          <p:nvPr/>
        </p:nvSpPr>
        <p:spPr>
          <a:xfrm>
            <a:off x="822960" y="5577840"/>
            <a:ext cx="10881360" cy="822960"/>
          </a:xfrm>
          <a:prstGeom prst="rect">
            <a:avLst/>
          </a:prstGeom>
          <a:noFill/>
        </p:spPr>
        <p:txBody>
          <a:bodyPr wrap="square">
            <a:spAutoFit/>
          </a:bodyPr>
          <a:lstStyle/>
          <a:p>
            <a:pPr algn="l">
              <a:lnSpc>
                <a:spcPct val="125000"/>
              </a:lnSpc>
            </a:pPr>
            <a:r>
              <a:rPr sz="1000" b="0" i="0">
                <a:solidFill>
                  <a:srgbClr val="6B6B6B"/>
                </a:solidFill>
                <a:latin typeface="Calibri"/>
              </a:rPr>
              <a:t>1. Design and data · 2. Method · 3. Milan · same-source validation · 4. Vietnam · transfer · 5. Independent validation · 6. Why transfer fails · 7. Conclusions and limitations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CONCLUSIONS</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Four answers</a:t>
            </a:r>
          </a:p>
        </p:txBody>
      </p:sp>
      <p:sp>
        <p:nvSpPr>
          <p:cNvPr id="4" name="Rectangle 3"/>
          <p:cNvSpPr/>
          <p:nvPr/>
        </p:nvSpPr>
        <p:spPr>
          <a:xfrm>
            <a:off x="658368" y="129844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536192"/>
            <a:ext cx="2286000" cy="822960"/>
          </a:xfrm>
          <a:prstGeom prst="rect">
            <a:avLst/>
          </a:prstGeom>
          <a:noFill/>
        </p:spPr>
        <p:txBody>
          <a:bodyPr wrap="square">
            <a:spAutoFit/>
          </a:bodyPr>
          <a:lstStyle/>
          <a:p>
            <a:pPr algn="l">
              <a:lnSpc>
                <a:spcPct val="125000"/>
              </a:lnSpc>
            </a:pPr>
            <a:r>
              <a:rPr sz="1250" b="1" i="0">
                <a:solidFill>
                  <a:srgbClr val="0B6E4F"/>
                </a:solidFill>
                <a:latin typeface="Calibri"/>
              </a:rPr>
              <a:t>1 · Composite choice</a:t>
            </a:r>
          </a:p>
        </p:txBody>
      </p:sp>
      <p:sp>
        <p:nvSpPr>
          <p:cNvPr id="6" name="TextBox 5"/>
          <p:cNvSpPr txBox="1"/>
          <p:nvPr/>
        </p:nvSpPr>
        <p:spPr>
          <a:xfrm>
            <a:off x="3108960" y="1536192"/>
            <a:ext cx="8430768" cy="1005840"/>
          </a:xfrm>
          <a:prstGeom prst="rect">
            <a:avLst/>
          </a:prstGeom>
          <a:noFill/>
        </p:spPr>
        <p:txBody>
          <a:bodyPr wrap="square">
            <a:spAutoFit/>
          </a:bodyPr>
          <a:lstStyle/>
          <a:p>
            <a:pPr algn="l">
              <a:lnSpc>
                <a:spcPct val="135000"/>
              </a:lnSpc>
            </a:pPr>
            <a:r>
              <a:rPr sz="1200" b="0" i="0">
                <a:solidFill>
                  <a:srgbClr val="1A1A1A"/>
                </a:solidFill>
                <a:latin typeface="Calibri"/>
              </a:rPr>
              <a:t>Composite choice matters more than the foundation model on the same-source validation: percentile 9.462 against the embeddings' 14.123, a 33 % reduction, with the same ordering on RMSE, MAE and R². The advantage is mechanistically interpretable — B4_p25 carries a permutation importance of 0.1812, more than three times the next band.</a:t>
            </a:r>
          </a:p>
        </p:txBody>
      </p:sp>
      <p:sp>
        <p:nvSpPr>
          <p:cNvPr id="7" name="TextBox 6"/>
          <p:cNvSpPr txBox="1"/>
          <p:nvPr/>
        </p:nvSpPr>
        <p:spPr>
          <a:xfrm>
            <a:off x="658368" y="2615184"/>
            <a:ext cx="2286000" cy="822960"/>
          </a:xfrm>
          <a:prstGeom prst="rect">
            <a:avLst/>
          </a:prstGeom>
          <a:noFill/>
        </p:spPr>
        <p:txBody>
          <a:bodyPr wrap="square">
            <a:spAutoFit/>
          </a:bodyPr>
          <a:lstStyle/>
          <a:p>
            <a:pPr algn="l">
              <a:lnSpc>
                <a:spcPct val="125000"/>
              </a:lnSpc>
            </a:pPr>
            <a:r>
              <a:rPr sz="1250" b="1" i="0">
                <a:solidFill>
                  <a:srgbClr val="0B6E4F"/>
                </a:solidFill>
                <a:latin typeface="Calibri"/>
              </a:rPr>
              <a:t>2 · The compression</a:t>
            </a:r>
          </a:p>
        </p:txBody>
      </p:sp>
      <p:sp>
        <p:nvSpPr>
          <p:cNvPr id="8" name="TextBox 7"/>
          <p:cNvSpPr txBox="1"/>
          <p:nvPr/>
        </p:nvSpPr>
        <p:spPr>
          <a:xfrm>
            <a:off x="3108960" y="2615184"/>
            <a:ext cx="8430768" cy="1005840"/>
          </a:xfrm>
          <a:prstGeom prst="rect">
            <a:avLst/>
          </a:prstGeom>
          <a:noFill/>
        </p:spPr>
        <p:txBody>
          <a:bodyPr wrap="square">
            <a:spAutoFit/>
          </a:bodyPr>
          <a:lstStyle/>
          <a:p>
            <a:pPr algn="l">
              <a:lnSpc>
                <a:spcPct val="135000"/>
              </a:lnSpc>
            </a:pPr>
            <a:r>
              <a:rPr sz="1200" b="0" i="0">
                <a:solidFill>
                  <a:srgbClr val="1A1A1A"/>
                </a:solidFill>
                <a:latin typeface="Calibri"/>
              </a:rPr>
              <a:t>Against an independent reference the four-way spread compresses about 6.4-fold, from 33.0 % to 5.2 % of the worst map, yet paired testing still resolves two tiers. Same-source validation is the right instrument for model selection and the wrong one for claiming accuracy: reporting a 33 % same-source reduction as a 33 % gain in accuracy would misdescribe it by a factor of six.</a:t>
            </a:r>
          </a:p>
        </p:txBody>
      </p:sp>
      <p:sp>
        <p:nvSpPr>
          <p:cNvPr id="9" name="TextBox 8"/>
          <p:cNvSpPr txBox="1"/>
          <p:nvPr/>
        </p:nvSpPr>
        <p:spPr>
          <a:xfrm>
            <a:off x="658368" y="3694176"/>
            <a:ext cx="2286000" cy="822960"/>
          </a:xfrm>
          <a:prstGeom prst="rect">
            <a:avLst/>
          </a:prstGeom>
          <a:noFill/>
        </p:spPr>
        <p:txBody>
          <a:bodyPr wrap="square">
            <a:spAutoFit/>
          </a:bodyPr>
          <a:lstStyle/>
          <a:p>
            <a:pPr algn="l">
              <a:lnSpc>
                <a:spcPct val="125000"/>
              </a:lnSpc>
            </a:pPr>
            <a:r>
              <a:rPr sz="1250" b="1" i="0">
                <a:solidFill>
                  <a:srgbClr val="0B6E4F"/>
                </a:solidFill>
                <a:latin typeface="Calibri"/>
              </a:rPr>
              <a:t>3 · Transfer</a:t>
            </a:r>
          </a:p>
        </p:txBody>
      </p:sp>
      <p:sp>
        <p:nvSpPr>
          <p:cNvPr id="10" name="TextBox 9"/>
          <p:cNvSpPr txBox="1"/>
          <p:nvPr/>
        </p:nvSpPr>
        <p:spPr>
          <a:xfrm>
            <a:off x="3108960" y="3694176"/>
            <a:ext cx="8430768" cy="1005840"/>
          </a:xfrm>
          <a:prstGeom prst="rect">
            <a:avLst/>
          </a:prstGeom>
          <a:noFill/>
        </p:spPr>
        <p:txBody>
          <a:bodyPr wrap="square">
            <a:spAutoFit/>
          </a:bodyPr>
          <a:lstStyle/>
          <a:p>
            <a:pPr algn="l">
              <a:lnSpc>
                <a:spcPct val="135000"/>
              </a:lnSpc>
            </a:pPr>
            <a:r>
              <a:rPr sz="1200" b="0" i="0">
                <a:solidFill>
                  <a:srgbClr val="1A1A1A"/>
                </a:solidFill>
                <a:latin typeface="Calibri"/>
              </a:rPr>
              <a:t>Zero-shot transfer fails — R² at or below zero in three of four combinations — and local retraining is necessary, recovering R² to 0.522–0.649. It is not uniformly better: above 80 % imperviousness it is worse.</a:t>
            </a:r>
          </a:p>
        </p:txBody>
      </p:sp>
      <p:sp>
        <p:nvSpPr>
          <p:cNvPr id="11" name="TextBox 10"/>
          <p:cNvSpPr txBox="1"/>
          <p:nvPr/>
        </p:nvSpPr>
        <p:spPr>
          <a:xfrm>
            <a:off x="658368" y="4773168"/>
            <a:ext cx="2286000" cy="822960"/>
          </a:xfrm>
          <a:prstGeom prst="rect">
            <a:avLst/>
          </a:prstGeom>
          <a:noFill/>
        </p:spPr>
        <p:txBody>
          <a:bodyPr wrap="square">
            <a:spAutoFit/>
          </a:bodyPr>
          <a:lstStyle/>
          <a:p>
            <a:pPr algn="l">
              <a:lnSpc>
                <a:spcPct val="125000"/>
              </a:lnSpc>
            </a:pPr>
            <a:r>
              <a:rPr sz="1250" b="1" i="0">
                <a:solidFill>
                  <a:srgbClr val="0B6E4F"/>
                </a:solidFill>
                <a:latin typeface="Calibri"/>
              </a:rPr>
              <a:t>4 · The targets</a:t>
            </a:r>
          </a:p>
        </p:txBody>
      </p:sp>
      <p:sp>
        <p:nvSpPr>
          <p:cNvPr id="12" name="TextBox 11"/>
          <p:cNvSpPr txBox="1"/>
          <p:nvPr/>
        </p:nvSpPr>
        <p:spPr>
          <a:xfrm>
            <a:off x="3108960" y="4773168"/>
            <a:ext cx="8430768" cy="1005840"/>
          </a:xfrm>
          <a:prstGeom prst="rect">
            <a:avLst/>
          </a:prstGeom>
          <a:noFill/>
        </p:spPr>
        <p:txBody>
          <a:bodyPr wrap="square">
            <a:spAutoFit/>
          </a:bodyPr>
          <a:lstStyle/>
          <a:p>
            <a:pPr algn="l">
              <a:lnSpc>
                <a:spcPct val="135000"/>
              </a:lnSpc>
            </a:pPr>
            <a:r>
              <a:rPr sz="1200" b="0" i="0">
                <a:solidFill>
                  <a:srgbClr val="1A1A1A"/>
                </a:solidFill>
                <a:latin typeface="Calibri"/>
              </a:rPr>
              <a:t>The training products are not ceilings. CLMS scores 26.253 and GHS-BUILT-S 40.345 and 37.355, in each case no better than the models fitted to them. That measures label quality; the models recover 38–67 % of GHSL's systematic deficit.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74320"/>
            <a:ext cx="10881360" cy="274320"/>
          </a:xfrm>
          <a:prstGeom prst="rect">
            <a:avLst/>
          </a:prstGeom>
          <a:noFill/>
        </p:spPr>
        <p:txBody>
          <a:bodyPr wrap="square">
            <a:spAutoFit/>
          </a:bodyPr>
          <a:lstStyle/>
          <a:p>
            <a:pPr algn="l">
              <a:lnSpc>
                <a:spcPct val="125000"/>
              </a:lnSpc>
            </a:pPr>
            <a:r>
              <a:rPr sz="1050" b="1" i="0">
                <a:solidFill>
                  <a:srgbClr val="0B6E4F"/>
                </a:solidFill>
                <a:latin typeface="Calibri"/>
              </a:rPr>
              <a:t>LIMITATIONS</a:t>
            </a:r>
          </a:p>
        </p:txBody>
      </p:sp>
      <p:sp>
        <p:nvSpPr>
          <p:cNvPr id="3" name="TextBox 2"/>
          <p:cNvSpPr txBox="1"/>
          <p:nvPr/>
        </p:nvSpPr>
        <p:spPr>
          <a:xfrm>
            <a:off x="658368" y="548640"/>
            <a:ext cx="10881360" cy="685800"/>
          </a:xfrm>
          <a:prstGeom prst="rect">
            <a:avLst/>
          </a:prstGeom>
          <a:noFill/>
        </p:spPr>
        <p:txBody>
          <a:bodyPr wrap="square">
            <a:spAutoFit/>
          </a:bodyPr>
          <a:lstStyle/>
          <a:p>
            <a:pPr algn="l">
              <a:lnSpc>
                <a:spcPct val="125000"/>
              </a:lnSpc>
            </a:pPr>
            <a:r>
              <a:rPr sz="2500" b="1" i="0">
                <a:solidFill>
                  <a:srgbClr val="1A1A1A"/>
                </a:solidFill>
                <a:latin typeface="Calibri"/>
              </a:rPr>
              <a:t>Five constraints, each with the conclusion it forbids</a:t>
            </a:r>
          </a:p>
        </p:txBody>
      </p:sp>
      <p:sp>
        <p:nvSpPr>
          <p:cNvPr id="4" name="Rectangle 3"/>
          <p:cNvSpPr/>
          <p:nvPr/>
        </p:nvSpPr>
        <p:spPr>
          <a:xfrm>
            <a:off x="658368" y="1298448"/>
            <a:ext cx="10881360" cy="952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499616"/>
            <a:ext cx="2103120" cy="822960"/>
          </a:xfrm>
          <a:prstGeom prst="rect">
            <a:avLst/>
          </a:prstGeom>
          <a:noFill/>
        </p:spPr>
        <p:txBody>
          <a:bodyPr wrap="square">
            <a:spAutoFit/>
          </a:bodyPr>
          <a:lstStyle/>
          <a:p>
            <a:pPr algn="l">
              <a:lnSpc>
                <a:spcPct val="125000"/>
              </a:lnSpc>
            </a:pPr>
            <a:r>
              <a:rPr sz="1200" b="1" i="0">
                <a:solidFill>
                  <a:srgbClr val="0B6E4F"/>
                </a:solidFill>
                <a:latin typeface="Calibri"/>
              </a:rPr>
              <a:t>Composite depth</a:t>
            </a:r>
          </a:p>
        </p:txBody>
      </p:sp>
      <p:sp>
        <p:nvSpPr>
          <p:cNvPr id="6" name="TextBox 5"/>
          <p:cNvSpPr txBox="1"/>
          <p:nvPr/>
        </p:nvSpPr>
        <p:spPr>
          <a:xfrm>
            <a:off x="2926080" y="1499616"/>
            <a:ext cx="8613648" cy="1005840"/>
          </a:xfrm>
          <a:prstGeom prst="rect">
            <a:avLst/>
          </a:prstGeom>
          <a:noFill/>
        </p:spPr>
        <p:txBody>
          <a:bodyPr wrap="square">
            <a:spAutoFit/>
          </a:bodyPr>
          <a:lstStyle/>
          <a:p>
            <a:pPr algn="l">
              <a:lnSpc>
                <a:spcPct val="135000"/>
              </a:lnSpc>
            </a:pPr>
            <a:r>
              <a:rPr sz="1150" b="0" i="0">
                <a:solidFill>
                  <a:srgbClr val="1A1A1A"/>
                </a:solidFill>
                <a:latin typeface="Calibri"/>
              </a:rPr>
              <a:t>Confounded with predictor type in Vietnam: the embeddings arm compares annual against annual, the Sentinel-2 arm a 30-date composite against 3 or 4 dates. Forbids any statement that one predictor set transfers better than the other.</a:t>
            </a:r>
          </a:p>
        </p:txBody>
      </p:sp>
      <p:sp>
        <p:nvSpPr>
          <p:cNvPr id="7" name="TextBox 6"/>
          <p:cNvSpPr txBox="1"/>
          <p:nvPr/>
        </p:nvSpPr>
        <p:spPr>
          <a:xfrm>
            <a:off x="658368" y="2395728"/>
            <a:ext cx="2103120" cy="822960"/>
          </a:xfrm>
          <a:prstGeom prst="rect">
            <a:avLst/>
          </a:prstGeom>
          <a:noFill/>
        </p:spPr>
        <p:txBody>
          <a:bodyPr wrap="square">
            <a:spAutoFit/>
          </a:bodyPr>
          <a:lstStyle/>
          <a:p>
            <a:pPr algn="l">
              <a:lnSpc>
                <a:spcPct val="125000"/>
              </a:lnSpc>
            </a:pPr>
            <a:r>
              <a:rPr sz="1200" b="1" i="0">
                <a:solidFill>
                  <a:srgbClr val="0B6E4F"/>
                </a:solidFill>
                <a:latin typeface="Calibri"/>
              </a:rPr>
              <a:t>Plot independence</a:t>
            </a:r>
          </a:p>
        </p:txBody>
      </p:sp>
      <p:sp>
        <p:nvSpPr>
          <p:cNvPr id="8" name="TextBox 7"/>
          <p:cNvSpPr txBox="1"/>
          <p:nvPr/>
        </p:nvSpPr>
        <p:spPr>
          <a:xfrm>
            <a:off x="2926080" y="2395728"/>
            <a:ext cx="8613648" cy="1005840"/>
          </a:xfrm>
          <a:prstGeom prst="rect">
            <a:avLst/>
          </a:prstGeom>
          <a:noFill/>
        </p:spPr>
        <p:txBody>
          <a:bodyPr wrap="square">
            <a:spAutoFit/>
          </a:bodyPr>
          <a:lstStyle/>
          <a:p>
            <a:pPr algn="l">
              <a:lnSpc>
                <a:spcPct val="135000"/>
              </a:lnSpc>
            </a:pPr>
            <a:r>
              <a:rPr sz="1150" b="0" i="0">
                <a:solidFill>
                  <a:srgbClr val="1A1A1A"/>
                </a:solidFill>
                <a:latin typeface="Calibri"/>
              </a:rPr>
              <a:t>Assumed and untested. If residual autocorrelation is present the effective sample is below 450, the bootstrap intervals are too narrow and the paired q values are optimistic. The tier structure is supported; its weakest pair is not established at the quoted precision.</a:t>
            </a:r>
          </a:p>
        </p:txBody>
      </p:sp>
      <p:sp>
        <p:nvSpPr>
          <p:cNvPr id="9" name="TextBox 8"/>
          <p:cNvSpPr txBox="1"/>
          <p:nvPr/>
        </p:nvSpPr>
        <p:spPr>
          <a:xfrm>
            <a:off x="658368" y="3291840"/>
            <a:ext cx="2103120" cy="822960"/>
          </a:xfrm>
          <a:prstGeom prst="rect">
            <a:avLst/>
          </a:prstGeom>
          <a:noFill/>
        </p:spPr>
        <p:txBody>
          <a:bodyPr wrap="square">
            <a:spAutoFit/>
          </a:bodyPr>
          <a:lstStyle/>
          <a:p>
            <a:pPr algn="l">
              <a:lnSpc>
                <a:spcPct val="125000"/>
              </a:lnSpc>
            </a:pPr>
            <a:r>
              <a:rPr sz="1200" b="1" i="0">
                <a:solidFill>
                  <a:srgbClr val="0B6E4F"/>
                </a:solidFill>
                <a:latin typeface="Calibri"/>
              </a:rPr>
              <a:t>RMSE_corr</a:t>
            </a:r>
          </a:p>
        </p:txBody>
      </p:sp>
      <p:sp>
        <p:nvSpPr>
          <p:cNvPr id="10" name="TextBox 9"/>
          <p:cNvSpPr txBox="1"/>
          <p:nvPr/>
        </p:nvSpPr>
        <p:spPr>
          <a:xfrm>
            <a:off x="2926080" y="3291840"/>
            <a:ext cx="8613648" cy="1005840"/>
          </a:xfrm>
          <a:prstGeom prst="rect">
            <a:avLst/>
          </a:prstGeom>
          <a:noFill/>
        </p:spPr>
        <p:txBody>
          <a:bodyPr wrap="square">
            <a:spAutoFit/>
          </a:bodyPr>
          <a:lstStyle/>
          <a:p>
            <a:pPr algn="l">
              <a:lnSpc>
                <a:spcPct val="135000"/>
              </a:lnSpc>
            </a:pPr>
            <a:r>
              <a:rPr sz="1150" b="0" i="0">
                <a:solidFill>
                  <a:srgbClr val="1A1A1A"/>
                </a:solidFill>
                <a:latin typeface="Calibri"/>
              </a:rPr>
              <a:t>An upper bound on map error, not a point estimate. The claim that any Milan map achieves an error of 21.559 is not supported; that they lie between 21.559 and 22.917 corrected is a statement about bounds.</a:t>
            </a:r>
          </a:p>
        </p:txBody>
      </p:sp>
      <p:sp>
        <p:nvSpPr>
          <p:cNvPr id="11" name="TextBox 10"/>
          <p:cNvSpPr txBox="1"/>
          <p:nvPr/>
        </p:nvSpPr>
        <p:spPr>
          <a:xfrm>
            <a:off x="658368" y="4187952"/>
            <a:ext cx="2103120" cy="822960"/>
          </a:xfrm>
          <a:prstGeom prst="rect">
            <a:avLst/>
          </a:prstGeom>
          <a:noFill/>
        </p:spPr>
        <p:txBody>
          <a:bodyPr wrap="square">
            <a:spAutoFit/>
          </a:bodyPr>
          <a:lstStyle/>
          <a:p>
            <a:pPr algn="l">
              <a:lnSpc>
                <a:spcPct val="125000"/>
              </a:lnSpc>
            </a:pPr>
            <a:r>
              <a:rPr sz="1200" b="1" i="0">
                <a:solidFill>
                  <a:srgbClr val="0B6E4F"/>
                </a:solidFill>
                <a:latin typeface="Calibri"/>
              </a:rPr>
              <a:t>One interpreter</a:t>
            </a:r>
          </a:p>
        </p:txBody>
      </p:sp>
      <p:sp>
        <p:nvSpPr>
          <p:cNvPr id="12" name="TextBox 11"/>
          <p:cNvSpPr txBox="1"/>
          <p:nvPr/>
        </p:nvSpPr>
        <p:spPr>
          <a:xfrm>
            <a:off x="2926080" y="4187952"/>
            <a:ext cx="8613648" cy="1005840"/>
          </a:xfrm>
          <a:prstGeom prst="rect">
            <a:avLst/>
          </a:prstGeom>
          <a:noFill/>
        </p:spPr>
        <p:txBody>
          <a:bodyPr wrap="square">
            <a:spAutoFit/>
          </a:bodyPr>
          <a:lstStyle/>
          <a:p>
            <a:pPr algn="l">
              <a:lnSpc>
                <a:spcPct val="135000"/>
              </a:lnSpc>
            </a:pPr>
            <a:r>
              <a:rPr sz="1150" b="0" i="0">
                <a:solidFill>
                  <a:srgbClr val="1A1A1A"/>
                </a:solidFill>
                <a:latin typeface="Calibri"/>
              </a:rPr>
              <a:t>All 1 350 plots were interpreted by one analyst under one reading of the rules, with no inter-rater estimate. Paired within-city differences are less exposed; absolute error levels, the intervals and the bias measurements carry the component in full.</a:t>
            </a:r>
          </a:p>
        </p:txBody>
      </p:sp>
      <p:sp>
        <p:nvSpPr>
          <p:cNvPr id="13" name="TextBox 12"/>
          <p:cNvSpPr txBox="1"/>
          <p:nvPr/>
        </p:nvSpPr>
        <p:spPr>
          <a:xfrm>
            <a:off x="658368" y="5084064"/>
            <a:ext cx="2103120" cy="822960"/>
          </a:xfrm>
          <a:prstGeom prst="rect">
            <a:avLst/>
          </a:prstGeom>
          <a:noFill/>
        </p:spPr>
        <p:txBody>
          <a:bodyPr wrap="square">
            <a:spAutoFit/>
          </a:bodyPr>
          <a:lstStyle/>
          <a:p>
            <a:pPr algn="l">
              <a:lnSpc>
                <a:spcPct val="125000"/>
              </a:lnSpc>
            </a:pPr>
            <a:r>
              <a:rPr sz="1200" b="1" i="0">
                <a:solidFill>
                  <a:srgbClr val="0B6E4F"/>
                </a:solidFill>
                <a:latin typeface="Calibri"/>
              </a:rPr>
              <a:t>Stratified plots</a:t>
            </a:r>
          </a:p>
        </p:txBody>
      </p:sp>
      <p:sp>
        <p:nvSpPr>
          <p:cNvPr id="14" name="TextBox 13"/>
          <p:cNvSpPr txBox="1"/>
          <p:nvPr/>
        </p:nvSpPr>
        <p:spPr>
          <a:xfrm>
            <a:off x="2926080" y="5084064"/>
            <a:ext cx="8613648" cy="1005840"/>
          </a:xfrm>
          <a:prstGeom prst="rect">
            <a:avLst/>
          </a:prstGeom>
          <a:noFill/>
        </p:spPr>
        <p:txBody>
          <a:bodyPr wrap="square">
            <a:spAutoFit/>
          </a:bodyPr>
          <a:lstStyle/>
          <a:p>
            <a:pPr algn="l">
              <a:lnSpc>
                <a:spcPct val="135000"/>
              </a:lnSpc>
            </a:pPr>
            <a:r>
              <a:rPr sz="1150" b="0" i="0">
                <a:solidFill>
                  <a:srgbClr val="1A1A1A"/>
                </a:solidFill>
                <a:latin typeface="Calibri"/>
              </a:rPr>
              <a:t>Plots are stratified by the product under test, not drawn at random over the city, and no area weights are applied. Comparisons between maps hold. What would be wrong is that any RMSE here describes the accuracy of a map over its 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9778</Words>
  <Application>Microsoft Office PowerPoint</Application>
  <PresentationFormat>宽屏</PresentationFormat>
  <Paragraphs>1337</Paragraphs>
  <Slides>38</Slides>
  <Notes>30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38</vt:i4>
      </vt:variant>
    </vt:vector>
  </HeadingPairs>
  <TitlesOfParts>
    <vt:vector size="41"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Xiao Tan</cp:lastModifiedBy>
  <cp:revision>2</cp:revision>
  <dcterms:created xsi:type="dcterms:W3CDTF">2013-01-27T09:14:16Z</dcterms:created>
  <dcterms:modified xsi:type="dcterms:W3CDTF">2026-09-02T10:16:45Z</dcterms:modified>
  <cp:category/>
</cp:coreProperties>
</file>